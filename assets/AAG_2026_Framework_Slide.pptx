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Move,</a:t>
            </a:r>
            <a:endParaRPr lang="en-US" sz="4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Reach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Chain Topology and Activity Space in California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286000" cy="0"/>
          </a:xfrm>
          <a:prstGeom prst="line">
            <a:avLst/>
          </a:prstGeom>
          <a:noFill/>
          <a:ln w="2540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Geography, UC Santa Barbara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Konstantinos Goulias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AAG Annual Meeting 2026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A7F8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Determines Your Daily Spatial Footprint?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100584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Space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spatial extent of daily life: where you go, how long you stay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77440"/>
            <a:ext cx="54864" cy="1005840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23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Piece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 WHERE people can go (accessibility), but not HOW they organize their trips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2194560"/>
          </a:xfrm>
          <a:prstGeom prst="rect">
            <a:avLst/>
          </a:prstGeom>
          <a:solidFill>
            <a:srgbClr val="E8F4F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0" y="13716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topology of daily trip chains predict how far people reach into the city?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neighborhood, two people: one travels 3 km, another travels 30 km. What explains this beyond income, car ownership, and employment?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 Chain Motifs: The Topology of Daily Travel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822960"/>
          </a:xfrm>
          <a:prstGeom prst="rect">
            <a:avLst/>
          </a:prstGeom>
          <a:solidFill>
            <a:srgbClr val="E8F4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43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motif = directed graph of daily trip chain. </a:t>
            </a:r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unique locations visited. Edges = trips between them. NOT about what locations are (home/work/store) — about HOW they connect.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94560"/>
            <a:ext cx="1828800" cy="54864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317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2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and back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↔ 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97480" y="21945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2194560"/>
            <a:ext cx="1828800" cy="54864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23317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4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tours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A→B→A→C→A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1945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194560"/>
            <a:ext cx="1828800" cy="54864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23317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8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Multi-stop tour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A→B→C→A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2194560"/>
            <a:ext cx="1828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2194560"/>
            <a:ext cx="1828800" cy="54864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331720"/>
            <a:ext cx="1554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12+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web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tours, loops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canonical motifs from graph theory (Schneider et al. 2013; Su et al. 2020)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Data: NHTS 2017 California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286000" cy="137160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28,404</a:t>
            </a:r>
            <a:endParaRPr lang="en-US" sz="3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with complete</a:t>
            </a:r>
            <a:endParaRPr lang="en-US" sz="3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diaries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log(Radius of Gyration), dwell-time weighted, home-anchored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508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canonical types + residual category (motif 999)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within 15-min drive via OSM network (Pandana)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Sociodemographics, household, transport, built environment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Weight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km network driving distance, inverse-distance weighted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Distribution (top 5)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63240"/>
          <a:ext cx="22860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8,914 (30%)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999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4,445 (15%)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3,842 (13%)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3,210 (11%)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A6B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8,993 (31%)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Complex Motifs → Larger Activity Spaces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116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[INSERT: Violin/Box Plot — log(RoG) by Motif Type, ordered by complexity]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E8F4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60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monotonic gradient from simple → complex motifs. Motif 2 (~30% of sample) is baseline. Rare motifs have wider CIs but unbiased estimates.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Error Model (SEM)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log(RoG) = Xβ + u,    u = λWu + ε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54864" cy="2377440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Spatial?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Moran’s I = 0.203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spatial autocorrelation in residuals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SEM: Moran’s I = −0.001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autocorrelation fully resolved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920240"/>
            <a:ext cx="37490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920240"/>
            <a:ext cx="54864" cy="237744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1168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0.205 (p &lt; 0.001)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motif dummies (ref: Motif 2)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16 is_worker × motif interactions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 sociodemographic &amp; built env controls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km network distance spatial weights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Motif Topology Is Highly Significant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200400" cy="118872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for motif block</a:t>
            </a:r>
            <a:endParaRPr lang="en-US" sz="11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1.3 × 10⁻¹¹⁶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1051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controlling all covariates, motif topology independently predicts activity space extent.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trip count — topology captures the structural organization of travel.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463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***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Motif 2 (simple out-and-back). Coefficients represent log-RoG difference vs. baseline. *** p &lt; 0.001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2: The Commute Anchor — Employment Compresses Motif Effects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943600" y="868680"/>
            <a:ext cx="274320" cy="18288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5" name="Text 3"/>
          <p:cNvSpPr/>
          <p:nvPr/>
        </p:nvSpPr>
        <p:spPr>
          <a:xfrm>
            <a:off x="6263640" y="8412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0" y="868680"/>
            <a:ext cx="274320" cy="182880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7" name="Text 5"/>
          <p:cNvSpPr/>
          <p:nvPr/>
        </p:nvSpPr>
        <p:spPr>
          <a:xfrm>
            <a:off x="7818120" y="841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645920"/>
                <a:gridCol w="164592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Non-Worker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1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Compressed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−0.083*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−0.168***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−0.141**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−0.205***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−0.226***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−0.287***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Motif 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5F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71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−0.421***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FDF0E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3749040"/>
            <a:ext cx="54864" cy="914400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79476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Non-workers with complex chains spread stops across a large area. Workers with equally complex chains cluster stops near the commute corridor. The workplace acts as a spatial anchor. The gap </a:t>
            </a:r>
            <a:pPr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widens </a:t>
            </a:r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complex motifs — Motif 999 shows 82% compression.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3: Persistent Disparities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20116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Disparity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Black: +0.108** (p &lt; 0.01)</a:t>
            </a:r>
            <a:endParaRPr lang="en-US" sz="1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Hispanic: +0.097*** (p &lt; 0.001)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controlling: income, vehicles, employment, motif topology, spatial structure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~11% larger activity spaces for Black respondents vs. White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0584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05840"/>
            <a:ext cx="54864" cy="201168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972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Significant Controls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Vehicle/driver:  +0.101***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 +0.112***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Income:  +0.030***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density:  −0.044***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home:  −0.337***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solidFill>
            <a:srgbClr val="E8F4F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effect becomes marginal (p = 0.067) after controlling for motif topology, suggesting trip chain structure may partially mediate the accessibility–activity space relationship.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Emerges from results — not imposed a priori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solidFill>
            <a:srgbClr val="E8F4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011680" cy="731520"/>
          </a:xfrm>
          <a:prstGeom prst="rect">
            <a:avLst/>
          </a:prstGeom>
          <a:solidFill>
            <a:srgbClr val="E8F4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603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194560" cy="91440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3383280"/>
            <a:ext cx="2194560" cy="640080"/>
          </a:xfrm>
          <a:prstGeom prst="rect">
            <a:avLst/>
          </a:prstGeom>
          <a:solidFill>
            <a:srgbClr val="FDF0E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383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(Commute Anchor)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920240"/>
            <a:ext cx="2011680" cy="9144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9202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2011680" cy="640080"/>
          </a:xfrm>
          <a:prstGeom prst="rect">
            <a:avLst/>
          </a:prstGeom>
          <a:solidFill>
            <a:srgbClr val="FDECE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490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1737360"/>
            <a:ext cx="4206240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68880" y="2011680"/>
            <a:ext cx="1005840" cy="0"/>
          </a:xfrm>
          <a:prstGeom prst="line">
            <a:avLst/>
          </a:prstGeom>
          <a:noFill/>
          <a:ln w="25400">
            <a:solidFill>
              <a:srgbClr val="2A7F8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68880" y="2743200"/>
            <a:ext cx="1188720" cy="-365760"/>
          </a:xfrm>
          <a:prstGeom prst="line">
            <a:avLst/>
          </a:prstGeom>
          <a:noFill/>
          <a:ln w="19050">
            <a:solidFill>
              <a:srgbClr val="8899AA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669280" y="2377440"/>
            <a:ext cx="1005840" cy="0"/>
          </a:xfrm>
          <a:prstGeom prst="line">
            <a:avLst/>
          </a:prstGeom>
          <a:noFill/>
          <a:ln w="3810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834640"/>
            <a:ext cx="0" cy="548640"/>
          </a:xfrm>
          <a:prstGeom prst="line">
            <a:avLst/>
          </a:prstGeom>
          <a:noFill/>
          <a:ln w="25400">
            <a:solidFill>
              <a:srgbClr val="E871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931920"/>
            <a:ext cx="4389120" cy="-1554480"/>
          </a:xfrm>
          <a:prstGeom prst="line">
            <a:avLst/>
          </a:prstGeom>
          <a:noFill/>
          <a:ln w="25400">
            <a:solidFill>
              <a:srgbClr val="C0392B"/>
            </a:solidFill>
            <a:prstDash val="lgDash"/>
          </a:ln>
        </p:spPr>
      </p:sp>
      <p:sp>
        <p:nvSpPr>
          <p:cNvPr id="23" name="Text 21"/>
          <p:cNvSpPr/>
          <p:nvPr/>
        </p:nvSpPr>
        <p:spPr>
          <a:xfrm>
            <a:off x="576072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560320" y="2423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0916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9184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error term (λ = 0.205) captures unobserved neighborhood factors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What?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777240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chain topology is an independent dimension of mobility — not reducible to trip count, distance, or mode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11680"/>
            <a:ext cx="54864" cy="777240"/>
          </a:xfrm>
          <a:prstGeom prst="rect">
            <a:avLst/>
          </a:prstGeom>
          <a:solidFill>
            <a:srgbClr val="1E5F6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05740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and non-worker mobility are structurally different — pooling without interaction terms misses the commute anchor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971800"/>
            <a:ext cx="54864" cy="777240"/>
          </a:xfrm>
          <a:prstGeom prst="rect">
            <a:avLst/>
          </a:prstGeom>
          <a:solidFill>
            <a:srgbClr val="E8713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175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alone may not reshape activity spaces — design for chain-friendly environments with co-located services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31920"/>
            <a:ext cx="54864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776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disparities in activity space persist after all observable controls — warrants further investigation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606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 | UC Santa Barbara | AAG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chain topology (motif) is a powerful, independent predictor of activity space extent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"commute anchor" — employment compresses the motif–activity space relationship by ~50%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disparities persist after all behavioral and spatial controls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365760" cy="365760"/>
          </a:xfrm>
          <a:prstGeom prst="ellipse">
            <a:avLst/>
          </a:prstGeom>
          <a:solidFill>
            <a:srgbClr val="2A7F8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may operate partly through trip chain structure (suggestive evidence)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519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Geographically Weighted Regression (in progress on HPC) to test whether the commute anchor varies across California’s diverse urban landscapes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A7F8E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F8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8288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of daily trip chains significantly predicts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people reach — and commuting compresses that relationship.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2700">
            <a:solidFill>
              <a:srgbClr val="2A7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01752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Hu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die_hu@ucsb.edu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Geography, UC Santa Barbara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Konstantinos Goulias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NHTS 2017 | Code available upon request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2A7F8E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A1: Full SEM Coefficient Table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full coefficient table from sem_coef.csv]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A2: Activity Space Indicator (ASI) Formula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= √( Σ(tᵢ × dᵢ²) / Σ(tᵢ) 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7432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tᵢ = dwell time at location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dᵢ = great-circle distance from home to location 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Home-anchored, dwell-time weighted radius of gyration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A3: All 16 Motif Types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motif classification diagram with all 16 canonical motifs + motif 999, with sample sizes]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A4: Model Comparison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1280160"/>
                <a:gridCol w="1097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ΔAIC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7F8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OLS-A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Demographics + Built Env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64,419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OLS-B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+ 16 Motif Dummies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OLS-C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Worker × Motif Interactions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63,706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Error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62,681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−1,025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A5: Spatial Diagnostics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3200400" cy="1828800"/>
          </a:xfrm>
          <a:prstGeom prst="rect">
            <a:avLst/>
          </a:prstGeom>
          <a:solidFill>
            <a:srgbClr val="FDF0E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Residuals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Moran’s I = 0.203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spatial autocorrelation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A7F8E"/>
                </a:solidFill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0" y="1097280"/>
            <a:ext cx="3200400" cy="1828800"/>
          </a:xfrm>
          <a:prstGeom prst="rect">
            <a:avLst/>
          </a:prstGeom>
          <a:solidFill>
            <a:srgbClr val="E8F4F6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1887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Residuals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Moran’s I = −0.001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0.562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resolved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Tests (Anselin 1988):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LM-Error: p &lt; 0.001 → SEM supported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LM-Lag: p = 0.365 → SAR not supported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Move, What We Reach</dc:title>
  <dc:subject>PptxGenJS Presentation</dc:subject>
  <dc:creator>Die Hu</dc:creator>
  <cp:lastModifiedBy>Die Hu</cp:lastModifiedBy>
  <cp:revision>1</cp:revision>
  <dcterms:created xsi:type="dcterms:W3CDTF">2026-03-16T07:33:19Z</dcterms:created>
  <dcterms:modified xsi:type="dcterms:W3CDTF">2026-03-16T07:33:19Z</dcterms:modified>
</cp:coreProperties>
</file>