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21"/>
  </p:notesMasterIdLst>
  <p:sldIdLst>
    <p:sldId id="275" r:id="rId3"/>
    <p:sldId id="272" r:id="rId4"/>
    <p:sldId id="259" r:id="rId5"/>
    <p:sldId id="287" r:id="rId6"/>
    <p:sldId id="281" r:id="rId7"/>
    <p:sldId id="258" r:id="rId8"/>
    <p:sldId id="260" r:id="rId9"/>
    <p:sldId id="282" r:id="rId10"/>
    <p:sldId id="276" r:id="rId11"/>
    <p:sldId id="283" r:id="rId12"/>
    <p:sldId id="262" r:id="rId13"/>
    <p:sldId id="284" r:id="rId14"/>
    <p:sldId id="285" r:id="rId15"/>
    <p:sldId id="266" r:id="rId16"/>
    <p:sldId id="271" r:id="rId17"/>
    <p:sldId id="277" r:id="rId18"/>
    <p:sldId id="278" r:id="rId19"/>
    <p:sldId id="286"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51"/>
    <p:restoredTop sz="96366"/>
  </p:normalViewPr>
  <p:slideViewPr>
    <p:cSldViewPr snapToGrid="0" snapToObjects="1">
      <p:cViewPr varScale="1">
        <p:scale>
          <a:sx n="167" d="100"/>
          <a:sy n="167" d="100"/>
        </p:scale>
        <p:origin x="176" y="264"/>
      </p:cViewPr>
      <p:guideLst/>
    </p:cSldViewPr>
  </p:slideViewPr>
  <p:notesTextViewPr>
    <p:cViewPr>
      <p:scale>
        <a:sx n="75" d="100"/>
        <a:sy n="75" d="100"/>
      </p:scale>
      <p:origin x="0" y="0"/>
    </p:cViewPr>
  </p:notesTextViewPr>
  <p:notesViewPr>
    <p:cSldViewPr snapToGrid="0" snapToObjects="1">
      <p:cViewPr varScale="1">
        <p:scale>
          <a:sx n="96" d="100"/>
          <a:sy n="96" d="100"/>
        </p:scale>
        <p:origin x="3336"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7502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ltLang="zh-CN" sz="1200" i="1" kern="1200" dirty="0">
                <a:solidFill>
                  <a:schemeClr val="tx1"/>
                </a:solidFill>
                <a:effectLst/>
                <a:latin typeface="+mn-lt"/>
                <a:ea typeface="+mn-ea"/>
                <a:cs typeface="+mn-cs"/>
              </a:rPr>
              <a:t>Hi</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Everyone</a:t>
            </a:r>
            <a:r>
              <a:rPr lang="en-US" sz="1200" i="1" kern="1200" dirty="0">
                <a:solidFill>
                  <a:schemeClr val="tx1"/>
                </a:solidFill>
                <a:effectLst/>
                <a:latin typeface="+mn-lt"/>
                <a:ea typeface="+mn-ea"/>
                <a:cs typeface="+mn-cs"/>
              </a:rPr>
              <a:t>. My name is Die Hu from UC Santa Barbara. It</a:t>
            </a:r>
            <a:r>
              <a:rPr lang="en-US" altLang="zh-CN" sz="1200" i="1" kern="1200" dirty="0">
                <a:solidFill>
                  <a:schemeClr val="tx1"/>
                </a:solidFill>
                <a:effectLst/>
                <a:latin typeface="+mn-lt"/>
                <a:ea typeface="+mn-ea"/>
                <a:cs typeface="+mn-cs"/>
              </a:rPr>
              <a:t>’s</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a</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great</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honor</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to</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be</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here</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to</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present</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our</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tentative</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research</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work.</a:t>
            </a:r>
          </a:p>
          <a:p>
            <a:r>
              <a:rPr lang="en-US" sz="1200" i="1" kern="1200" dirty="0">
                <a:solidFill>
                  <a:schemeClr val="tx1"/>
                </a:solidFill>
                <a:effectLst/>
                <a:latin typeface="+mn-lt"/>
                <a:ea typeface="+mn-ea"/>
                <a:cs typeface="+mn-cs"/>
              </a:rPr>
              <a:t>Today I'll talk about how daily travel patterns shape the spatial extent of people's activity spaces in California — and</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 why accessibility's role is more nuanced than we might expect.</a:t>
            </a:r>
            <a:r>
              <a:rPr lang="en-US" sz="1200" kern="1200" dirty="0">
                <a:solidFill>
                  <a:schemeClr val="tx1"/>
                </a:solidFill>
                <a:effectLst/>
                <a:latin typeface="+mn-lt"/>
                <a:ea typeface="+mn-ea"/>
                <a:cs typeface="+mn-cs"/>
              </a:rPr>
              <a:t>   </a:t>
            </a:r>
          </a:p>
          <a:p>
            <a:endParaRPr dirty="0"/>
          </a:p>
        </p:txBody>
      </p:sp>
    </p:spTree>
    <p:extLst>
      <p:ext uri="{BB962C8B-B14F-4D97-AF65-F5344CB8AC3E}">
        <p14:creationId xmlns:p14="http://schemas.microsoft.com/office/powerpoint/2010/main" val="718815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Let me start with a simple observation. Two people can travel the same distance, but if one rushes through a quick errand while the other spends eight hours at a workplace far</a:t>
            </a:r>
            <a:r>
              <a:rPr lang="zh-CN" alt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from home, their effective spatial footprint is very different.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From a planning perspective, this matters: where should we place services if we want to serve people where they actually live their daily lives?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Existing measures — trip counts, distances — miss this trade-off between traveling far and spending time. We need a measure that captures</a:t>
            </a:r>
            <a:r>
              <a:rPr lang="zh-CN" alt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how far people actually commit their time across space.</a:t>
            </a:r>
            <a:r>
              <a:rPr lang="en-US" sz="1200" kern="1200" dirty="0">
                <a:solidFill>
                  <a:schemeClr val="tx1"/>
                </a:solidFill>
                <a:effectLst/>
                <a:latin typeface="+mn-lt"/>
                <a:ea typeface="+mn-ea"/>
                <a:cs typeface="+mn-cs"/>
              </a:rPr>
              <a:t> </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So we adopt the Activity Space Indicator, or ASI. It is a home-centered, dwell-time-weighted standard distance — essentially a </a:t>
            </a:r>
            <a:r>
              <a:rPr lang="en-US" dirty="0"/>
              <a:t>standard distance</a:t>
            </a:r>
            <a:r>
              <a:rPr lang="zh-CN" altLang="en-US" dirty="0"/>
              <a:t> </a:t>
            </a:r>
            <a:r>
              <a:rPr lang="en-US" sz="1200" i="1" kern="1200" dirty="0">
                <a:solidFill>
                  <a:schemeClr val="tx1"/>
                </a:solidFill>
                <a:effectLst/>
                <a:latin typeface="+mn-lt"/>
                <a:ea typeface="+mn-ea"/>
                <a:cs typeface="+mn-cs"/>
              </a:rPr>
              <a:t>anchored at home.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The formula</a:t>
            </a:r>
            <a:r>
              <a:rPr lang="zh-CN" alt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is </a:t>
            </a:r>
            <a:r>
              <a:rPr lang="en-US" altLang="zh-CN" sz="1200" i="1" kern="1200" dirty="0">
                <a:solidFill>
                  <a:schemeClr val="tx1"/>
                </a:solidFill>
                <a:effectLst/>
                <a:latin typeface="+mn-lt"/>
                <a:ea typeface="+mn-ea"/>
                <a:cs typeface="+mn-cs"/>
              </a:rPr>
              <a:t>shown</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here</a:t>
            </a:r>
            <a:r>
              <a:rPr lang="en-US" sz="1200" i="1" kern="1200" dirty="0">
                <a:solidFill>
                  <a:schemeClr val="tx1"/>
                </a:solidFill>
                <a:effectLst/>
                <a:latin typeface="+mn-lt"/>
                <a:ea typeface="+mn-ea"/>
                <a:cs typeface="+mn-cs"/>
              </a:rPr>
              <a:t>: for each activity location, we take the distance to home, square it, weight by dwell time at that location, sum across all locations, divide by total time, and take the square root.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The key property: a workplace where you spend eight hours dominates a ten-minute coffee stop. </a:t>
            </a:r>
          </a:p>
          <a:p>
            <a:endParaRPr lang="en-US" altLang="zh-CN" sz="1200" i="1" kern="1200" dirty="0">
              <a:solidFill>
                <a:schemeClr val="tx1"/>
              </a:solidFill>
              <a:effectLst/>
              <a:latin typeface="+mn-lt"/>
              <a:ea typeface="+mn-ea"/>
              <a:cs typeface="+mn-cs"/>
            </a:endParaRPr>
          </a:p>
          <a:p>
            <a:r>
              <a:rPr lang="en-US" altLang="zh-CN" sz="1200" i="1" kern="1200" dirty="0">
                <a:solidFill>
                  <a:schemeClr val="tx1"/>
                </a:solidFill>
                <a:effectLst/>
                <a:latin typeface="+mn-lt"/>
                <a:ea typeface="+mn-ea"/>
                <a:cs typeface="+mn-cs"/>
              </a:rPr>
              <a:t>I</a:t>
            </a:r>
            <a:r>
              <a:rPr lang="en-US" sz="1200" i="1" kern="1200" dirty="0">
                <a:solidFill>
                  <a:schemeClr val="tx1"/>
                </a:solidFill>
                <a:effectLst/>
                <a:latin typeface="+mn-lt"/>
                <a:ea typeface="+mn-ea"/>
                <a:cs typeface="+mn-cs"/>
              </a:rPr>
              <a:t>t captures </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how far your daily activities spread from home, weighted by how much time you actually invest at each place.</a:t>
            </a:r>
            <a:r>
              <a:rPr lang="en-US" sz="1200" kern="1200" dirty="0">
                <a:solidFill>
                  <a:schemeClr val="tx1"/>
                </a:solidFill>
                <a:effectLst/>
                <a:latin typeface="+mn-lt"/>
                <a:ea typeface="+mn-ea"/>
                <a:cs typeface="+mn-cs"/>
              </a:rPr>
              <a:t>                </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sz="1200" i="1" kern="1200" dirty="0">
                <a:solidFill>
                  <a:schemeClr val="tx1"/>
                </a:solidFill>
                <a:effectLst/>
                <a:latin typeface="+mn-lt"/>
                <a:ea typeface="+mn-ea"/>
                <a:cs typeface="+mn-cs"/>
              </a:rPr>
              <a:t>Here are three people with similar trip chains but very different ASI. </a:t>
            </a:r>
          </a:p>
          <a:p>
            <a:r>
              <a:rPr lang="en-US" sz="1200" i="1" kern="1200" dirty="0">
                <a:solidFill>
                  <a:schemeClr val="tx1"/>
                </a:solidFill>
                <a:effectLst/>
                <a:latin typeface="+mn-lt"/>
                <a:ea typeface="+mn-ea"/>
                <a:cs typeface="+mn-cs"/>
              </a:rPr>
              <a:t>Person A works 5 kilometers from home but dines 20 kilometers away — ASI is only 6.5 kilometers because the 8-hour workday close to home dominates the brief restaurant visit.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Person B flips this — works 20 kilometers out, shops nearby — ASI jumps to 19.2 because the long dwell at a distant workplace pulls everything outward.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Person C keeps everything within 5 kilometers — ASI is just 5.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Same number of stops, but duration weighting completely changes</a:t>
            </a:r>
            <a:r>
              <a:rPr lang="zh-CN" alt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the picture.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This is what ASI captures that trip counts cannot.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But ASI alone tells us how far — it does not tell us how people organize their trips across the day. That is where motif comes in.</a:t>
            </a:r>
            <a:r>
              <a:rPr lang="en-US" sz="1200" kern="1200" dirty="0">
                <a:solidFill>
                  <a:schemeClr val="tx1"/>
                </a:solidFill>
                <a:effectLst/>
                <a:latin typeface="+mn-lt"/>
                <a:ea typeface="+mn-ea"/>
                <a:cs typeface="+mn-cs"/>
              </a:rPr>
              <a:t>  </a:t>
            </a:r>
          </a:p>
          <a:p>
            <a:endParaRPr lang="en-US" dirty="0"/>
          </a:p>
        </p:txBody>
      </p:sp>
    </p:spTree>
    <p:extLst>
      <p:ext uri="{BB962C8B-B14F-4D97-AF65-F5344CB8AC3E}">
        <p14:creationId xmlns:p14="http://schemas.microsoft.com/office/powerpoint/2010/main" val="888610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We classify daily trip chains using Schneider and colleagues' motif framework.</a:t>
            </a:r>
          </a:p>
          <a:p>
            <a:r>
              <a:rPr lang="en-US" sz="1200" i="1" kern="1200" dirty="0">
                <a:solidFill>
                  <a:schemeClr val="tx1"/>
                </a:solidFill>
                <a:effectLst/>
                <a:latin typeface="+mn-lt"/>
                <a:ea typeface="+mn-ea"/>
                <a:cs typeface="+mn-cs"/>
              </a:rPr>
              <a:t> Each person's travel day is abstracted as a directed graph: nodes are home, work, or other locations; edges are trips between them.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Graph isomorphism groups structurally identical chains together regardless of specific destinations.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For example, a simple home-work-home commute is one motif; home-work-other-home is another. This captures how people organize travel — the topological structure — not where they go. </a:t>
            </a:r>
          </a:p>
          <a:p>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Three research questions.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First, what are the spatial patterns of ASI across California?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Second, controlling for trip chain structure, what individual, household, and built-environment factors shape ASI?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Third, does accessibility's effect on ASI vary across space?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The logic: pattern, then mechanism, then spatial variation.</a:t>
            </a:r>
            <a:endParaRPr lang="en-US" sz="120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We use the 2017 NHTS California add-on — a single-day travel diary with person and household characteristics plus geographic coordinates.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Starting from about 56,000 persons, </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we filter to 28,404 person-days: non-holiday weekdays, people who left home at least once, with valid spatial weights and ASI under 100 kilometers.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An important split: about 10,500 made at least one work trip that day, while 17,900 did not.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This is a daily behavior distinction — whether you commuted that day — not employment status.</a:t>
            </a:r>
            <a:r>
              <a:rPr lang="en-US" sz="1200" kern="1200" dirty="0">
                <a:solidFill>
                  <a:schemeClr val="tx1"/>
                </a:solidFill>
                <a:effectLst/>
                <a:latin typeface="+mn-lt"/>
                <a:ea typeface="+mn-ea"/>
                <a:cs typeface="+mn-cs"/>
              </a:rPr>
              <a:t>  </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Progressive deepening: OLS baseline, then Spatial Error Model (SEM) to account for spatial autocorrelation in residuals. When SEM reveals accessibility is globally insignificant, we turn to GWR to test whether this null masks spatial heterogeneity. [</a:t>
            </a:r>
            <a:endParaRPr lang="en-US" dirty="0"/>
          </a:p>
          <a:p>
            <a:endParaRPr lang="en-US" dirty="0"/>
          </a:p>
          <a:p>
            <a:r>
              <a:rPr lang="en-US" sz="1200" i="1" kern="1200" dirty="0">
                <a:solidFill>
                  <a:schemeClr val="tx1"/>
                </a:solidFill>
                <a:effectLst/>
                <a:latin typeface="+mn-lt"/>
                <a:ea typeface="+mn-ea"/>
                <a:cs typeface="+mn-cs"/>
              </a:rPr>
              <a:t>Here is our modeling pipeline. Three groups of </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info</a:t>
            </a:r>
            <a:r>
              <a:rPr lang="en-US" sz="1200" i="1" kern="1200" dirty="0">
                <a:solidFill>
                  <a:schemeClr val="tx1"/>
                </a:solidFill>
                <a:effectLst/>
                <a:latin typeface="+mn-lt"/>
                <a:ea typeface="+mn-ea"/>
                <a:cs typeface="+mn-cs"/>
              </a:rPr>
              <a:t>: individual attribute; built environment; and trip chain topology as motif dummies.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We start with OLS as a baseline. Spatial Error Model</a:t>
            </a:r>
            <a:r>
              <a:rPr lang="en-US" altLang="zh-CN"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When SEM shows accessibility is marginally non-significant, we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turn to GWR to test whether this masks local heterogeneity</a:t>
            </a:r>
          </a:p>
          <a:p>
            <a:endParaRPr lang="en-US" sz="1200" i="1" kern="1200" dirty="0">
              <a:solidFill>
                <a:schemeClr val="tx1"/>
              </a:solidFill>
              <a:effectLst/>
              <a:latin typeface="+mn-lt"/>
              <a:ea typeface="+mn-ea"/>
              <a:cs typeface="+mn-cs"/>
            </a:endParaRP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Moran's I on OLS residuals is 0.203, highly significant — clear spatial autocorrelation.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Following </a:t>
            </a:r>
            <a:r>
              <a:rPr lang="en-US" sz="1200" i="1" kern="1200" dirty="0" err="1">
                <a:solidFill>
                  <a:schemeClr val="tx1"/>
                </a:solidFill>
                <a:effectLst/>
                <a:latin typeface="+mn-lt"/>
                <a:ea typeface="+mn-ea"/>
                <a:cs typeface="+mn-cs"/>
              </a:rPr>
              <a:t>Anselin's</a:t>
            </a:r>
            <a:r>
              <a:rPr lang="en-US" sz="1200" i="1" kern="1200" dirty="0">
                <a:solidFill>
                  <a:schemeClr val="tx1"/>
                </a:solidFill>
                <a:effectLst/>
                <a:latin typeface="+mn-lt"/>
                <a:ea typeface="+mn-ea"/>
                <a:cs typeface="+mn-cs"/>
              </a:rPr>
              <a:t> LM diagnostic decision rule, robust LM-Error is significant while robust LM-Lag is not, pointing to the Spatial Error Model.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SEM with</a:t>
            </a:r>
            <a:r>
              <a:rPr lang="zh-CN" altLang="en-US"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lambda of 0.204 eliminates the autocorrelation — residual Moran's I drops to negative 0.001, non-significant. </a:t>
            </a:r>
          </a:p>
          <a:p>
            <a:endParaRPr lang="en-US"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CAF57030-C54C-79DD-4D0C-01F816C9749A}"/>
              </a:ext>
            </a:extLst>
          </p:cNvPr>
          <p:cNvSpPr>
            <a:spLocks noGrp="1"/>
          </p:cNvSpPr>
          <p:nvPr>
            <p:ph type="body" idx="1"/>
          </p:nvPr>
        </p:nvSpPr>
        <p:spPr>
          <a:xfrm>
            <a:off x="514350" y="4400550"/>
            <a:ext cx="4114800" cy="3600450"/>
          </a:xfrm>
          <a:prstGeom prst="rect">
            <a:avLst/>
          </a:prstGeom>
        </p:spPr>
        <p:txBody>
          <a:bodyPr/>
          <a:lstStyle/>
          <a:p>
            <a:r>
              <a:rPr lang="en-US" sz="1200" i="1" kern="1200" dirty="0">
                <a:solidFill>
                  <a:schemeClr val="tx1"/>
                </a:solidFill>
                <a:effectLst/>
                <a:latin typeface="+mn-lt"/>
                <a:ea typeface="+mn-ea"/>
                <a:cs typeface="+mn-cs"/>
              </a:rPr>
              <a:t>We identified over 40 unique motif topologies in California, but the top 14 canonical types account for about 84 percent of all person-days. </a:t>
            </a:r>
          </a:p>
          <a:p>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The CDF on the right confirms that a small number of canonical types capture the vast majority of travel behavior.</a:t>
            </a:r>
            <a:r>
              <a:rPr lang="en-US" sz="1200" kern="1200" dirty="0">
                <a:solidFill>
                  <a:schemeClr val="tx1"/>
                </a:solidFill>
                <a:effectLst/>
                <a:latin typeface="+mn-lt"/>
                <a:ea typeface="+mn-ea"/>
                <a:cs typeface="+mn-cs"/>
              </a:rPr>
              <a:t>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The remaining types are rare and merged into a residual category.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The bar chart shows the distribution — the simplest home-work-home motif dominates, but substantial shares have more complex multi-stop chains. </a:t>
            </a:r>
          </a:p>
          <a:p>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Mapping ASI at the block-group level reveals clear spatial patterns.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Statewide median is 6.38 kilometers, but with strong right skew — the mean is 12 kilometers, meaning a subset of residents travels extensively.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The geographic pattern: inland and suburban counties show higher ASI — San Bernardino at 8.25 kilometers, San Mateo at 9.44 — where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lower density and job-housing separation push daily activity farther from home.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Dense urban cores show lower ASI. </a:t>
            </a:r>
            <a:endParaRPr lang="en-US" sz="1200" i="0" kern="1200" dirty="0">
              <a:solidFill>
                <a:schemeClr val="tx1"/>
              </a:solidFill>
              <a:effectLst/>
              <a:latin typeface="+mn-lt"/>
              <a:ea typeface="+mn-ea"/>
              <a:cs typeface="+mn-cs"/>
            </a:endParaRPr>
          </a:p>
          <a:p>
            <a:endParaRPr lang="en-US" sz="1200" i="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This immediately raises the question: is this just about accessibility? Or are individual and structural factors at play?</a:t>
            </a:r>
            <a:r>
              <a:rPr lang="en-US" sz="1200" kern="1200" dirty="0">
                <a:solidFill>
                  <a:schemeClr val="tx1"/>
                </a:solidFill>
                <a:effectLst/>
                <a:latin typeface="+mn-lt"/>
                <a:ea typeface="+mn-ea"/>
                <a:cs typeface="+mn-cs"/>
              </a:rPr>
              <a:t> </a:t>
            </a:r>
          </a:p>
          <a:p>
            <a:endParaRPr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Now, ASI by motif type. </a:t>
            </a:r>
          </a:p>
          <a:p>
            <a:r>
              <a:rPr lang="en-US" sz="1200" i="1" kern="1200" dirty="0">
                <a:solidFill>
                  <a:schemeClr val="tx1"/>
                </a:solidFill>
                <a:effectLst/>
                <a:latin typeface="+mn-lt"/>
                <a:ea typeface="+mn-ea"/>
                <a:cs typeface="+mn-cs"/>
              </a:rPr>
              <a:t>Here is the key finding that motivates our modeling approach.</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First, medians range from 3.</a:t>
            </a:r>
            <a:r>
              <a:rPr lang="en-US" altLang="zh-CN" sz="1200" i="1" kern="1200" dirty="0">
                <a:solidFill>
                  <a:schemeClr val="tx1"/>
                </a:solidFill>
                <a:effectLst/>
                <a:latin typeface="+mn-lt"/>
                <a:ea typeface="+mn-ea"/>
                <a:cs typeface="+mn-cs"/>
              </a:rPr>
              <a:t>9</a:t>
            </a:r>
            <a:r>
              <a:rPr lang="en-US" sz="1200" i="1" kern="1200" dirty="0">
                <a:solidFill>
                  <a:schemeClr val="tx1"/>
                </a:solidFill>
                <a:effectLst/>
                <a:latin typeface="+mn-lt"/>
                <a:ea typeface="+mn-ea"/>
                <a:cs typeface="+mn-cs"/>
              </a:rPr>
              <a:t> to 10.</a:t>
            </a:r>
            <a:r>
              <a:rPr lang="en-US" altLang="zh-CN" sz="1200" i="1" kern="1200" dirty="0">
                <a:solidFill>
                  <a:schemeClr val="tx1"/>
                </a:solidFill>
                <a:effectLst/>
                <a:latin typeface="+mn-lt"/>
                <a:ea typeface="+mn-ea"/>
                <a:cs typeface="+mn-cs"/>
              </a:rPr>
              <a:t>3</a:t>
            </a:r>
            <a:r>
              <a:rPr lang="en-US" sz="1200" i="1" kern="1200" dirty="0">
                <a:solidFill>
                  <a:schemeClr val="tx1"/>
                </a:solidFill>
                <a:effectLst/>
                <a:latin typeface="+mn-lt"/>
                <a:ea typeface="+mn-ea"/>
                <a:cs typeface="+mn-cs"/>
              </a:rPr>
              <a:t> kilometers across motifs, but the IQRs overlap heavily — motif alone does not sharply separate ASI.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Second, and critically, there is no monotonic increase with complexity: Motif 4 with three locations has lower median ASI than the simpler Motif 1. More stops do not automatically mean larger activity space — topology matters, not just destination count.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Third, within every single motif, the variance is enormous. Someone with a simple home-work-home chain can have ASI of 2 kilometers or 30 kilometers. This tells us individual and spatial factors drive most of the variation beyond trip chain structure — which is exactly what we explore with S</a:t>
            </a:r>
            <a:r>
              <a:rPr lang="en-US" altLang="zh-CN" sz="1200" i="1" kern="1200" dirty="0">
                <a:solidFill>
                  <a:schemeClr val="tx1"/>
                </a:solidFill>
                <a:effectLst/>
                <a:latin typeface="+mn-lt"/>
                <a:ea typeface="+mn-ea"/>
                <a:cs typeface="+mn-cs"/>
              </a:rPr>
              <a:t>patial</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error</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model</a:t>
            </a:r>
            <a:r>
              <a:rPr lang="en-US" sz="1200" i="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The strongest predictor: having made a work trip that day, at plus 0.4</a:t>
            </a:r>
            <a:r>
              <a:rPr lang="en-US" altLang="zh-CN" sz="1200" i="1" kern="1200" dirty="0">
                <a:solidFill>
                  <a:schemeClr val="tx1"/>
                </a:solidFill>
                <a:effectLst/>
                <a:latin typeface="+mn-lt"/>
                <a:ea typeface="+mn-ea"/>
                <a:cs typeface="+mn-cs"/>
              </a:rPr>
              <a:t>5</a:t>
            </a:r>
            <a:r>
              <a:rPr lang="en-US" sz="1200" i="1" kern="1200" dirty="0">
                <a:solidFill>
                  <a:schemeClr val="tx1"/>
                </a:solidFill>
                <a:effectLst/>
                <a:latin typeface="+mn-lt"/>
                <a:ea typeface="+mn-ea"/>
                <a:cs typeface="+mn-cs"/>
              </a:rPr>
              <a:t> — that is a </a:t>
            </a:r>
            <a:r>
              <a:rPr lang="en-US" altLang="zh-CN" sz="1200" i="1" kern="1200" dirty="0">
                <a:solidFill>
                  <a:schemeClr val="tx1"/>
                </a:solidFill>
                <a:effectLst/>
                <a:latin typeface="+mn-lt"/>
                <a:ea typeface="+mn-ea"/>
                <a:cs typeface="+mn-cs"/>
              </a:rPr>
              <a:t>45</a:t>
            </a:r>
            <a:r>
              <a:rPr lang="en-US" sz="1200" i="1" kern="1200" dirty="0">
                <a:solidFill>
                  <a:schemeClr val="tx1"/>
                </a:solidFill>
                <a:effectLst/>
                <a:latin typeface="+mn-lt"/>
                <a:ea typeface="+mn-ea"/>
                <a:cs typeface="+mn-cs"/>
              </a:rPr>
              <a:t> percent increase in ASI. </a:t>
            </a:r>
            <a:r>
              <a:rPr lang="zh-CN" altLang="en-US"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The commute anchor pulls the entire activity space outward. </a:t>
            </a:r>
          </a:p>
          <a:p>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On</a:t>
            </a:r>
            <a:r>
              <a:rPr lang="zh-CN" alt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the flip side, working from home compresses ASI by 29 percent, and being a homemaker </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by 23 percent</a:t>
            </a:r>
            <a:r>
              <a:rPr lang="en-US" altLang="zh-CN" sz="1200" i="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Mobility resources matter: having a driver's license increases, </a:t>
            </a:r>
            <a:r>
              <a:rPr lang="en-US" altLang="zh-CN" sz="1200" i="1" kern="1200" dirty="0">
                <a:solidFill>
                  <a:schemeClr val="tx1"/>
                </a:solidFill>
                <a:effectLst/>
                <a:latin typeface="+mn-lt"/>
                <a:ea typeface="+mn-ea"/>
                <a:cs typeface="+mn-cs"/>
              </a:rPr>
              <a:t>more</a:t>
            </a:r>
            <a:r>
              <a:rPr lang="zh-CN" altLang="en-US"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vehicles per driver adds </a:t>
            </a:r>
            <a:r>
              <a:rPr lang="en-US" altLang="zh-CN" sz="1200" i="1" kern="1200" dirty="0">
                <a:solidFill>
                  <a:schemeClr val="tx1"/>
                </a:solidFill>
                <a:effectLst/>
                <a:latin typeface="+mn-lt"/>
                <a:ea typeface="+mn-ea"/>
                <a:cs typeface="+mn-cs"/>
              </a:rPr>
              <a:t>more</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ASI</a:t>
            </a:r>
            <a:r>
              <a:rPr lang="en-US" sz="1200" i="1" kern="1200" dirty="0">
                <a:solidFill>
                  <a:schemeClr val="tx1"/>
                </a:solidFill>
                <a:effectLst/>
                <a:latin typeface="+mn-lt"/>
                <a:ea typeface="+mn-ea"/>
                <a:cs typeface="+mn-cs"/>
              </a:rPr>
              <a:t>. </a:t>
            </a:r>
            <a:endParaRPr lang="en-US" altLang="zh-CN" sz="1200" i="1" kern="1200" dirty="0">
              <a:solidFill>
                <a:schemeClr val="tx1"/>
              </a:solidFill>
              <a:effectLst/>
              <a:latin typeface="+mn-lt"/>
              <a:ea typeface="+mn-ea"/>
              <a:cs typeface="+mn-cs"/>
            </a:endParaRP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Built environment</a:t>
            </a:r>
            <a:r>
              <a:rPr lang="en-US" altLang="zh-CN"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T</a:t>
            </a:r>
            <a:r>
              <a:rPr lang="en-US" sz="1200" i="1" kern="1200" dirty="0">
                <a:solidFill>
                  <a:schemeClr val="tx1"/>
                </a:solidFill>
                <a:effectLst/>
                <a:latin typeface="+mn-lt"/>
                <a:ea typeface="+mn-ea"/>
                <a:cs typeface="+mn-cs"/>
              </a:rPr>
              <a:t>he</a:t>
            </a:r>
            <a:r>
              <a:rPr lang="zh-CN" altLang="en-US"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near rail station is positive. Rail does not reduce spatial</a:t>
            </a:r>
            <a:r>
              <a:rPr lang="zh-CN" altLang="en-US"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extent; it enables longer-distance travel along corridors. This is consistent with the TOD literature</a:t>
            </a:r>
            <a:endParaRPr lang="en-US" sz="1200" kern="1200" dirty="0">
              <a:solidFill>
                <a:schemeClr val="tx1"/>
              </a:solidFill>
              <a:effectLst/>
              <a:latin typeface="+mn-lt"/>
              <a:ea typeface="+mn-ea"/>
              <a:cs typeface="+mn-cs"/>
            </a:endParaRP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Race and ethnicity: Black residents show 11 percent larger ASI, Hispanic 10 percent, after controlling for income and car access. </a:t>
            </a:r>
          </a:p>
          <a:p>
            <a:r>
              <a:rPr lang="en-US" sz="1200" i="1" kern="1200" dirty="0">
                <a:solidFill>
                  <a:schemeClr val="tx1"/>
                </a:solidFill>
                <a:effectLst/>
                <a:latin typeface="+mn-lt"/>
                <a:ea typeface="+mn-ea"/>
                <a:cs typeface="+mn-cs"/>
              </a:rPr>
              <a:t>This is consistent with spatial mismatch — longer commutes forced by residential</a:t>
            </a:r>
            <a:r>
              <a:rPr lang="zh-CN" altLang="en-US"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segregation.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i="1" kern="1200" dirty="0">
                <a:solidFill>
                  <a:schemeClr val="tx1"/>
                </a:solidFill>
                <a:effectLst/>
                <a:latin typeface="+mn-lt"/>
                <a:ea typeface="+mn-ea"/>
                <a:cs typeface="+mn-cs"/>
              </a:rPr>
              <a:t>And at the very bottom: accessibility. Better home-location accessibility does not significantly shrink activity</a:t>
            </a:r>
            <a:r>
              <a:rPr lang="zh-CN" alt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space globally. But is this the whole story? That is where GWR comes in.</a:t>
            </a:r>
            <a:endParaRPr lang="en-US" sz="120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GWR reveals what SEM hides. This map shows local accessibility coefficients at the block-group level. The global SEM said non-significant — but look at the spatial pattern</a:t>
            </a:r>
            <a:r>
              <a:rPr lang="en-US" altLang="zh-CN" sz="1200" i="1"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83 percent of local coefficients are negative — accessibility does reduce ASI in most places. But 17 percent are positive or null. The effect is real but spatially varying.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Where is the effect strongest? The dark blue clusters: LA Basin, the Inland Empire, and the Central Valley. These are sprawling, car-dependent areas where better accessibility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 — more jobs reachable within a short drive — genuinely compresses daily spatial extent</a:t>
            </a:r>
            <a:r>
              <a:rPr lang="en-US" altLang="zh-CN" sz="1200" i="1" kern="1200" dirty="0">
                <a:solidFill>
                  <a:schemeClr val="tx1"/>
                </a:solidFill>
                <a:effectLst/>
                <a:latin typeface="+mn-lt"/>
                <a:ea typeface="+mn-ea"/>
                <a:cs typeface="+mn-cs"/>
              </a:rPr>
              <a:t>.</a:t>
            </a:r>
          </a:p>
          <a:p>
            <a:endParaRPr lang="en-US" sz="1200" i="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Where is it weak or reversed? Rural Northern California, the Sierra foothills — areas where land use is so sparse that accessibility has little constraining power. People travel far regardless</a:t>
            </a:r>
            <a:r>
              <a:rPr lang="en-US" altLang="zh-CN" sz="1200" i="1"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The Bay Area shows an interesting gradient</a:t>
            </a:r>
            <a:r>
              <a:rPr lang="en-US" altLang="zh-CN" sz="1200" i="1" kern="1200" dirty="0">
                <a:solidFill>
                  <a:schemeClr val="tx1"/>
                </a:solidFill>
                <a:effectLst/>
                <a:latin typeface="+mn-lt"/>
                <a:ea typeface="+mn-ea"/>
                <a:cs typeface="+mn-cs"/>
              </a:rPr>
              <a:t>.</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Accessibility compresses ASI only where dense, mixed-use environments provide viable nearby alternatives.</a:t>
            </a:r>
            <a:r>
              <a:rPr lang="en-US" sz="1200" kern="1200" dirty="0">
                <a:solidFill>
                  <a:schemeClr val="tx1"/>
                </a:solidFill>
                <a:effectLst/>
                <a:latin typeface="+mn-lt"/>
                <a:ea typeface="+mn-ea"/>
                <a:cs typeface="+mn-cs"/>
              </a:rPr>
              <a:t>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The policy takeaway: one-size-fits-all accessibility interventions will not work. Improvements reduce travel burden most in dense urban areas; rural communities need </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complementary strategies beyond proximity-based accessibility alone.</a:t>
            </a:r>
            <a:r>
              <a:rPr lang="en-US" sz="1200" kern="1200" dirty="0">
                <a:solidFill>
                  <a:schemeClr val="tx1"/>
                </a:solidFill>
                <a:effectLst/>
                <a:latin typeface="+mn-lt"/>
                <a:ea typeface="+mn-ea"/>
                <a:cs typeface="+mn-cs"/>
              </a:rPr>
              <a:t>   </a:t>
            </a:r>
          </a:p>
          <a:p>
            <a:endParaRPr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Three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takeaways.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First,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ASI</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varies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substantially</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across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California</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inland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suburban</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residents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travel</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twice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far</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urban</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core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residents. this is shaped by individual capability,</a:t>
            </a:r>
            <a:r>
              <a:rPr lang="zh-CN" alt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not trip complexity alone</a:t>
            </a:r>
          </a:p>
          <a:p>
            <a:r>
              <a:rPr lang="en-US" sz="1200" kern="1200" dirty="0">
                <a:solidFill>
                  <a:schemeClr val="tx1"/>
                </a:solidFill>
                <a:effectLst/>
                <a:latin typeface="+mn-lt"/>
                <a:ea typeface="+mn-ea"/>
                <a:cs typeface="+mn-cs"/>
              </a:rPr>
              <a:t> </a:t>
            </a:r>
          </a:p>
          <a:p>
            <a:r>
              <a:rPr lang="en-US" sz="1200" i="1" kern="1200" dirty="0">
                <a:solidFill>
                  <a:schemeClr val="tx1"/>
                </a:solidFill>
                <a:effectLst/>
                <a:latin typeface="+mn-lt"/>
                <a:ea typeface="+mn-ea"/>
                <a:cs typeface="+mn-cs"/>
              </a:rPr>
              <a:t>Second, individual capability dominates. Commuting, having a driver's license, and vehicle access are the strongest predictors — more than built environment. And trip chain topology, while significant as a structural control, does not determine spatial extent: same motif, very </a:t>
            </a:r>
            <a:r>
              <a:rPr lang="en-US" sz="1200" i="1" kern="1200" dirty="0" err="1">
                <a:solidFill>
                  <a:schemeClr val="tx1"/>
                </a:solidFill>
                <a:effectLst/>
                <a:latin typeface="+mn-lt"/>
                <a:ea typeface="+mn-ea"/>
                <a:cs typeface="+mn-cs"/>
              </a:rPr>
              <a:t>differenASI</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Third,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accessibility</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appears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globally</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non-significant,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but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GWR</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shows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the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effect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real</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but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spatially</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variable.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This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means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uniform</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accessibility</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policy</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won't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work</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everywhere.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Limitations: single-day diary means day-to-day variability is not captured, and motif and ASI are derived from the same trip record, so motif is a structural control, not a causal mechanism</a:t>
            </a:r>
            <a:r>
              <a:rPr lang="zh-CN" altLang="en-US" sz="1200" i="1" kern="1200" dirty="0">
                <a:solidFill>
                  <a:schemeClr val="tx1"/>
                </a:solidFill>
                <a:effectLst/>
                <a:latin typeface="+mn-lt"/>
                <a:ea typeface="+mn-ea"/>
                <a:cs typeface="+mn-cs"/>
              </a:rPr>
              <a:t>。</a:t>
            </a:r>
            <a:endParaRPr lang="en-US" altLang="zh-CN" sz="1200" i="1" kern="1200" dirty="0">
              <a:solidFill>
                <a:schemeClr val="tx1"/>
              </a:solidFill>
              <a:effectLst/>
              <a:latin typeface="+mn-lt"/>
              <a:ea typeface="+mn-ea"/>
              <a:cs typeface="+mn-cs"/>
            </a:endParaRPr>
          </a:p>
          <a:p>
            <a:endParaRPr lang="en-US" sz="1200" i="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Future work: multi-day GPS data for longitudinal validation, purpose-aware motif classification</a:t>
            </a:r>
            <a:r>
              <a:rPr lang="en-US" sz="1200" kern="1200" dirty="0">
                <a:solidFill>
                  <a:schemeClr val="tx1"/>
                </a:solidFill>
                <a:effectLst/>
                <a:latin typeface="+mn-lt"/>
                <a:ea typeface="+mn-ea"/>
                <a:cs typeface="+mn-cs"/>
              </a:rPr>
              <a:t> </a:t>
            </a:r>
          </a:p>
          <a:p>
            <a:endParaRPr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This appendix details our accessibility measure. We use the California OSM road network — 1.16 million nodes, 2.89 million edges — with travel-time weights. Accessibility is a</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 cumulative opportunity measure: the count of jobs reachable within a 15-minute drive from each person's home location, computed using the </a:t>
            </a:r>
            <a:r>
              <a:rPr lang="en-US" sz="1200" i="1" kern="1200" dirty="0" err="1">
                <a:solidFill>
                  <a:schemeClr val="tx1"/>
                </a:solidFill>
                <a:effectLst/>
                <a:latin typeface="+mn-lt"/>
                <a:ea typeface="+mn-ea"/>
                <a:cs typeface="+mn-cs"/>
              </a:rPr>
              <a:t>Pandana</a:t>
            </a:r>
            <a:r>
              <a:rPr lang="en-US" sz="1200" i="1" kern="1200" dirty="0">
                <a:solidFill>
                  <a:schemeClr val="tx1"/>
                </a:solidFill>
                <a:effectLst/>
                <a:latin typeface="+mn-lt"/>
                <a:ea typeface="+mn-ea"/>
                <a:cs typeface="+mn-cs"/>
              </a:rPr>
              <a:t> library with contraction </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hierarchies for speed.</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This shows the Lagrange Multiplier specification tests following </a:t>
            </a:r>
            <a:r>
              <a:rPr lang="en-US" sz="1200" i="1" kern="1200" dirty="0" err="1">
                <a:solidFill>
                  <a:schemeClr val="tx1"/>
                </a:solidFill>
                <a:effectLst/>
                <a:latin typeface="+mn-lt"/>
                <a:ea typeface="+mn-ea"/>
                <a:cs typeface="+mn-cs"/>
              </a:rPr>
              <a:t>Anselin's</a:t>
            </a:r>
            <a:r>
              <a:rPr lang="en-US" sz="1200" i="1" kern="1200" dirty="0">
                <a:solidFill>
                  <a:schemeClr val="tx1"/>
                </a:solidFill>
                <a:effectLst/>
                <a:latin typeface="+mn-lt"/>
                <a:ea typeface="+mn-ea"/>
                <a:cs typeface="+mn-cs"/>
              </a:rPr>
              <a:t> decision rule. Both standard LM tests are significant, but the robust tests diverge: robust LM-Error</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 remains highly significant while robust LM-Lag becomes non-significant at p equals 0.365. This clearly points to the Spatial Error Model. The scatter plot shows OLS residual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spatial autocorrelation that SEM eliminates.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938A4-5CD2-E9C1-6719-9AFC1C39C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639E86-D7C1-8C87-F827-134ECA490F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CCA16-2347-0940-16E8-DE2CB3F41FC7}"/>
              </a:ext>
            </a:extLst>
          </p:cNvPr>
          <p:cNvSpPr>
            <a:spLocks noGrp="1"/>
          </p:cNvSpPr>
          <p:nvPr>
            <p:ph type="body" idx="1"/>
          </p:nvPr>
        </p:nvSpPr>
        <p:spPr/>
        <p:txBody>
          <a:bodyPr/>
          <a:lstStyle/>
          <a:p>
            <a:r>
              <a:rPr dirty="0"/>
              <a:t>Work-trip days show substantially higher ASI across nearly all motifs. Median gap 4.39 km. </a:t>
            </a:r>
            <a:endParaRPr lang="en-US" dirty="0"/>
          </a:p>
          <a:p>
            <a:endParaRPr lang="en-US" dirty="0"/>
          </a:p>
          <a:p>
            <a:r>
              <a:rPr dirty="0"/>
              <a:t>The commute acts as a spatial anchor. Exception: Motif 4 where gap disappears. Daily work-trip behavior matters more than employment status. </a:t>
            </a:r>
          </a:p>
        </p:txBody>
      </p:sp>
      <p:sp>
        <p:nvSpPr>
          <p:cNvPr id="4" name="Slide Number Placeholder 3">
            <a:extLst>
              <a:ext uri="{FF2B5EF4-FFF2-40B4-BE49-F238E27FC236}">
                <a16:creationId xmlns:a16="http://schemas.microsoft.com/office/drawing/2014/main" id="{4B2D48FD-695D-4390-2C75-81353BB3D72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00924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BD438E-54C3-1542-AD4D-7C03686E93D3}"/>
              </a:ext>
            </a:extLst>
          </p:cNvPr>
          <p:cNvSpPr/>
          <p:nvPr userDrawn="1"/>
        </p:nvSpPr>
        <p:spPr>
          <a:xfrm>
            <a:off x="0" y="4218711"/>
            <a:ext cx="9144000" cy="9247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 name="Title 1">
            <a:extLst>
              <a:ext uri="{FF2B5EF4-FFF2-40B4-BE49-F238E27FC236}">
                <a16:creationId xmlns:a16="http://schemas.microsoft.com/office/drawing/2014/main" id="{67C29C91-D1E5-C148-B8F1-D5C38B745EF3}"/>
              </a:ext>
            </a:extLst>
          </p:cNvPr>
          <p:cNvSpPr>
            <a:spLocks noGrp="1"/>
          </p:cNvSpPr>
          <p:nvPr>
            <p:ph type="ctrTitle"/>
          </p:nvPr>
        </p:nvSpPr>
        <p:spPr>
          <a:xfrm>
            <a:off x="317809" y="1154296"/>
            <a:ext cx="8452118" cy="691970"/>
          </a:xfrm>
        </p:spPr>
        <p:txBody>
          <a:bodyPr anchor="b" anchorCtr="0">
            <a:normAutofit/>
          </a:bodyPr>
          <a:lstStyle>
            <a:lvl1pPr algn="l">
              <a:defRPr sz="27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2B5F596-65D0-A341-9573-4D5B53D50F7E}"/>
              </a:ext>
            </a:extLst>
          </p:cNvPr>
          <p:cNvSpPr>
            <a:spLocks noGrp="1"/>
          </p:cNvSpPr>
          <p:nvPr>
            <p:ph type="subTitle" idx="1"/>
          </p:nvPr>
        </p:nvSpPr>
        <p:spPr>
          <a:xfrm>
            <a:off x="317809" y="1915322"/>
            <a:ext cx="8452118" cy="670880"/>
          </a:xfrm>
        </p:spPr>
        <p:txBody>
          <a:bodyPr>
            <a:normAutofit/>
          </a:bodyPr>
          <a:lstStyle>
            <a:lvl1pPr marL="0" indent="0" algn="l">
              <a:buNone/>
              <a:defRPr sz="2100" b="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5" name="Text Placeholder 4">
            <a:extLst>
              <a:ext uri="{FF2B5EF4-FFF2-40B4-BE49-F238E27FC236}">
                <a16:creationId xmlns:a16="http://schemas.microsoft.com/office/drawing/2014/main" id="{98292E38-076C-EB41-8603-A55427D67604}"/>
              </a:ext>
            </a:extLst>
          </p:cNvPr>
          <p:cNvSpPr>
            <a:spLocks noGrp="1"/>
          </p:cNvSpPr>
          <p:nvPr>
            <p:ph type="body" sz="quarter" idx="10" hasCustomPrompt="1"/>
          </p:nvPr>
        </p:nvSpPr>
        <p:spPr>
          <a:xfrm>
            <a:off x="317810" y="240031"/>
            <a:ext cx="806631" cy="206243"/>
          </a:xfrm>
        </p:spPr>
        <p:txBody>
          <a:bodyPr>
            <a:noAutofit/>
          </a:bodyPr>
          <a:lstStyle>
            <a:lvl1pPr marL="0" indent="0">
              <a:buNone/>
              <a:defRPr sz="675">
                <a:solidFill>
                  <a:schemeClr val="bg1"/>
                </a:solidFill>
              </a:defRPr>
            </a:lvl1pPr>
            <a:lvl2pPr marL="257175" indent="0">
              <a:buNone/>
              <a:defRPr sz="675">
                <a:solidFill>
                  <a:schemeClr val="bg1"/>
                </a:solidFill>
              </a:defRPr>
            </a:lvl2pPr>
            <a:lvl3pPr marL="514350" indent="0">
              <a:buNone/>
              <a:defRPr sz="675">
                <a:solidFill>
                  <a:schemeClr val="bg1"/>
                </a:solidFill>
              </a:defRPr>
            </a:lvl3pPr>
            <a:lvl4pPr marL="771525" indent="0">
              <a:buNone/>
              <a:defRPr sz="675">
                <a:solidFill>
                  <a:schemeClr val="bg1"/>
                </a:solidFill>
              </a:defRPr>
            </a:lvl4pPr>
            <a:lvl5pPr marL="1028700" indent="0">
              <a:buNone/>
              <a:defRPr sz="675">
                <a:solidFill>
                  <a:schemeClr val="bg1"/>
                </a:solidFill>
              </a:defRPr>
            </a:lvl5pPr>
          </a:lstStyle>
          <a:p>
            <a:pPr lvl="0"/>
            <a:r>
              <a:rPr lang="en-US" dirty="0"/>
              <a:t>MM/DD/YY</a:t>
            </a:r>
          </a:p>
        </p:txBody>
      </p:sp>
      <p:sp>
        <p:nvSpPr>
          <p:cNvPr id="6" name="Text Placeholder 5">
            <a:extLst>
              <a:ext uri="{FF2B5EF4-FFF2-40B4-BE49-F238E27FC236}">
                <a16:creationId xmlns:a16="http://schemas.microsoft.com/office/drawing/2014/main" id="{8AC4349C-0BCF-8045-9796-523469306F36}"/>
              </a:ext>
            </a:extLst>
          </p:cNvPr>
          <p:cNvSpPr>
            <a:spLocks noGrp="1"/>
          </p:cNvSpPr>
          <p:nvPr>
            <p:ph type="body" sz="quarter" idx="11" hasCustomPrompt="1"/>
          </p:nvPr>
        </p:nvSpPr>
        <p:spPr>
          <a:xfrm>
            <a:off x="167238" y="4841748"/>
            <a:ext cx="4404762" cy="192557"/>
          </a:xfrm>
        </p:spPr>
        <p:txBody>
          <a:bodyPr anchor="ctr" anchorCtr="0">
            <a:normAutofit/>
          </a:bodyPr>
          <a:lstStyle>
            <a:lvl1pPr marL="0" indent="0">
              <a:buNone/>
              <a:defRPr sz="750" b="1">
                <a:solidFill>
                  <a:schemeClr val="bg1"/>
                </a:solidFill>
                <a:latin typeface="Nunito Sans Normal" pitchFamily="2" charset="77"/>
              </a:defRPr>
            </a:lvl1pPr>
            <a:lvl2pPr marL="257175" indent="0">
              <a:buNone/>
              <a:defRPr b="1">
                <a:solidFill>
                  <a:schemeClr val="bg1"/>
                </a:solidFill>
              </a:defRPr>
            </a:lvl2pPr>
            <a:lvl3pPr marL="514350" indent="0">
              <a:buNone/>
              <a:defRPr b="1">
                <a:solidFill>
                  <a:schemeClr val="bg1"/>
                </a:solidFill>
              </a:defRPr>
            </a:lvl3pPr>
            <a:lvl4pPr marL="771525" indent="0">
              <a:buNone/>
              <a:defRPr b="1">
                <a:solidFill>
                  <a:schemeClr val="bg1"/>
                </a:solidFill>
              </a:defRPr>
            </a:lvl4pPr>
            <a:lvl5pPr marL="1028700" indent="0">
              <a:buNone/>
              <a:defRPr b="1">
                <a:solidFill>
                  <a:schemeClr val="bg1"/>
                </a:solidFill>
              </a:defRPr>
            </a:lvl5pPr>
          </a:lstStyle>
          <a:p>
            <a:pPr lvl="0"/>
            <a:r>
              <a:rPr lang="en-US" sz="750" dirty="0"/>
              <a:t>Update Your Department Name Here</a:t>
            </a:r>
            <a:endParaRPr lang="en-US" dirty="0"/>
          </a:p>
        </p:txBody>
      </p:sp>
      <p:pic>
        <p:nvPicPr>
          <p:cNvPr id="8" name="Picture 7">
            <a:extLst>
              <a:ext uri="{FF2B5EF4-FFF2-40B4-BE49-F238E27FC236}">
                <a16:creationId xmlns:a16="http://schemas.microsoft.com/office/drawing/2014/main" id="{7C95DADE-73AC-4F4A-8D9D-D1CC61E9D5A2}"/>
              </a:ext>
            </a:extLst>
          </p:cNvPr>
          <p:cNvPicPr>
            <a:picLocks noChangeAspect="1"/>
          </p:cNvPicPr>
          <p:nvPr userDrawn="1"/>
        </p:nvPicPr>
        <p:blipFill>
          <a:blip r:embed="rId2"/>
          <a:stretch>
            <a:fillRect/>
          </a:stretch>
        </p:blipFill>
        <p:spPr>
          <a:xfrm>
            <a:off x="7050025" y="4841748"/>
            <a:ext cx="1932467" cy="143765"/>
          </a:xfrm>
          <a:prstGeom prst="rect">
            <a:avLst/>
          </a:prstGeom>
        </p:spPr>
      </p:pic>
    </p:spTree>
    <p:extLst>
      <p:ext uri="{BB962C8B-B14F-4D97-AF65-F5344CB8AC3E}">
        <p14:creationId xmlns:p14="http://schemas.microsoft.com/office/powerpoint/2010/main" val="3740622830"/>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6A3A9-1A8A-E64F-9D05-95B9CCF2FB29}"/>
              </a:ext>
            </a:extLst>
          </p:cNvPr>
          <p:cNvSpPr>
            <a:spLocks noGrp="1"/>
          </p:cNvSpPr>
          <p:nvPr>
            <p:ph type="title"/>
          </p:nvPr>
        </p:nvSpPr>
        <p:spPr>
          <a:xfrm>
            <a:off x="394853" y="273845"/>
            <a:ext cx="8354295" cy="445770"/>
          </a:xfrm>
        </p:spPr>
        <p:txBody>
          <a:bodyPr anchor="t" anchorCtr="0"/>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31EB4E-BB72-914E-8B6C-9B81EF8D8D64}"/>
              </a:ext>
            </a:extLst>
          </p:cNvPr>
          <p:cNvSpPr>
            <a:spLocks noGrp="1"/>
          </p:cNvSpPr>
          <p:nvPr>
            <p:ph idx="1"/>
          </p:nvPr>
        </p:nvSpPr>
        <p:spPr>
          <a:xfrm>
            <a:off x="571500" y="1369218"/>
            <a:ext cx="7995802"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4173940"/>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R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C4527-BD31-454E-9107-69E39D6B921F}"/>
              </a:ext>
            </a:extLst>
          </p:cNvPr>
          <p:cNvSpPr>
            <a:spLocks noGrp="1"/>
          </p:cNvSpPr>
          <p:nvPr>
            <p:ph type="title"/>
          </p:nvPr>
        </p:nvSpPr>
        <p:spPr>
          <a:xfrm>
            <a:off x="394853" y="273846"/>
            <a:ext cx="8354294" cy="450922"/>
          </a:xfrm>
        </p:spPr>
        <p:txBody>
          <a:bodyPr/>
          <a:lstStyle/>
          <a:p>
            <a:r>
              <a:rPr lang="en-US"/>
              <a:t>Click to edit Master title style</a:t>
            </a:r>
          </a:p>
        </p:txBody>
      </p:sp>
      <p:sp>
        <p:nvSpPr>
          <p:cNvPr id="4" name="Text Placeholder 3">
            <a:extLst>
              <a:ext uri="{FF2B5EF4-FFF2-40B4-BE49-F238E27FC236}">
                <a16:creationId xmlns:a16="http://schemas.microsoft.com/office/drawing/2014/main" id="{620E3AB4-4EDC-2F4E-9329-91A2FE36ED96}"/>
              </a:ext>
            </a:extLst>
          </p:cNvPr>
          <p:cNvSpPr>
            <a:spLocks noGrp="1"/>
          </p:cNvSpPr>
          <p:nvPr>
            <p:ph type="body" sz="quarter" idx="10" hasCustomPrompt="1"/>
          </p:nvPr>
        </p:nvSpPr>
        <p:spPr>
          <a:xfrm>
            <a:off x="571500" y="948034"/>
            <a:ext cx="7995802" cy="967477"/>
          </a:xfrm>
        </p:spPr>
        <p:txBody>
          <a:bodyPr>
            <a:noAutofit/>
          </a:bodyPr>
          <a:lstStyle>
            <a:lvl1pPr marL="0" indent="0">
              <a:buNone/>
              <a:defRPr sz="1800">
                <a:solidFill>
                  <a:schemeClr val="tx1"/>
                </a:solidFill>
              </a:defRPr>
            </a:lvl1pPr>
            <a:lvl2pPr marL="257175" indent="0">
              <a:buNone/>
              <a:defRPr sz="1350">
                <a:solidFill>
                  <a:schemeClr val="tx1"/>
                </a:solidFill>
              </a:defRPr>
            </a:lvl2pPr>
            <a:lvl3pPr marL="514350" indent="0">
              <a:buNone/>
              <a:defRPr sz="1350">
                <a:solidFill>
                  <a:schemeClr val="tx1"/>
                </a:solidFill>
              </a:defRPr>
            </a:lvl3pPr>
            <a:lvl4pPr marL="771525" indent="0">
              <a:buNone/>
              <a:defRPr sz="1350">
                <a:solidFill>
                  <a:schemeClr val="tx1"/>
                </a:solidFill>
              </a:defRPr>
            </a:lvl4pPr>
            <a:lvl5pPr marL="1028700" indent="0">
              <a:buNone/>
              <a:defRPr sz="1500">
                <a:solidFill>
                  <a:schemeClr val="tx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6" name="Picture Placeholder 5">
            <a:extLst>
              <a:ext uri="{FF2B5EF4-FFF2-40B4-BE49-F238E27FC236}">
                <a16:creationId xmlns:a16="http://schemas.microsoft.com/office/drawing/2014/main" id="{C8D8CD89-FCB8-EC44-88B7-A7D2288BDF7D}"/>
              </a:ext>
            </a:extLst>
          </p:cNvPr>
          <p:cNvSpPr>
            <a:spLocks noGrp="1"/>
          </p:cNvSpPr>
          <p:nvPr>
            <p:ph type="pic" sz="quarter" idx="11"/>
          </p:nvPr>
        </p:nvSpPr>
        <p:spPr>
          <a:xfrm>
            <a:off x="571500" y="2322521"/>
            <a:ext cx="7995802" cy="2112169"/>
          </a:xfrm>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3343098571"/>
      </p:ext>
    </p:extLst>
  </p:cSld>
  <p:clrMapOvr>
    <a:masterClrMapping/>
  </p:clrMapOvr>
  <p:extLst>
    <p:ext uri="{DCECCB84-F9BA-43D5-87BE-67443E8EF086}">
      <p15:sldGuideLst xmlns:p15="http://schemas.microsoft.com/office/powerpoint/2012/main">
        <p15:guide id="1" orient="horz" pos="2160">
          <p15:clr>
            <a:srgbClr val="FBAE40"/>
          </p15:clr>
        </p15:guide>
        <p15:guide id="2" pos="3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E82FA-781A-C548-9707-B4EA67FB2ECA}"/>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8895C43-266B-B24A-8AEC-05D656EB3BA0}"/>
              </a:ext>
            </a:extLst>
          </p:cNvPr>
          <p:cNvSpPr>
            <a:spLocks noGrp="1"/>
          </p:cNvSpPr>
          <p:nvPr>
            <p:ph sz="half" idx="1"/>
          </p:nvPr>
        </p:nvSpPr>
        <p:spPr>
          <a:xfrm>
            <a:off x="571500" y="1369218"/>
            <a:ext cx="39243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9EC6B5A-63BB-4E4D-BC5F-3E79E1ADE94F}"/>
              </a:ext>
            </a:extLst>
          </p:cNvPr>
          <p:cNvSpPr>
            <a:spLocks noGrp="1"/>
          </p:cNvSpPr>
          <p:nvPr>
            <p:ph sz="half" idx="2"/>
          </p:nvPr>
        </p:nvSpPr>
        <p:spPr>
          <a:xfrm>
            <a:off x="4648200" y="1369218"/>
            <a:ext cx="3919102"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6380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Blocks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E82FA-781A-C548-9707-B4EA67FB2E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895C43-266B-B24A-8AEC-05D656EB3BA0}"/>
              </a:ext>
            </a:extLst>
          </p:cNvPr>
          <p:cNvSpPr>
            <a:spLocks noGrp="1"/>
          </p:cNvSpPr>
          <p:nvPr>
            <p:ph sz="half" idx="1"/>
          </p:nvPr>
        </p:nvSpPr>
        <p:spPr>
          <a:xfrm>
            <a:off x="571500" y="1713200"/>
            <a:ext cx="3924300" cy="1108527"/>
          </a:xfrm>
        </p:spPr>
        <p:txBody>
          <a:bodyPr>
            <a:normAutofit/>
          </a:bodyPr>
          <a:lstStyle>
            <a:lvl1pPr>
              <a:defRPr sz="150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a:extLst>
              <a:ext uri="{FF2B5EF4-FFF2-40B4-BE49-F238E27FC236}">
                <a16:creationId xmlns:a16="http://schemas.microsoft.com/office/drawing/2014/main" id="{32DDFAD5-F047-3041-8386-E66D01BC1132}"/>
              </a:ext>
            </a:extLst>
          </p:cNvPr>
          <p:cNvSpPr>
            <a:spLocks noGrp="1"/>
          </p:cNvSpPr>
          <p:nvPr>
            <p:ph sz="half" idx="10"/>
          </p:nvPr>
        </p:nvSpPr>
        <p:spPr>
          <a:xfrm>
            <a:off x="571500" y="3274328"/>
            <a:ext cx="3924300" cy="1358395"/>
          </a:xfrm>
        </p:spPr>
        <p:txBody>
          <a:bodyPr>
            <a:normAutofit/>
          </a:bodyPr>
          <a:lstStyle>
            <a:lvl1pPr>
              <a:defRPr sz="150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E9C7C1AA-6F23-AA49-9026-A28AE8D9CD1D}"/>
              </a:ext>
            </a:extLst>
          </p:cNvPr>
          <p:cNvSpPr>
            <a:spLocks noGrp="1"/>
          </p:cNvSpPr>
          <p:nvPr>
            <p:ph type="body" sz="quarter" idx="11" hasCustomPrompt="1"/>
          </p:nvPr>
        </p:nvSpPr>
        <p:spPr>
          <a:xfrm>
            <a:off x="571500" y="2930129"/>
            <a:ext cx="3924300" cy="344090"/>
          </a:xfrm>
        </p:spPr>
        <p:txBody>
          <a:bodyPr>
            <a:normAutofit/>
          </a:bodyPr>
          <a:lstStyle>
            <a:lvl1pPr marL="0" indent="0">
              <a:buNone/>
              <a:defRPr sz="1500" b="1">
                <a:solidFill>
                  <a:schemeClr val="accent1"/>
                </a:solidFill>
              </a:defRPr>
            </a:lvl1pPr>
            <a:lvl2pPr>
              <a:defRPr b="1"/>
            </a:lvl2pPr>
            <a:lvl3pPr>
              <a:defRPr b="1"/>
            </a:lvl3pPr>
            <a:lvl4pPr>
              <a:defRPr b="1"/>
            </a:lvl4pPr>
            <a:lvl5pPr>
              <a:defRPr b="1"/>
            </a:lvl5pPr>
          </a:lstStyle>
          <a:p>
            <a:pPr lvl="0"/>
            <a:r>
              <a:rPr lang="en-US" dirty="0"/>
              <a:t>Edit Bulleted List Title 2</a:t>
            </a:r>
          </a:p>
        </p:txBody>
      </p:sp>
      <p:sp>
        <p:nvSpPr>
          <p:cNvPr id="8" name="Text Placeholder 6">
            <a:extLst>
              <a:ext uri="{FF2B5EF4-FFF2-40B4-BE49-F238E27FC236}">
                <a16:creationId xmlns:a16="http://schemas.microsoft.com/office/drawing/2014/main" id="{BD1EAAD0-5A62-CC4B-BC05-BC5CBEDF654C}"/>
              </a:ext>
            </a:extLst>
          </p:cNvPr>
          <p:cNvSpPr>
            <a:spLocks noGrp="1"/>
          </p:cNvSpPr>
          <p:nvPr>
            <p:ph type="body" sz="quarter" idx="12" hasCustomPrompt="1"/>
          </p:nvPr>
        </p:nvSpPr>
        <p:spPr>
          <a:xfrm>
            <a:off x="571500" y="1369111"/>
            <a:ext cx="3924300" cy="344090"/>
          </a:xfrm>
        </p:spPr>
        <p:txBody>
          <a:bodyPr>
            <a:normAutofit/>
          </a:bodyPr>
          <a:lstStyle>
            <a:lvl1pPr marL="0" indent="0">
              <a:buNone/>
              <a:defRPr sz="1500" b="1">
                <a:solidFill>
                  <a:schemeClr val="accent1"/>
                </a:solidFill>
              </a:defRPr>
            </a:lvl1pPr>
            <a:lvl2pPr>
              <a:defRPr b="1"/>
            </a:lvl2pPr>
            <a:lvl3pPr>
              <a:defRPr b="1"/>
            </a:lvl3pPr>
            <a:lvl4pPr>
              <a:defRPr b="1"/>
            </a:lvl4pPr>
            <a:lvl5pPr>
              <a:defRPr b="1"/>
            </a:lvl5pPr>
          </a:lstStyle>
          <a:p>
            <a:pPr lvl="0"/>
            <a:r>
              <a:rPr lang="en-US" dirty="0"/>
              <a:t>Edit Bulleted List Title 1</a:t>
            </a:r>
          </a:p>
        </p:txBody>
      </p:sp>
      <p:sp>
        <p:nvSpPr>
          <p:cNvPr id="12" name="Picture Placeholder 11">
            <a:extLst>
              <a:ext uri="{FF2B5EF4-FFF2-40B4-BE49-F238E27FC236}">
                <a16:creationId xmlns:a16="http://schemas.microsoft.com/office/drawing/2014/main" id="{B5C16FF6-B5DF-0C42-A500-F2E8C80DF71D}"/>
              </a:ext>
            </a:extLst>
          </p:cNvPr>
          <p:cNvSpPr>
            <a:spLocks noGrp="1"/>
          </p:cNvSpPr>
          <p:nvPr>
            <p:ph type="pic" sz="quarter" idx="13"/>
          </p:nvPr>
        </p:nvSpPr>
        <p:spPr>
          <a:xfrm>
            <a:off x="4665805" y="1369218"/>
            <a:ext cx="3886200" cy="3263504"/>
          </a:xfrm>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915139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Rows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E82FA-781A-C548-9707-B4EA67FB2E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895C43-266B-B24A-8AEC-05D656EB3BA0}"/>
              </a:ext>
            </a:extLst>
          </p:cNvPr>
          <p:cNvSpPr>
            <a:spLocks noGrp="1"/>
          </p:cNvSpPr>
          <p:nvPr>
            <p:ph sz="half" idx="1"/>
          </p:nvPr>
        </p:nvSpPr>
        <p:spPr>
          <a:xfrm>
            <a:off x="571500" y="1713200"/>
            <a:ext cx="3924300" cy="1108527"/>
          </a:xfrm>
        </p:spPr>
        <p:txBody>
          <a:bodyPr>
            <a:noAutofit/>
          </a:bodyPr>
          <a:lstStyle>
            <a:lvl1pPr>
              <a:defRPr sz="150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a:extLst>
              <a:ext uri="{FF2B5EF4-FFF2-40B4-BE49-F238E27FC236}">
                <a16:creationId xmlns:a16="http://schemas.microsoft.com/office/drawing/2014/main" id="{32DDFAD5-F047-3041-8386-E66D01BC1132}"/>
              </a:ext>
            </a:extLst>
          </p:cNvPr>
          <p:cNvSpPr>
            <a:spLocks noGrp="1"/>
          </p:cNvSpPr>
          <p:nvPr>
            <p:ph sz="half" idx="10"/>
          </p:nvPr>
        </p:nvSpPr>
        <p:spPr>
          <a:xfrm>
            <a:off x="571500" y="3274328"/>
            <a:ext cx="3924300" cy="1358395"/>
          </a:xfrm>
        </p:spPr>
        <p:txBody>
          <a:bodyPr>
            <a:normAutofit/>
          </a:bodyPr>
          <a:lstStyle>
            <a:lvl1pPr>
              <a:defRPr sz="150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9C7C1AA-6F23-AA49-9026-A28AE8D9CD1D}"/>
              </a:ext>
            </a:extLst>
          </p:cNvPr>
          <p:cNvSpPr>
            <a:spLocks noGrp="1"/>
          </p:cNvSpPr>
          <p:nvPr>
            <p:ph type="body" sz="quarter" idx="11" hasCustomPrompt="1"/>
          </p:nvPr>
        </p:nvSpPr>
        <p:spPr>
          <a:xfrm>
            <a:off x="571500" y="2930129"/>
            <a:ext cx="3924300" cy="344090"/>
          </a:xfrm>
        </p:spPr>
        <p:txBody>
          <a:bodyPr>
            <a:normAutofit/>
          </a:bodyPr>
          <a:lstStyle>
            <a:lvl1pPr marL="0" indent="0">
              <a:buNone/>
              <a:defRPr sz="1500" b="1" i="0">
                <a:solidFill>
                  <a:schemeClr val="accent1"/>
                </a:solidFill>
                <a:latin typeface="Nunito Sans Normal" pitchFamily="2" charset="77"/>
              </a:defRPr>
            </a:lvl1pPr>
            <a:lvl2pPr>
              <a:defRPr b="1"/>
            </a:lvl2pPr>
            <a:lvl3pPr>
              <a:defRPr b="1"/>
            </a:lvl3pPr>
            <a:lvl4pPr>
              <a:defRPr b="1"/>
            </a:lvl4pPr>
            <a:lvl5pPr>
              <a:defRPr b="1"/>
            </a:lvl5pPr>
          </a:lstStyle>
          <a:p>
            <a:pPr lvl="0"/>
            <a:r>
              <a:rPr lang="en-US" dirty="0"/>
              <a:t>Edit Bulleted List Title 2</a:t>
            </a:r>
          </a:p>
        </p:txBody>
      </p:sp>
      <p:sp>
        <p:nvSpPr>
          <p:cNvPr id="8" name="Text Placeholder 6">
            <a:extLst>
              <a:ext uri="{FF2B5EF4-FFF2-40B4-BE49-F238E27FC236}">
                <a16:creationId xmlns:a16="http://schemas.microsoft.com/office/drawing/2014/main" id="{BD1EAAD0-5A62-CC4B-BC05-BC5CBEDF654C}"/>
              </a:ext>
            </a:extLst>
          </p:cNvPr>
          <p:cNvSpPr>
            <a:spLocks noGrp="1"/>
          </p:cNvSpPr>
          <p:nvPr>
            <p:ph type="body" sz="quarter" idx="12" hasCustomPrompt="1"/>
          </p:nvPr>
        </p:nvSpPr>
        <p:spPr>
          <a:xfrm>
            <a:off x="571500" y="1369111"/>
            <a:ext cx="3924300" cy="344090"/>
          </a:xfrm>
        </p:spPr>
        <p:txBody>
          <a:bodyPr>
            <a:normAutofit/>
          </a:bodyPr>
          <a:lstStyle>
            <a:lvl1pPr marL="0" indent="0">
              <a:buNone/>
              <a:defRPr sz="1500" b="1" i="0">
                <a:solidFill>
                  <a:schemeClr val="accent1"/>
                </a:solidFill>
                <a:latin typeface="Nunito Sans Normal" pitchFamily="2" charset="77"/>
              </a:defRPr>
            </a:lvl1pPr>
            <a:lvl2pPr>
              <a:defRPr b="1"/>
            </a:lvl2pPr>
            <a:lvl3pPr>
              <a:defRPr b="1"/>
            </a:lvl3pPr>
            <a:lvl4pPr>
              <a:defRPr b="1"/>
            </a:lvl4pPr>
            <a:lvl5pPr>
              <a:defRPr b="1"/>
            </a:lvl5pPr>
          </a:lstStyle>
          <a:p>
            <a:pPr lvl="0"/>
            <a:r>
              <a:rPr lang="en-US" dirty="0"/>
              <a:t>Edit Bulleted List Title 1</a:t>
            </a:r>
          </a:p>
        </p:txBody>
      </p:sp>
      <p:sp>
        <p:nvSpPr>
          <p:cNvPr id="9" name="Content Placeholder 2">
            <a:extLst>
              <a:ext uri="{FF2B5EF4-FFF2-40B4-BE49-F238E27FC236}">
                <a16:creationId xmlns:a16="http://schemas.microsoft.com/office/drawing/2014/main" id="{DEBD32F5-35B3-D748-8BC3-8E9E25E502B5}"/>
              </a:ext>
            </a:extLst>
          </p:cNvPr>
          <p:cNvSpPr>
            <a:spLocks noGrp="1"/>
          </p:cNvSpPr>
          <p:nvPr>
            <p:ph sz="half" idx="13"/>
          </p:nvPr>
        </p:nvSpPr>
        <p:spPr>
          <a:xfrm>
            <a:off x="4677640" y="1713092"/>
            <a:ext cx="3867150" cy="1108527"/>
          </a:xfrm>
        </p:spPr>
        <p:txBody>
          <a:bodyPr>
            <a:normAutofit/>
          </a:bodyPr>
          <a:lstStyle>
            <a:lvl1pPr>
              <a:defRPr sz="150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4B267FC4-B2EF-DA47-AA11-5BF6913B6720}"/>
              </a:ext>
            </a:extLst>
          </p:cNvPr>
          <p:cNvSpPr>
            <a:spLocks noGrp="1"/>
          </p:cNvSpPr>
          <p:nvPr>
            <p:ph sz="half" idx="14"/>
          </p:nvPr>
        </p:nvSpPr>
        <p:spPr>
          <a:xfrm>
            <a:off x="4677640" y="3274220"/>
            <a:ext cx="3867150" cy="1358395"/>
          </a:xfrm>
        </p:spPr>
        <p:txBody>
          <a:bodyPr>
            <a:normAutofit/>
          </a:bodyPr>
          <a:lstStyle>
            <a:lvl1pPr>
              <a:defRPr sz="150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603B3A9A-9264-7E49-A031-4581AFA21517}"/>
              </a:ext>
            </a:extLst>
          </p:cNvPr>
          <p:cNvSpPr>
            <a:spLocks noGrp="1"/>
          </p:cNvSpPr>
          <p:nvPr>
            <p:ph type="body" sz="quarter" idx="15" hasCustomPrompt="1"/>
          </p:nvPr>
        </p:nvSpPr>
        <p:spPr>
          <a:xfrm>
            <a:off x="4677640" y="2930021"/>
            <a:ext cx="3867150" cy="344090"/>
          </a:xfrm>
        </p:spPr>
        <p:txBody>
          <a:bodyPr>
            <a:normAutofit/>
          </a:bodyPr>
          <a:lstStyle>
            <a:lvl1pPr marL="0" indent="0">
              <a:buNone/>
              <a:defRPr sz="1500" b="1" i="0">
                <a:solidFill>
                  <a:schemeClr val="accent1"/>
                </a:solidFill>
                <a:latin typeface="Nunito Sans Normal" pitchFamily="2" charset="77"/>
              </a:defRPr>
            </a:lvl1pPr>
            <a:lvl2pPr>
              <a:defRPr b="1"/>
            </a:lvl2pPr>
            <a:lvl3pPr>
              <a:defRPr b="1"/>
            </a:lvl3pPr>
            <a:lvl4pPr>
              <a:defRPr b="1"/>
            </a:lvl4pPr>
            <a:lvl5pPr>
              <a:defRPr b="1"/>
            </a:lvl5pPr>
          </a:lstStyle>
          <a:p>
            <a:pPr lvl="0"/>
            <a:r>
              <a:rPr lang="en-US" dirty="0"/>
              <a:t>Edit Bulleted List Title 4</a:t>
            </a:r>
          </a:p>
        </p:txBody>
      </p:sp>
      <p:sp>
        <p:nvSpPr>
          <p:cNvPr id="13" name="Text Placeholder 6">
            <a:extLst>
              <a:ext uri="{FF2B5EF4-FFF2-40B4-BE49-F238E27FC236}">
                <a16:creationId xmlns:a16="http://schemas.microsoft.com/office/drawing/2014/main" id="{73E58B0F-56D2-8D46-B63E-37D8C16EEDDF}"/>
              </a:ext>
            </a:extLst>
          </p:cNvPr>
          <p:cNvSpPr>
            <a:spLocks noGrp="1"/>
          </p:cNvSpPr>
          <p:nvPr>
            <p:ph type="body" sz="quarter" idx="16" hasCustomPrompt="1"/>
          </p:nvPr>
        </p:nvSpPr>
        <p:spPr>
          <a:xfrm>
            <a:off x="4677640" y="1369002"/>
            <a:ext cx="3867150" cy="344090"/>
          </a:xfrm>
        </p:spPr>
        <p:txBody>
          <a:bodyPr>
            <a:normAutofit/>
          </a:bodyPr>
          <a:lstStyle>
            <a:lvl1pPr marL="0" indent="0">
              <a:buNone/>
              <a:defRPr sz="1500" b="1" i="0">
                <a:solidFill>
                  <a:schemeClr val="accent1"/>
                </a:solidFill>
                <a:latin typeface="Nunito Sans Normal" pitchFamily="2" charset="77"/>
              </a:defRPr>
            </a:lvl1pPr>
            <a:lvl2pPr>
              <a:defRPr b="1"/>
            </a:lvl2pPr>
            <a:lvl3pPr>
              <a:defRPr b="1"/>
            </a:lvl3pPr>
            <a:lvl4pPr>
              <a:defRPr b="1"/>
            </a:lvl4pPr>
            <a:lvl5pPr>
              <a:defRPr b="1"/>
            </a:lvl5pPr>
          </a:lstStyle>
          <a:p>
            <a:pPr lvl="0"/>
            <a:r>
              <a:rPr lang="en-US" dirty="0"/>
              <a:t>Edit Bulleted List Title 3</a:t>
            </a:r>
          </a:p>
        </p:txBody>
      </p:sp>
    </p:spTree>
    <p:extLst>
      <p:ext uri="{BB962C8B-B14F-4D97-AF65-F5344CB8AC3E}">
        <p14:creationId xmlns:p14="http://schemas.microsoft.com/office/powerpoint/2010/main" val="4228492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with Title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6FE5BE-4DA3-0040-85D4-10ED4DE0463A}"/>
              </a:ext>
            </a:extLst>
          </p:cNvPr>
          <p:cNvSpPr>
            <a:spLocks noGrp="1"/>
          </p:cNvSpPr>
          <p:nvPr>
            <p:ph type="body" idx="1"/>
          </p:nvPr>
        </p:nvSpPr>
        <p:spPr>
          <a:xfrm>
            <a:off x="571501" y="1291166"/>
            <a:ext cx="3927475" cy="371740"/>
          </a:xfrm>
        </p:spPr>
        <p:txBody>
          <a:bodyPr anchor="b">
            <a:normAutofit/>
          </a:bodyPr>
          <a:lstStyle>
            <a:lvl1pPr marL="0" indent="0">
              <a:buNone/>
              <a:defRPr sz="1500" b="1" i="0">
                <a:solidFill>
                  <a:schemeClr val="accent1"/>
                </a:solidFill>
                <a:latin typeface="Nunito Sans Normal" pitchFamily="2" charset="77"/>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17DA9CA-B66B-E34F-B1B6-BC9931475CD2}"/>
              </a:ext>
            </a:extLst>
          </p:cNvPr>
          <p:cNvSpPr>
            <a:spLocks noGrp="1"/>
          </p:cNvSpPr>
          <p:nvPr>
            <p:ph sz="half" idx="2"/>
          </p:nvPr>
        </p:nvSpPr>
        <p:spPr>
          <a:xfrm>
            <a:off x="571501" y="1878806"/>
            <a:ext cx="3927475" cy="2763441"/>
          </a:xfrm>
        </p:spPr>
        <p:txBody>
          <a:bodyPr>
            <a:normAutofit/>
          </a:bodyPr>
          <a:lstStyle>
            <a:lvl1pPr>
              <a:defRPr sz="150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E9D562A-BDA8-6946-ADE8-8AD6EF0CF899}"/>
              </a:ext>
            </a:extLst>
          </p:cNvPr>
          <p:cNvSpPr>
            <a:spLocks noGrp="1"/>
          </p:cNvSpPr>
          <p:nvPr>
            <p:ph type="body" sz="quarter" idx="3"/>
          </p:nvPr>
        </p:nvSpPr>
        <p:spPr>
          <a:xfrm>
            <a:off x="4629150" y="1291165"/>
            <a:ext cx="3938152" cy="371741"/>
          </a:xfrm>
        </p:spPr>
        <p:txBody>
          <a:bodyPr anchor="b">
            <a:normAutofit/>
          </a:bodyPr>
          <a:lstStyle>
            <a:lvl1pPr marL="0" indent="0">
              <a:buNone/>
              <a:defRPr sz="1500" b="1" i="0">
                <a:solidFill>
                  <a:schemeClr val="accent1"/>
                </a:solidFill>
                <a:latin typeface="Nunito Sans Normal" pitchFamily="2" charset="77"/>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915DDEE-EBF8-934D-9120-77750C4EACDC}"/>
              </a:ext>
            </a:extLst>
          </p:cNvPr>
          <p:cNvSpPr>
            <a:spLocks noGrp="1"/>
          </p:cNvSpPr>
          <p:nvPr>
            <p:ph sz="quarter" idx="4"/>
          </p:nvPr>
        </p:nvSpPr>
        <p:spPr>
          <a:xfrm>
            <a:off x="4629150" y="1878806"/>
            <a:ext cx="3938152" cy="2763441"/>
          </a:xfrm>
        </p:spPr>
        <p:txBody>
          <a:bodyPr>
            <a:normAutofit/>
          </a:bodyPr>
          <a:lstStyle>
            <a:lvl1pPr>
              <a:defRPr sz="150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61A12BF7-2D7E-BD40-997F-1E0233E1E2E1}"/>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811737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8193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Navy">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68F591-06BA-094E-829F-34CD10B83CFA}"/>
              </a:ext>
            </a:extLst>
          </p:cNvPr>
          <p:cNvSpPr/>
          <p:nvPr userDrawn="1"/>
        </p:nvSpPr>
        <p:spPr>
          <a:xfrm>
            <a:off x="0" y="4218711"/>
            <a:ext cx="9144000" cy="9247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 name="Title 1">
            <a:extLst>
              <a:ext uri="{FF2B5EF4-FFF2-40B4-BE49-F238E27FC236}">
                <a16:creationId xmlns:a16="http://schemas.microsoft.com/office/drawing/2014/main" id="{CC0015E5-05D3-9748-926A-64DD9D886C2B}"/>
              </a:ext>
            </a:extLst>
          </p:cNvPr>
          <p:cNvSpPr>
            <a:spLocks noGrp="1"/>
          </p:cNvSpPr>
          <p:nvPr>
            <p:ph type="title"/>
          </p:nvPr>
        </p:nvSpPr>
        <p:spPr>
          <a:xfrm>
            <a:off x="623888" y="3070518"/>
            <a:ext cx="7886700" cy="865693"/>
          </a:xfrm>
        </p:spPr>
        <p:txBody>
          <a:bodyPr anchor="b">
            <a:normAutofit/>
          </a:bodyPr>
          <a:lstStyle>
            <a:lvl1pPr>
              <a:defRPr sz="27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AD1770C-BA65-584A-919E-FFBBDCA8F582}"/>
              </a:ext>
            </a:extLst>
          </p:cNvPr>
          <p:cNvSpPr>
            <a:spLocks noGrp="1"/>
          </p:cNvSpPr>
          <p:nvPr>
            <p:ph type="body" idx="1"/>
          </p:nvPr>
        </p:nvSpPr>
        <p:spPr>
          <a:xfrm>
            <a:off x="623888" y="3956452"/>
            <a:ext cx="7886700" cy="776612"/>
          </a:xfrm>
        </p:spPr>
        <p:txBody>
          <a:bodyPr>
            <a:normAutofit/>
          </a:bodyPr>
          <a:lstStyle>
            <a:lvl1pPr marL="0" indent="0">
              <a:buNone/>
              <a:defRPr sz="21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149408172"/>
      </p:ext>
    </p:extLst>
  </p:cSld>
  <p:clrMapOvr>
    <a:masterClrMapping/>
  </p:clrMapOvr>
  <p:extLst>
    <p:ext uri="{DCECCB84-F9BA-43D5-87BE-67443E8EF086}">
      <p15:sldGuideLst xmlns:p15="http://schemas.microsoft.com/office/powerpoint/2012/main">
        <p15:guide id="1" orient="horz" pos="3312">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Aqua">
    <p:bg>
      <p:bgPr>
        <a:solidFill>
          <a:schemeClr val="accent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68F591-06BA-094E-829F-34CD10B83CFA}"/>
              </a:ext>
            </a:extLst>
          </p:cNvPr>
          <p:cNvSpPr/>
          <p:nvPr userDrawn="1"/>
        </p:nvSpPr>
        <p:spPr>
          <a:xfrm>
            <a:off x="0" y="4218711"/>
            <a:ext cx="9144000" cy="9247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5" name="Title 1">
            <a:extLst>
              <a:ext uri="{FF2B5EF4-FFF2-40B4-BE49-F238E27FC236}">
                <a16:creationId xmlns:a16="http://schemas.microsoft.com/office/drawing/2014/main" id="{2D4A97A8-43D7-F94A-804D-F2509E2A5426}"/>
              </a:ext>
            </a:extLst>
          </p:cNvPr>
          <p:cNvSpPr>
            <a:spLocks noGrp="1"/>
          </p:cNvSpPr>
          <p:nvPr>
            <p:ph type="title"/>
          </p:nvPr>
        </p:nvSpPr>
        <p:spPr>
          <a:xfrm>
            <a:off x="623888" y="3070518"/>
            <a:ext cx="7886700" cy="865693"/>
          </a:xfrm>
        </p:spPr>
        <p:txBody>
          <a:bodyPr anchor="b">
            <a:normAutofit/>
          </a:bodyPr>
          <a:lstStyle>
            <a:lvl1pPr>
              <a:defRPr sz="2700">
                <a:solidFill>
                  <a:schemeClr val="bg1"/>
                </a:solidFill>
              </a:defRPr>
            </a:lvl1pPr>
          </a:lstStyle>
          <a:p>
            <a:r>
              <a:rPr lang="en-US"/>
              <a:t>Click to edit Master title style</a:t>
            </a:r>
            <a:endParaRPr lang="en-US" dirty="0"/>
          </a:p>
        </p:txBody>
      </p:sp>
      <p:sp>
        <p:nvSpPr>
          <p:cNvPr id="6" name="Text Placeholder 2">
            <a:extLst>
              <a:ext uri="{FF2B5EF4-FFF2-40B4-BE49-F238E27FC236}">
                <a16:creationId xmlns:a16="http://schemas.microsoft.com/office/drawing/2014/main" id="{19096781-2EAB-AA41-A18B-BE5F99DCF8F2}"/>
              </a:ext>
            </a:extLst>
          </p:cNvPr>
          <p:cNvSpPr>
            <a:spLocks noGrp="1"/>
          </p:cNvSpPr>
          <p:nvPr>
            <p:ph type="body" idx="1"/>
          </p:nvPr>
        </p:nvSpPr>
        <p:spPr>
          <a:xfrm>
            <a:off x="623888" y="3956452"/>
            <a:ext cx="7886700" cy="776612"/>
          </a:xfrm>
        </p:spPr>
        <p:txBody>
          <a:bodyPr>
            <a:normAutofit/>
          </a:bodyPr>
          <a:lstStyle>
            <a:lvl1pPr marL="0" indent="0">
              <a:buNone/>
              <a:defRPr sz="21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313038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Moss">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68F591-06BA-094E-829F-34CD10B83CFA}"/>
              </a:ext>
            </a:extLst>
          </p:cNvPr>
          <p:cNvSpPr/>
          <p:nvPr userDrawn="1"/>
        </p:nvSpPr>
        <p:spPr>
          <a:xfrm>
            <a:off x="0" y="4218711"/>
            <a:ext cx="9144000" cy="9247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5" name="Title 1">
            <a:extLst>
              <a:ext uri="{FF2B5EF4-FFF2-40B4-BE49-F238E27FC236}">
                <a16:creationId xmlns:a16="http://schemas.microsoft.com/office/drawing/2014/main" id="{0F876699-58AE-B843-BF2C-CDF9111EB826}"/>
              </a:ext>
            </a:extLst>
          </p:cNvPr>
          <p:cNvSpPr>
            <a:spLocks noGrp="1"/>
          </p:cNvSpPr>
          <p:nvPr>
            <p:ph type="title"/>
          </p:nvPr>
        </p:nvSpPr>
        <p:spPr>
          <a:xfrm>
            <a:off x="623888" y="3070518"/>
            <a:ext cx="7886700" cy="865693"/>
          </a:xfrm>
        </p:spPr>
        <p:txBody>
          <a:bodyPr anchor="b">
            <a:normAutofit/>
          </a:bodyPr>
          <a:lstStyle>
            <a:lvl1pPr>
              <a:defRPr sz="2700">
                <a:solidFill>
                  <a:schemeClr val="bg1"/>
                </a:solidFill>
              </a:defRPr>
            </a:lvl1pPr>
          </a:lstStyle>
          <a:p>
            <a:r>
              <a:rPr lang="en-US"/>
              <a:t>Click to edit Master title style</a:t>
            </a:r>
            <a:endParaRPr lang="en-US" dirty="0"/>
          </a:p>
        </p:txBody>
      </p:sp>
      <p:sp>
        <p:nvSpPr>
          <p:cNvPr id="6" name="Text Placeholder 2">
            <a:extLst>
              <a:ext uri="{FF2B5EF4-FFF2-40B4-BE49-F238E27FC236}">
                <a16:creationId xmlns:a16="http://schemas.microsoft.com/office/drawing/2014/main" id="{1B978750-9265-2F42-B1FE-2C5F098F10A5}"/>
              </a:ext>
            </a:extLst>
          </p:cNvPr>
          <p:cNvSpPr>
            <a:spLocks noGrp="1"/>
          </p:cNvSpPr>
          <p:nvPr>
            <p:ph type="body" idx="1"/>
          </p:nvPr>
        </p:nvSpPr>
        <p:spPr>
          <a:xfrm>
            <a:off x="623888" y="3956452"/>
            <a:ext cx="7886700" cy="776612"/>
          </a:xfrm>
        </p:spPr>
        <p:txBody>
          <a:bodyPr>
            <a:normAutofit/>
          </a:bodyPr>
          <a:lstStyle>
            <a:lvl1pPr marL="0" indent="0">
              <a:buNone/>
              <a:defRPr sz="21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13774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Sea Green">
    <p:bg>
      <p:bgPr>
        <a:solidFill>
          <a:schemeClr val="accent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68F591-06BA-094E-829F-34CD10B83CFA}"/>
              </a:ext>
            </a:extLst>
          </p:cNvPr>
          <p:cNvSpPr/>
          <p:nvPr userDrawn="1"/>
        </p:nvSpPr>
        <p:spPr>
          <a:xfrm>
            <a:off x="0" y="4218711"/>
            <a:ext cx="9144000" cy="92479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5" name="Title 1">
            <a:extLst>
              <a:ext uri="{FF2B5EF4-FFF2-40B4-BE49-F238E27FC236}">
                <a16:creationId xmlns:a16="http://schemas.microsoft.com/office/drawing/2014/main" id="{33644280-2B94-1F43-9F9D-005751069C1E}"/>
              </a:ext>
            </a:extLst>
          </p:cNvPr>
          <p:cNvSpPr>
            <a:spLocks noGrp="1"/>
          </p:cNvSpPr>
          <p:nvPr>
            <p:ph type="title"/>
          </p:nvPr>
        </p:nvSpPr>
        <p:spPr>
          <a:xfrm>
            <a:off x="623888" y="3070518"/>
            <a:ext cx="7886700" cy="865693"/>
          </a:xfrm>
        </p:spPr>
        <p:txBody>
          <a:bodyPr anchor="b">
            <a:normAutofit/>
          </a:bodyPr>
          <a:lstStyle>
            <a:lvl1pPr>
              <a:defRPr sz="2700">
                <a:solidFill>
                  <a:schemeClr val="bg1"/>
                </a:solidFill>
              </a:defRPr>
            </a:lvl1pPr>
          </a:lstStyle>
          <a:p>
            <a:r>
              <a:rPr lang="en-US"/>
              <a:t>Click to edit Master title style</a:t>
            </a:r>
            <a:endParaRPr lang="en-US" dirty="0"/>
          </a:p>
        </p:txBody>
      </p:sp>
      <p:sp>
        <p:nvSpPr>
          <p:cNvPr id="6" name="Text Placeholder 2">
            <a:extLst>
              <a:ext uri="{FF2B5EF4-FFF2-40B4-BE49-F238E27FC236}">
                <a16:creationId xmlns:a16="http://schemas.microsoft.com/office/drawing/2014/main" id="{93B9B106-9A81-3A4E-91A5-71CBBB636A24}"/>
              </a:ext>
            </a:extLst>
          </p:cNvPr>
          <p:cNvSpPr>
            <a:spLocks noGrp="1"/>
          </p:cNvSpPr>
          <p:nvPr>
            <p:ph type="body" idx="1"/>
          </p:nvPr>
        </p:nvSpPr>
        <p:spPr>
          <a:xfrm>
            <a:off x="623888" y="3956452"/>
            <a:ext cx="7886700" cy="776612"/>
          </a:xfrm>
        </p:spPr>
        <p:txBody>
          <a:bodyPr>
            <a:normAutofit/>
          </a:bodyPr>
          <a:lstStyle>
            <a:lvl1pPr marL="0" indent="0">
              <a:buNone/>
              <a:defRPr sz="21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2263498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Coral">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68F591-06BA-094E-829F-34CD10B83CFA}"/>
              </a:ext>
            </a:extLst>
          </p:cNvPr>
          <p:cNvSpPr/>
          <p:nvPr userDrawn="1"/>
        </p:nvSpPr>
        <p:spPr>
          <a:xfrm>
            <a:off x="0" y="4218711"/>
            <a:ext cx="9144000" cy="9247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5" name="Title 1">
            <a:extLst>
              <a:ext uri="{FF2B5EF4-FFF2-40B4-BE49-F238E27FC236}">
                <a16:creationId xmlns:a16="http://schemas.microsoft.com/office/drawing/2014/main" id="{782ADD1F-C4BC-934B-9603-A2E4E0DE9782}"/>
              </a:ext>
            </a:extLst>
          </p:cNvPr>
          <p:cNvSpPr>
            <a:spLocks noGrp="1"/>
          </p:cNvSpPr>
          <p:nvPr>
            <p:ph type="title"/>
          </p:nvPr>
        </p:nvSpPr>
        <p:spPr>
          <a:xfrm>
            <a:off x="623888" y="3070518"/>
            <a:ext cx="7886700" cy="865693"/>
          </a:xfrm>
        </p:spPr>
        <p:txBody>
          <a:bodyPr anchor="b">
            <a:normAutofit/>
          </a:bodyPr>
          <a:lstStyle>
            <a:lvl1pPr>
              <a:defRPr sz="2700">
                <a:solidFill>
                  <a:schemeClr val="bg1"/>
                </a:solidFill>
              </a:defRPr>
            </a:lvl1pPr>
          </a:lstStyle>
          <a:p>
            <a:r>
              <a:rPr lang="en-US"/>
              <a:t>Click to edit Master title style</a:t>
            </a:r>
            <a:endParaRPr lang="en-US" dirty="0"/>
          </a:p>
        </p:txBody>
      </p:sp>
      <p:sp>
        <p:nvSpPr>
          <p:cNvPr id="6" name="Text Placeholder 2">
            <a:extLst>
              <a:ext uri="{FF2B5EF4-FFF2-40B4-BE49-F238E27FC236}">
                <a16:creationId xmlns:a16="http://schemas.microsoft.com/office/drawing/2014/main" id="{60149829-E60C-E548-BAF8-EC7F8D7B45E6}"/>
              </a:ext>
            </a:extLst>
          </p:cNvPr>
          <p:cNvSpPr>
            <a:spLocks noGrp="1"/>
          </p:cNvSpPr>
          <p:nvPr>
            <p:ph type="body" idx="1"/>
          </p:nvPr>
        </p:nvSpPr>
        <p:spPr>
          <a:xfrm>
            <a:off x="623888" y="3956452"/>
            <a:ext cx="7886700" cy="776612"/>
          </a:xfrm>
        </p:spPr>
        <p:txBody>
          <a:bodyPr>
            <a:normAutofit/>
          </a:bodyPr>
          <a:lstStyle>
            <a:lvl1pPr marL="0" indent="0">
              <a:buNone/>
              <a:defRPr sz="21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235187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Go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68F591-06BA-094E-829F-34CD10B83CFA}"/>
              </a:ext>
            </a:extLst>
          </p:cNvPr>
          <p:cNvSpPr/>
          <p:nvPr userDrawn="1"/>
        </p:nvSpPr>
        <p:spPr>
          <a:xfrm>
            <a:off x="0" y="4218711"/>
            <a:ext cx="9144000" cy="92479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5" name="Title 1">
            <a:extLst>
              <a:ext uri="{FF2B5EF4-FFF2-40B4-BE49-F238E27FC236}">
                <a16:creationId xmlns:a16="http://schemas.microsoft.com/office/drawing/2014/main" id="{295FD081-AA49-494B-8BF7-8841DD035DA6}"/>
              </a:ext>
            </a:extLst>
          </p:cNvPr>
          <p:cNvSpPr>
            <a:spLocks noGrp="1"/>
          </p:cNvSpPr>
          <p:nvPr>
            <p:ph type="title"/>
          </p:nvPr>
        </p:nvSpPr>
        <p:spPr>
          <a:xfrm>
            <a:off x="623888" y="3070518"/>
            <a:ext cx="7886700" cy="865693"/>
          </a:xfrm>
        </p:spPr>
        <p:txBody>
          <a:bodyPr anchor="b">
            <a:normAutofit/>
          </a:bodyPr>
          <a:lstStyle>
            <a:lvl1pPr>
              <a:defRPr sz="2700">
                <a:solidFill>
                  <a:schemeClr val="tx2"/>
                </a:solidFill>
              </a:defRPr>
            </a:lvl1pPr>
          </a:lstStyle>
          <a:p>
            <a:r>
              <a:rPr lang="en-US"/>
              <a:t>Click to edit Master title style</a:t>
            </a:r>
            <a:endParaRPr lang="en-US" dirty="0"/>
          </a:p>
        </p:txBody>
      </p:sp>
      <p:sp>
        <p:nvSpPr>
          <p:cNvPr id="6" name="Text Placeholder 2">
            <a:extLst>
              <a:ext uri="{FF2B5EF4-FFF2-40B4-BE49-F238E27FC236}">
                <a16:creationId xmlns:a16="http://schemas.microsoft.com/office/drawing/2014/main" id="{DC919967-9EDC-654B-8BBC-D55887E7A32B}"/>
              </a:ext>
            </a:extLst>
          </p:cNvPr>
          <p:cNvSpPr>
            <a:spLocks noGrp="1"/>
          </p:cNvSpPr>
          <p:nvPr>
            <p:ph type="body" idx="1"/>
          </p:nvPr>
        </p:nvSpPr>
        <p:spPr>
          <a:xfrm>
            <a:off x="623888" y="3956452"/>
            <a:ext cx="7886700" cy="776612"/>
          </a:xfrm>
        </p:spPr>
        <p:txBody>
          <a:bodyPr>
            <a:normAutofit/>
          </a:bodyPr>
          <a:lstStyle>
            <a:lvl1pPr marL="0" indent="0">
              <a:buNone/>
              <a:defRPr sz="21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406652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406F1E-85A4-E549-8CCC-F44CAE24C63C}"/>
              </a:ext>
            </a:extLst>
          </p:cNvPr>
          <p:cNvSpPr/>
          <p:nvPr userDrawn="1"/>
        </p:nvSpPr>
        <p:spPr>
          <a:xfrm>
            <a:off x="0" y="4623957"/>
            <a:ext cx="9144000" cy="51954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pic>
        <p:nvPicPr>
          <p:cNvPr id="5" name="Picture 4">
            <a:extLst>
              <a:ext uri="{FF2B5EF4-FFF2-40B4-BE49-F238E27FC236}">
                <a16:creationId xmlns:a16="http://schemas.microsoft.com/office/drawing/2014/main" id="{18E3CF50-9D33-1D49-B64E-CA1FD4B4F175}"/>
              </a:ext>
            </a:extLst>
          </p:cNvPr>
          <p:cNvPicPr>
            <a:picLocks noChangeAspect="1"/>
          </p:cNvPicPr>
          <p:nvPr userDrawn="1"/>
        </p:nvPicPr>
        <p:blipFill>
          <a:blip r:embed="rId2"/>
          <a:stretch>
            <a:fillRect/>
          </a:stretch>
        </p:blipFill>
        <p:spPr>
          <a:xfrm>
            <a:off x="1819275" y="2366963"/>
            <a:ext cx="5505450" cy="409575"/>
          </a:xfrm>
          <a:prstGeom prst="rect">
            <a:avLst/>
          </a:prstGeom>
        </p:spPr>
      </p:pic>
    </p:spTree>
    <p:extLst>
      <p:ext uri="{BB962C8B-B14F-4D97-AF65-F5344CB8AC3E}">
        <p14:creationId xmlns:p14="http://schemas.microsoft.com/office/powerpoint/2010/main" val="8000119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1.emf"/><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4853" y="273844"/>
            <a:ext cx="8354295" cy="44423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394853" y="1369218"/>
            <a:ext cx="7886700" cy="326350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Box 6">
            <a:extLst>
              <a:ext uri="{FF2B5EF4-FFF2-40B4-BE49-F238E27FC236}">
                <a16:creationId xmlns:a16="http://schemas.microsoft.com/office/drawing/2014/main" id="{5BA9AF5F-7624-B741-ABD2-3617BB4EB299}"/>
              </a:ext>
            </a:extLst>
          </p:cNvPr>
          <p:cNvSpPr txBox="1"/>
          <p:nvPr userDrawn="1"/>
        </p:nvSpPr>
        <p:spPr>
          <a:xfrm>
            <a:off x="0" y="4949251"/>
            <a:ext cx="2525050" cy="196208"/>
          </a:xfrm>
          <a:prstGeom prst="rect">
            <a:avLst/>
          </a:prstGeom>
          <a:noFill/>
        </p:spPr>
        <p:txBody>
          <a:bodyPr wrap="none" rtlCol="0">
            <a:spAutoFit/>
          </a:bodyPr>
          <a:lstStyle/>
          <a:p>
            <a:pPr marL="0" marR="0" lvl="0" indent="0" algn="l" rtl="0">
              <a:lnSpc>
                <a:spcPct val="100000"/>
              </a:lnSpc>
              <a:spcBef>
                <a:spcPts val="0"/>
              </a:spcBef>
              <a:spcAft>
                <a:spcPts val="0"/>
              </a:spcAft>
              <a:buClr>
                <a:srgbClr val="000000"/>
              </a:buClr>
              <a:buSzPts val="1000"/>
              <a:buFont typeface="Arial"/>
              <a:buNone/>
            </a:pPr>
            <a:r>
              <a:rPr lang="en-US" sz="675" b="1" i="0" u="none" strike="noStrike" cap="none" dirty="0">
                <a:solidFill>
                  <a:schemeClr val="dk1"/>
                </a:solidFill>
                <a:latin typeface="Century Gothic"/>
                <a:ea typeface="Century Gothic"/>
                <a:cs typeface="Century Gothic"/>
                <a:sym typeface="Century Gothic"/>
              </a:rPr>
              <a:t>Die</a:t>
            </a:r>
            <a:r>
              <a:rPr lang="zh-CN" altLang="en-US" sz="675" b="1" i="0" u="none" strike="noStrike" cap="none" dirty="0">
                <a:solidFill>
                  <a:schemeClr val="dk1"/>
                </a:solidFill>
                <a:latin typeface="Century Gothic"/>
                <a:ea typeface="Century Gothic"/>
                <a:cs typeface="Century Gothic"/>
                <a:sym typeface="Century Gothic"/>
              </a:rPr>
              <a:t> </a:t>
            </a:r>
            <a:r>
              <a:rPr lang="en-US" altLang="zh-CN" sz="675" b="1" i="0" u="none" strike="noStrike" cap="none" dirty="0">
                <a:solidFill>
                  <a:schemeClr val="dk1"/>
                </a:solidFill>
                <a:latin typeface="Century Gothic"/>
                <a:ea typeface="Century Gothic"/>
                <a:cs typeface="Century Gothic"/>
                <a:sym typeface="Century Gothic"/>
              </a:rPr>
              <a:t>Hu</a:t>
            </a:r>
            <a:r>
              <a:rPr lang="en-US" sz="675" b="1" i="0" u="none" strike="noStrike" cap="none" dirty="0">
                <a:solidFill>
                  <a:schemeClr val="dk1"/>
                </a:solidFill>
                <a:latin typeface="Century Gothic"/>
                <a:ea typeface="Century Gothic"/>
                <a:cs typeface="Century Gothic"/>
                <a:sym typeface="Century Gothic"/>
              </a:rPr>
              <a:t>/</a:t>
            </a:r>
            <a:r>
              <a:rPr lang="en-US" sz="675" b="1" i="0" u="none" strike="noStrike" cap="none" dirty="0" err="1">
                <a:solidFill>
                  <a:schemeClr val="dk1"/>
                </a:solidFill>
                <a:latin typeface="Century Gothic"/>
                <a:ea typeface="Century Gothic"/>
                <a:cs typeface="Century Gothic"/>
                <a:sym typeface="Century Gothic"/>
              </a:rPr>
              <a:t>GeoTrans</a:t>
            </a:r>
            <a:r>
              <a:rPr lang="en-US" sz="675" b="1" i="0" u="none" strike="noStrike" cap="none" dirty="0">
                <a:solidFill>
                  <a:schemeClr val="dk1"/>
                </a:solidFill>
                <a:latin typeface="Century Gothic"/>
                <a:ea typeface="Century Gothic"/>
                <a:cs typeface="Century Gothic"/>
                <a:sym typeface="Century Gothic"/>
              </a:rPr>
              <a:t> Laboratory/Department of Geography</a:t>
            </a:r>
          </a:p>
        </p:txBody>
      </p:sp>
      <p:pic>
        <p:nvPicPr>
          <p:cNvPr id="8" name="Picture 7">
            <a:extLst>
              <a:ext uri="{FF2B5EF4-FFF2-40B4-BE49-F238E27FC236}">
                <a16:creationId xmlns:a16="http://schemas.microsoft.com/office/drawing/2014/main" id="{048FEC1C-C809-6F45-8002-9EF2C753E853}"/>
              </a:ext>
            </a:extLst>
          </p:cNvPr>
          <p:cNvPicPr>
            <a:picLocks noChangeAspect="1"/>
          </p:cNvPicPr>
          <p:nvPr userDrawn="1"/>
        </p:nvPicPr>
        <p:blipFill>
          <a:blip r:embed="rId17"/>
          <a:stretch>
            <a:fillRect/>
          </a:stretch>
        </p:blipFill>
        <p:spPr>
          <a:xfrm>
            <a:off x="7051803" y="4844357"/>
            <a:ext cx="1932467" cy="140909"/>
          </a:xfrm>
          <a:prstGeom prst="rect">
            <a:avLst/>
          </a:prstGeom>
        </p:spPr>
      </p:pic>
    </p:spTree>
    <p:extLst>
      <p:ext uri="{BB962C8B-B14F-4D97-AF65-F5344CB8AC3E}">
        <p14:creationId xmlns:p14="http://schemas.microsoft.com/office/powerpoint/2010/main" val="89495099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Lst>
  <p:hf hdr="0" ftr="0" dt="0"/>
  <p:txStyles>
    <p:titleStyle>
      <a:lvl1pPr algn="l" defTabSz="685800" rtl="0" eaLnBrk="1" latinLnBrk="0" hangingPunct="1">
        <a:lnSpc>
          <a:spcPct val="100000"/>
        </a:lnSpc>
        <a:spcBef>
          <a:spcPct val="0"/>
        </a:spcBef>
        <a:buNone/>
        <a:defRPr sz="2700" b="1" i="0" kern="1200">
          <a:solidFill>
            <a:schemeClr val="tx2"/>
          </a:solidFill>
          <a:latin typeface="Nunito Sans Normal ExtraBold" pitchFamily="2" charset="77"/>
          <a:ea typeface="+mj-ea"/>
          <a:cs typeface="+mj-cs"/>
        </a:defRPr>
      </a:lvl1pPr>
    </p:titleStyle>
    <p:bodyStyle>
      <a:lvl1pPr marL="171450" indent="-171450" algn="l" defTabSz="685800" rtl="0" eaLnBrk="1" latinLnBrk="0" hangingPunct="1">
        <a:lnSpc>
          <a:spcPct val="100000"/>
        </a:lnSpc>
        <a:spcBef>
          <a:spcPts val="750"/>
        </a:spcBef>
        <a:buClr>
          <a:schemeClr val="accent1"/>
        </a:buClr>
        <a:buFont typeface="Arial"/>
        <a:buChar char="•"/>
        <a:defRPr sz="2100" kern="1200">
          <a:solidFill>
            <a:schemeClr val="tx1"/>
          </a:solidFill>
          <a:latin typeface="Nunito Sans Normal" pitchFamily="2" charset="77"/>
          <a:ea typeface="+mn-ea"/>
          <a:cs typeface="+mn-cs"/>
        </a:defRPr>
      </a:lvl1pPr>
      <a:lvl2pPr marL="514350" indent="-171450" algn="l" defTabSz="685800" rtl="0" eaLnBrk="1" latinLnBrk="0" hangingPunct="1">
        <a:lnSpc>
          <a:spcPct val="100000"/>
        </a:lnSpc>
        <a:spcBef>
          <a:spcPts val="375"/>
        </a:spcBef>
        <a:buClr>
          <a:schemeClr val="accent1"/>
        </a:buClr>
        <a:buFont typeface="Arial"/>
        <a:buChar char="•"/>
        <a:defRPr sz="1800" kern="1200">
          <a:solidFill>
            <a:schemeClr val="tx1"/>
          </a:solidFill>
          <a:latin typeface="Nunito Sans Normal" pitchFamily="2" charset="77"/>
          <a:ea typeface="+mn-ea"/>
          <a:cs typeface="+mn-cs"/>
        </a:defRPr>
      </a:lvl2pPr>
      <a:lvl3pPr marL="857250" indent="-171450" algn="l" defTabSz="685800" rtl="0" eaLnBrk="1" latinLnBrk="0" hangingPunct="1">
        <a:lnSpc>
          <a:spcPct val="100000"/>
        </a:lnSpc>
        <a:spcBef>
          <a:spcPts val="375"/>
        </a:spcBef>
        <a:buClr>
          <a:schemeClr val="accent1"/>
        </a:buClr>
        <a:buFont typeface="Arial"/>
        <a:buChar char="•"/>
        <a:defRPr sz="1500" kern="1200">
          <a:solidFill>
            <a:schemeClr val="tx1"/>
          </a:solidFill>
          <a:latin typeface="Nunito Sans Normal" pitchFamily="2" charset="77"/>
          <a:ea typeface="+mn-ea"/>
          <a:cs typeface="+mn-cs"/>
        </a:defRPr>
      </a:lvl3pPr>
      <a:lvl4pPr marL="1200150" indent="-171450" algn="l" defTabSz="685800" rtl="0" eaLnBrk="1" latinLnBrk="0" hangingPunct="1">
        <a:lnSpc>
          <a:spcPct val="100000"/>
        </a:lnSpc>
        <a:spcBef>
          <a:spcPts val="375"/>
        </a:spcBef>
        <a:buClr>
          <a:schemeClr val="accent1"/>
        </a:buClr>
        <a:buFont typeface="Arial"/>
        <a:buChar char="•"/>
        <a:defRPr sz="1350" kern="1200">
          <a:solidFill>
            <a:schemeClr val="tx1"/>
          </a:solidFill>
          <a:latin typeface="Nunito Sans Normal" pitchFamily="2" charset="77"/>
          <a:ea typeface="+mn-ea"/>
          <a:cs typeface="+mn-cs"/>
        </a:defRPr>
      </a:lvl4pPr>
      <a:lvl5pPr marL="1543050" indent="-171450" algn="l" defTabSz="685800" rtl="0" eaLnBrk="1" latinLnBrk="0" hangingPunct="1">
        <a:lnSpc>
          <a:spcPct val="100000"/>
        </a:lnSpc>
        <a:spcBef>
          <a:spcPts val="375"/>
        </a:spcBef>
        <a:buClr>
          <a:schemeClr val="accent1"/>
        </a:buClr>
        <a:buFont typeface="Arial"/>
        <a:buChar char="•"/>
        <a:defRPr sz="1350" kern="1200">
          <a:solidFill>
            <a:schemeClr val="tx1"/>
          </a:solidFill>
          <a:latin typeface="Nunito Sans Normal" pitchFamily="2" charset="77"/>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9.xml"/><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31.png"/><Relationship Id="rId2" Type="http://schemas.openxmlformats.org/officeDocument/2006/relationships/notesSlide" Target="../notesSlides/notesSlide11.xml"/><Relationship Id="rId16"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7.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sz="2800" dirty="0">
                <a:solidFill>
                  <a:srgbClr val="FFFFFF"/>
                </a:solidFill>
                <a:latin typeface="Georgia" pitchFamily="34" charset="0"/>
              </a:rPr>
              <a:t>How We Move, What We Reach</a:t>
            </a:r>
          </a:p>
        </p:txBody>
      </p:sp>
      <p:sp>
        <p:nvSpPr>
          <p:cNvPr id="3" name="Subtitle 2"/>
          <p:cNvSpPr>
            <a:spLocks noGrp="1"/>
          </p:cNvSpPr>
          <p:nvPr>
            <p:ph type="subTitle" idx="1"/>
          </p:nvPr>
        </p:nvSpPr>
        <p:spPr>
          <a:xfrm>
            <a:off x="317809" y="1915323"/>
            <a:ext cx="8452118" cy="481676"/>
          </a:xfrm>
        </p:spPr>
        <p:txBody>
          <a:bodyPr>
            <a:normAutofit/>
          </a:bodyPr>
          <a:lstStyle/>
          <a:p>
            <a:r>
              <a:rPr lang="en-US" sz="1800" b="1" i="1" dirty="0">
                <a:latin typeface="Calibri" pitchFamily="34" charset="0"/>
                <a:ea typeface="Calibri" pitchFamily="34" charset="-122"/>
                <a:cs typeface="Calibri" pitchFamily="34" charset="-120"/>
              </a:rPr>
              <a:t>Capabilities, Constraints, and Daily Activity Space in California</a:t>
            </a:r>
            <a:endParaRPr sz="1800" b="1" dirty="0"/>
          </a:p>
        </p:txBody>
      </p:sp>
      <p:sp>
        <p:nvSpPr>
          <p:cNvPr id="4" name="Text Placeholder 3"/>
          <p:cNvSpPr>
            <a:spLocks noGrp="1"/>
          </p:cNvSpPr>
          <p:nvPr>
            <p:ph type="body" sz="quarter" idx="10"/>
          </p:nvPr>
        </p:nvSpPr>
        <p:spPr>
          <a:xfrm>
            <a:off x="258678" y="3132135"/>
            <a:ext cx="4313322" cy="978064"/>
          </a:xfrm>
        </p:spPr>
        <p:txBody>
          <a:bodyPr/>
          <a:lstStyle/>
          <a:p>
            <a:r>
              <a:rPr lang="en-US" sz="1400" b="1" dirty="0"/>
              <a:t>Presenter</a:t>
            </a:r>
            <a:r>
              <a:rPr lang="en-US" altLang="zh-CN" sz="1400" b="1" dirty="0"/>
              <a:t>:</a:t>
            </a:r>
            <a:r>
              <a:rPr lang="zh-CN" altLang="en-US" sz="1400" b="1" dirty="0"/>
              <a:t> </a:t>
            </a:r>
            <a:r>
              <a:rPr sz="1400" b="1" dirty="0"/>
              <a:t>Die Hu</a:t>
            </a:r>
            <a:endParaRPr lang="en-US" sz="1400" b="1" dirty="0"/>
          </a:p>
          <a:p>
            <a:r>
              <a:rPr lang="en-US" altLang="zh-CN" sz="1400" b="1" dirty="0"/>
              <a:t>Advisor:</a:t>
            </a:r>
            <a:r>
              <a:rPr lang="zh-CN" altLang="en-US" sz="1400" b="1" dirty="0"/>
              <a:t> </a:t>
            </a:r>
            <a:r>
              <a:rPr lang="en-US" sz="1400" b="1" dirty="0" err="1"/>
              <a:t>Konstadinos</a:t>
            </a:r>
            <a:r>
              <a:rPr lang="en-US" sz="1400" b="1" dirty="0"/>
              <a:t> G. </a:t>
            </a:r>
            <a:r>
              <a:rPr lang="en-US" sz="1400" b="1" dirty="0" err="1"/>
              <a:t>Goulias</a:t>
            </a:r>
            <a:endParaRPr lang="en-US" sz="1400" b="1" dirty="0"/>
          </a:p>
          <a:p>
            <a:r>
              <a:rPr lang="en-US" sz="1400" dirty="0"/>
              <a:t>Geography Department  </a:t>
            </a:r>
          </a:p>
          <a:p>
            <a:endParaRPr sz="1350" b="1" dirty="0"/>
          </a:p>
        </p:txBody>
      </p:sp>
      <p:pic>
        <p:nvPicPr>
          <p:cNvPr id="1026" name="Picture 2" descr="Geotrans@UCSB">
            <a:extLst>
              <a:ext uri="{FF2B5EF4-FFF2-40B4-BE49-F238E27FC236}">
                <a16:creationId xmlns:a16="http://schemas.microsoft.com/office/drawing/2014/main" id="{4B435586-2B20-F7A1-02D1-F2A80C7C48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809" y="4275299"/>
            <a:ext cx="1053791" cy="780587"/>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0" descr="preencoded.png">
            <a:extLst>
              <a:ext uri="{FF2B5EF4-FFF2-40B4-BE49-F238E27FC236}">
                <a16:creationId xmlns:a16="http://schemas.microsoft.com/office/drawing/2014/main" id="{6F8F712F-4649-B3C8-BFBB-0396F022C72E}"/>
              </a:ext>
            </a:extLst>
          </p:cNvPr>
          <p:cNvPicPr>
            <a:picLocks noChangeAspect="1"/>
          </p:cNvPicPr>
          <p:nvPr/>
        </p:nvPicPr>
        <p:blipFill>
          <a:blip r:embed="rId4"/>
          <a:stretch>
            <a:fillRect/>
          </a:stretch>
        </p:blipFill>
        <p:spPr>
          <a:xfrm>
            <a:off x="7772400" y="891168"/>
            <a:ext cx="457200" cy="457200"/>
          </a:xfrm>
          <a:prstGeom prst="rect">
            <a:avLst/>
          </a:prstGeom>
        </p:spPr>
      </p:pic>
      <p:pic>
        <p:nvPicPr>
          <p:cNvPr id="10" name="Image 1" descr="preencoded.png">
            <a:extLst>
              <a:ext uri="{FF2B5EF4-FFF2-40B4-BE49-F238E27FC236}">
                <a16:creationId xmlns:a16="http://schemas.microsoft.com/office/drawing/2014/main" id="{EA3258E2-9632-A1C7-E8C8-AD7AFF0C5CB6}"/>
              </a:ext>
            </a:extLst>
          </p:cNvPr>
          <p:cNvPicPr>
            <a:picLocks noChangeAspect="1"/>
          </p:cNvPicPr>
          <p:nvPr/>
        </p:nvPicPr>
        <p:blipFill>
          <a:blip r:embed="rId5"/>
          <a:stretch>
            <a:fillRect/>
          </a:stretch>
        </p:blipFill>
        <p:spPr>
          <a:xfrm>
            <a:off x="8229600" y="1828800"/>
            <a:ext cx="365760" cy="365760"/>
          </a:xfrm>
          <a:prstGeom prst="rect">
            <a:avLst/>
          </a:prstGeom>
        </p:spPr>
      </p:pic>
      <p:pic>
        <p:nvPicPr>
          <p:cNvPr id="11" name="Image 2" descr="preencoded.png">
            <a:extLst>
              <a:ext uri="{FF2B5EF4-FFF2-40B4-BE49-F238E27FC236}">
                <a16:creationId xmlns:a16="http://schemas.microsoft.com/office/drawing/2014/main" id="{8D05A6F7-B392-A5FD-82F9-4007DEBFC46B}"/>
              </a:ext>
            </a:extLst>
          </p:cNvPr>
          <p:cNvPicPr>
            <a:picLocks noChangeAspect="1"/>
          </p:cNvPicPr>
          <p:nvPr/>
        </p:nvPicPr>
        <p:blipFill>
          <a:blip r:embed="rId6"/>
          <a:stretch>
            <a:fillRect/>
          </a:stretch>
        </p:blipFill>
        <p:spPr>
          <a:xfrm>
            <a:off x="7315200" y="2560320"/>
            <a:ext cx="411480" cy="411480"/>
          </a:xfrm>
          <a:prstGeom prst="rect">
            <a:avLst/>
          </a:prstGeom>
        </p:spPr>
      </p:pic>
      <p:sp>
        <p:nvSpPr>
          <p:cNvPr id="12" name="Shape 5">
            <a:extLst>
              <a:ext uri="{FF2B5EF4-FFF2-40B4-BE49-F238E27FC236}">
                <a16:creationId xmlns:a16="http://schemas.microsoft.com/office/drawing/2014/main" id="{CD2C4577-7BCD-014F-AAA6-071208F1D898}"/>
              </a:ext>
            </a:extLst>
          </p:cNvPr>
          <p:cNvSpPr/>
          <p:nvPr/>
        </p:nvSpPr>
        <p:spPr>
          <a:xfrm>
            <a:off x="328961" y="3035300"/>
            <a:ext cx="1371600" cy="27432"/>
          </a:xfrm>
          <a:prstGeom prst="rect">
            <a:avLst/>
          </a:prstGeom>
          <a:solidFill>
            <a:srgbClr val="FEBC11"/>
          </a:solidFill>
          <a:ln/>
        </p:spPr>
        <p:txBody>
          <a:bodyPr/>
          <a:lstStyle/>
          <a:p>
            <a:endParaRPr lang="en-US"/>
          </a:p>
        </p:txBody>
      </p:sp>
      <p:sp>
        <p:nvSpPr>
          <p:cNvPr id="13" name="Shape 1">
            <a:extLst>
              <a:ext uri="{FF2B5EF4-FFF2-40B4-BE49-F238E27FC236}">
                <a16:creationId xmlns:a16="http://schemas.microsoft.com/office/drawing/2014/main" id="{B1E7B32D-41C8-86B8-883A-147FAA3EAC6F}"/>
              </a:ext>
            </a:extLst>
          </p:cNvPr>
          <p:cNvSpPr/>
          <p:nvPr/>
        </p:nvSpPr>
        <p:spPr>
          <a:xfrm>
            <a:off x="6858000" y="-1371600"/>
            <a:ext cx="4572000" cy="4572000"/>
          </a:xfrm>
          <a:prstGeom prst="ellipse">
            <a:avLst/>
          </a:prstGeom>
          <a:solidFill>
            <a:srgbClr val="009CA6">
              <a:alpha val="15000"/>
            </a:srgbClr>
          </a:solidFill>
          <a:ln/>
        </p:spPr>
        <p:txBody>
          <a:bodyPr/>
          <a:lstStyle/>
          <a:p>
            <a:endParaRPr lang="en-US"/>
          </a:p>
        </p:txBody>
      </p:sp>
      <p:sp>
        <p:nvSpPr>
          <p:cNvPr id="14" name="Shape 2">
            <a:extLst>
              <a:ext uri="{FF2B5EF4-FFF2-40B4-BE49-F238E27FC236}">
                <a16:creationId xmlns:a16="http://schemas.microsoft.com/office/drawing/2014/main" id="{2FBDF5F9-EB16-0D1E-22B9-7EB1E2294BED}"/>
              </a:ext>
            </a:extLst>
          </p:cNvPr>
          <p:cNvSpPr/>
          <p:nvPr/>
        </p:nvSpPr>
        <p:spPr>
          <a:xfrm>
            <a:off x="7498080" y="2286000"/>
            <a:ext cx="3200400" cy="3200400"/>
          </a:xfrm>
          <a:prstGeom prst="ellipse">
            <a:avLst/>
          </a:prstGeom>
          <a:solidFill>
            <a:srgbClr val="009CA6">
              <a:alpha val="10000"/>
            </a:srgbClr>
          </a:solidFill>
          <a:ln/>
        </p:spPr>
        <p:txBody>
          <a:bodyPr/>
          <a:lstStyle/>
          <a:p>
            <a:endParaRPr lang="en-US"/>
          </a:p>
        </p:txBody>
      </p:sp>
      <p:sp>
        <p:nvSpPr>
          <p:cNvPr id="8" name="TextBox 7">
            <a:extLst>
              <a:ext uri="{FF2B5EF4-FFF2-40B4-BE49-F238E27FC236}">
                <a16:creationId xmlns:a16="http://schemas.microsoft.com/office/drawing/2014/main" id="{7579E6FD-E558-608D-484A-A5327AB2842A}"/>
              </a:ext>
            </a:extLst>
          </p:cNvPr>
          <p:cNvSpPr txBox="1"/>
          <p:nvPr/>
        </p:nvSpPr>
        <p:spPr>
          <a:xfrm>
            <a:off x="0" y="22860"/>
            <a:ext cx="5715000" cy="307777"/>
          </a:xfrm>
          <a:prstGeom prst="rect">
            <a:avLst/>
          </a:prstGeom>
          <a:noFill/>
        </p:spPr>
        <p:txBody>
          <a:bodyPr wrap="square">
            <a:spAutoFit/>
          </a:bodyPr>
          <a:lstStyle/>
          <a:p>
            <a:pPr marL="0" marR="0" lvl="0" indent="0" algn="l" defTabSz="685800" rtl="0" eaLnBrk="1" fontAlgn="auto" latinLnBrk="0" hangingPunct="1">
              <a:lnSpc>
                <a:spcPct val="100000"/>
              </a:lnSpc>
              <a:spcBef>
                <a:spcPts val="750"/>
              </a:spcBef>
              <a:spcAft>
                <a:spcPts val="0"/>
              </a:spcAft>
              <a:buClr>
                <a:srgbClr val="04859B"/>
              </a:buClr>
              <a:buSzTx/>
              <a:buFont typeface="Arial"/>
              <a:buNone/>
              <a:tabLst/>
              <a:defRPr/>
            </a:pPr>
            <a:r>
              <a:rPr kumimoji="0" lang="en-US" sz="1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AAG Annual Meeting 2026</a:t>
            </a:r>
            <a:endParaRPr kumimoji="0" lang="en-US" sz="1400" b="0" i="0" u="none" strike="noStrike" kern="1200" cap="none" spc="0" normalizeH="0" baseline="0" noProof="0" dirty="0">
              <a:ln>
                <a:noFill/>
              </a:ln>
              <a:solidFill>
                <a:srgbClr val="FFFFFF"/>
              </a:solidFill>
              <a:effectLst/>
              <a:uLnTx/>
              <a:uFillTx/>
              <a:latin typeface="Nunito Sans Normal" pitchFamily="2" charset="77"/>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3660"/>
          </a:solidFill>
          <a:ln/>
        </p:spPr>
        <p:txBody>
          <a:bodyPr/>
          <a:lstStyle/>
          <a:p>
            <a:endParaRPr lang="en-US"/>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2600" b="1" dirty="0">
                <a:solidFill>
                  <a:srgbClr val="003660"/>
                </a:solidFill>
                <a:latin typeface="Georgia" pitchFamily="34" charset="0"/>
                <a:ea typeface="Georgia" pitchFamily="34" charset="-122"/>
                <a:cs typeface="Georgia" pitchFamily="34" charset="-120"/>
              </a:rPr>
              <a:t>Traveling Far vs. Spending Time</a:t>
            </a:r>
            <a:endParaRPr lang="en-US" sz="2600" dirty="0"/>
          </a:p>
        </p:txBody>
      </p:sp>
      <p:sp>
        <p:nvSpPr>
          <p:cNvPr id="8" name="Shape 6"/>
          <p:cNvSpPr/>
          <p:nvPr/>
        </p:nvSpPr>
        <p:spPr>
          <a:xfrm>
            <a:off x="5046980" y="822960"/>
            <a:ext cx="3931920" cy="10515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5046980" y="822960"/>
            <a:ext cx="64008" cy="1051560"/>
          </a:xfrm>
          <a:prstGeom prst="rect">
            <a:avLst/>
          </a:prstGeom>
          <a:solidFill>
            <a:srgbClr val="003660"/>
          </a:solidFill>
          <a:ln/>
        </p:spPr>
        <p:txBody>
          <a:bodyPr/>
          <a:lstStyle/>
          <a:p>
            <a:endParaRPr lang="en-US"/>
          </a:p>
        </p:txBody>
      </p:sp>
      <p:sp>
        <p:nvSpPr>
          <p:cNvPr id="10" name="Text 8"/>
          <p:cNvSpPr/>
          <p:nvPr/>
        </p:nvSpPr>
        <p:spPr>
          <a:xfrm>
            <a:off x="5275580" y="868680"/>
            <a:ext cx="3520440" cy="914400"/>
          </a:xfrm>
          <a:prstGeom prst="rect">
            <a:avLst/>
          </a:prstGeom>
          <a:noFill/>
          <a:ln/>
        </p:spPr>
        <p:txBody>
          <a:bodyPr wrap="square" rtlCol="0" anchor="ctr"/>
          <a:lstStyle/>
          <a:p>
            <a:pPr marL="0" indent="0">
              <a:lnSpc>
                <a:spcPct val="115000"/>
              </a:lnSpc>
              <a:buNone/>
            </a:pPr>
            <a:r>
              <a:rPr lang="en-US" sz="1200" b="1" dirty="0">
                <a:solidFill>
                  <a:srgbClr val="003660"/>
                </a:solidFill>
                <a:latin typeface="Calibri" pitchFamily="34" charset="0"/>
                <a:ea typeface="Calibri" pitchFamily="34" charset="-122"/>
                <a:cs typeface="Calibri" pitchFamily="34" charset="-120"/>
              </a:rPr>
              <a:t>Service Provision &amp; Destination Choice
</a:t>
            </a:r>
            <a:r>
              <a:rPr lang="en-US" sz="1000" dirty="0">
                <a:solidFill>
                  <a:srgbClr val="2D3748"/>
                </a:solidFill>
                <a:latin typeface="Calibri" pitchFamily="34" charset="0"/>
                <a:ea typeface="Calibri" pitchFamily="34" charset="-122"/>
                <a:cs typeface="Calibri" pitchFamily="34" charset="-120"/>
              </a:rPr>
              <a:t>Where should we place services relative to residents?</a:t>
            </a:r>
            <a:endParaRPr lang="en-US" sz="1200" dirty="0"/>
          </a:p>
          <a:p>
            <a:pPr marL="0" indent="0">
              <a:lnSpc>
                <a:spcPct val="115000"/>
              </a:lnSpc>
              <a:buNone/>
            </a:pPr>
            <a:r>
              <a:rPr lang="en-US" sz="1000" dirty="0">
                <a:solidFill>
                  <a:srgbClr val="2D3748"/>
                </a:solidFill>
                <a:latin typeface="Calibri" pitchFamily="34" charset="0"/>
                <a:ea typeface="Calibri" pitchFamily="34" charset="-122"/>
                <a:cs typeface="Calibri" pitchFamily="34" charset="-120"/>
              </a:rPr>
              <a:t>How far do people </a:t>
            </a:r>
            <a:r>
              <a:rPr lang="en-US" sz="1000" b="1" i="1" dirty="0">
                <a:solidFill>
                  <a:srgbClr val="009CA6"/>
                </a:solidFill>
                <a:latin typeface="Calibri" pitchFamily="34" charset="0"/>
                <a:ea typeface="Calibri" pitchFamily="34" charset="-122"/>
                <a:cs typeface="Calibri" pitchFamily="34" charset="-120"/>
              </a:rPr>
              <a:t>actually invest their daily time</a:t>
            </a:r>
            <a:r>
              <a:rPr lang="en-US" sz="1000" dirty="0">
                <a:solidFill>
                  <a:srgbClr val="2D3748"/>
                </a:solidFill>
                <a:latin typeface="Calibri" pitchFamily="34" charset="0"/>
                <a:ea typeface="Calibri" pitchFamily="34" charset="-122"/>
                <a:cs typeface="Calibri" pitchFamily="34" charset="-120"/>
              </a:rPr>
              <a:t> to participate in activities?</a:t>
            </a:r>
            <a:endParaRPr lang="en-US" sz="1200" dirty="0"/>
          </a:p>
        </p:txBody>
      </p:sp>
      <p:sp>
        <p:nvSpPr>
          <p:cNvPr id="11" name="Shape 9"/>
          <p:cNvSpPr/>
          <p:nvPr/>
        </p:nvSpPr>
        <p:spPr>
          <a:xfrm>
            <a:off x="5046980" y="1965960"/>
            <a:ext cx="3931920" cy="868680"/>
          </a:xfrm>
          <a:prstGeom prst="rect">
            <a:avLst/>
          </a:prstGeom>
          <a:solidFill>
            <a:srgbClr val="E6F7F8"/>
          </a:solidFill>
          <a:ln/>
        </p:spPr>
        <p:txBody>
          <a:bodyPr/>
          <a:lstStyle/>
          <a:p>
            <a:endParaRPr lang="en-US"/>
          </a:p>
        </p:txBody>
      </p:sp>
      <p:sp>
        <p:nvSpPr>
          <p:cNvPr id="12" name="Shape 10"/>
          <p:cNvSpPr/>
          <p:nvPr/>
        </p:nvSpPr>
        <p:spPr>
          <a:xfrm>
            <a:off x="5046980" y="1965960"/>
            <a:ext cx="64008" cy="868680"/>
          </a:xfrm>
          <a:prstGeom prst="rect">
            <a:avLst/>
          </a:prstGeom>
          <a:solidFill>
            <a:srgbClr val="009CA6"/>
          </a:solidFill>
          <a:ln/>
        </p:spPr>
        <p:txBody>
          <a:bodyPr/>
          <a:lstStyle/>
          <a:p>
            <a:endParaRPr lang="en-US"/>
          </a:p>
        </p:txBody>
      </p:sp>
      <p:sp>
        <p:nvSpPr>
          <p:cNvPr id="13" name="Text 11"/>
          <p:cNvSpPr/>
          <p:nvPr/>
        </p:nvSpPr>
        <p:spPr>
          <a:xfrm>
            <a:off x="5275580" y="1993392"/>
            <a:ext cx="3520440" cy="777240"/>
          </a:xfrm>
          <a:prstGeom prst="rect">
            <a:avLst/>
          </a:prstGeom>
          <a:noFill/>
          <a:ln/>
        </p:spPr>
        <p:txBody>
          <a:bodyPr wrap="square" rtlCol="0" anchor="ctr"/>
          <a:lstStyle/>
          <a:p>
            <a:pPr marL="0" indent="0">
              <a:lnSpc>
                <a:spcPct val="115000"/>
              </a:lnSpc>
              <a:buNone/>
            </a:pPr>
            <a:r>
              <a:rPr lang="en-US" sz="1200" b="1" dirty="0">
                <a:solidFill>
                  <a:srgbClr val="009CA6"/>
                </a:solidFill>
                <a:latin typeface="Calibri" pitchFamily="34" charset="0"/>
                <a:ea typeface="Calibri" pitchFamily="34" charset="-122"/>
                <a:cs typeface="Calibri" pitchFamily="34" charset="-120"/>
              </a:rPr>
              <a:t>The Daily Trade-off
</a:t>
            </a:r>
            <a:r>
              <a:rPr lang="en-US" sz="1000" dirty="0">
                <a:solidFill>
                  <a:srgbClr val="2D3748"/>
                </a:solidFill>
                <a:latin typeface="Calibri" pitchFamily="34" charset="0"/>
                <a:ea typeface="Calibri" pitchFamily="34" charset="-122"/>
                <a:cs typeface="Calibri" pitchFamily="34" charset="-120"/>
              </a:rPr>
              <a:t>People balance </a:t>
            </a:r>
            <a:r>
              <a:rPr lang="en-US" sz="1000" b="1" dirty="0">
                <a:solidFill>
                  <a:srgbClr val="009CA6"/>
                </a:solidFill>
                <a:latin typeface="Calibri" pitchFamily="34" charset="0"/>
                <a:ea typeface="Calibri" pitchFamily="34" charset="-122"/>
                <a:cs typeface="Calibri" pitchFamily="34" charset="-120"/>
              </a:rPr>
              <a:t>traveling far</a:t>
            </a:r>
            <a:r>
              <a:rPr lang="en-US" sz="1000" dirty="0">
                <a:solidFill>
                  <a:srgbClr val="2D3748"/>
                </a:solidFill>
                <a:latin typeface="Calibri" pitchFamily="34" charset="0"/>
                <a:ea typeface="Calibri" pitchFamily="34" charset="-122"/>
                <a:cs typeface="Calibri" pitchFamily="34" charset="-120"/>
              </a:rPr>
              <a:t> against </a:t>
            </a:r>
            <a:r>
              <a:rPr lang="en-US" sz="1000" b="1" dirty="0">
                <a:solidFill>
                  <a:srgbClr val="009CA6"/>
                </a:solidFill>
                <a:latin typeface="Calibri" pitchFamily="34" charset="0"/>
                <a:ea typeface="Calibri" pitchFamily="34" charset="-122"/>
                <a:cs typeface="Calibri" pitchFamily="34" charset="-120"/>
              </a:rPr>
              <a:t>spending time at places</a:t>
            </a:r>
            <a:r>
              <a:rPr lang="en-US" sz="950" dirty="0">
                <a:solidFill>
                  <a:srgbClr val="8C96A0"/>
                </a:solidFill>
                <a:latin typeface="Calibri" pitchFamily="34" charset="0"/>
                <a:ea typeface="Calibri" pitchFamily="34" charset="-122"/>
                <a:cs typeface="Calibri" pitchFamily="34" charset="-120"/>
              </a:rPr>
              <a:t>.</a:t>
            </a:r>
            <a:endParaRPr lang="en-US" sz="1200" dirty="0"/>
          </a:p>
          <a:p>
            <a:pPr marL="0" indent="0">
              <a:lnSpc>
                <a:spcPct val="115000"/>
              </a:lnSpc>
              <a:buNone/>
            </a:pPr>
            <a:r>
              <a:rPr lang="en-US" sz="950" dirty="0">
                <a:solidFill>
                  <a:srgbClr val="8C96A0"/>
                </a:solidFill>
                <a:latin typeface="Calibri" pitchFamily="34" charset="0"/>
                <a:ea typeface="Calibri" pitchFamily="34" charset="-122"/>
                <a:cs typeface="Calibri" pitchFamily="34" charset="-120"/>
              </a:rPr>
              <a:t>A </a:t>
            </a:r>
            <a:r>
              <a:rPr lang="en-US" altLang="zh-CN" sz="950" dirty="0">
                <a:solidFill>
                  <a:srgbClr val="8C96A0"/>
                </a:solidFill>
                <a:latin typeface="Calibri" pitchFamily="34" charset="0"/>
                <a:ea typeface="Calibri" pitchFamily="34" charset="-122"/>
                <a:cs typeface="Calibri" pitchFamily="34" charset="-120"/>
              </a:rPr>
              <a:t>1</a:t>
            </a:r>
            <a:r>
              <a:rPr lang="en-US" sz="950" dirty="0">
                <a:solidFill>
                  <a:srgbClr val="8C96A0"/>
                </a:solidFill>
                <a:latin typeface="Calibri" pitchFamily="34" charset="0"/>
                <a:ea typeface="Calibri" pitchFamily="34" charset="-122"/>
                <a:cs typeface="Calibri" pitchFamily="34" charset="-120"/>
              </a:rPr>
              <a:t>-hour errand </a:t>
            </a:r>
            <a:r>
              <a:rPr lang="en-US" altLang="zh-CN" sz="950" dirty="0">
                <a:solidFill>
                  <a:srgbClr val="8C96A0"/>
                </a:solidFill>
                <a:latin typeface="Calibri" pitchFamily="34" charset="0"/>
                <a:ea typeface="Calibri" pitchFamily="34" charset="-122"/>
                <a:cs typeface="Calibri" pitchFamily="34" charset="-120"/>
              </a:rPr>
              <a:t>far</a:t>
            </a:r>
            <a:r>
              <a:rPr lang="zh-CN" altLang="en-US" sz="950" dirty="0">
                <a:solidFill>
                  <a:srgbClr val="8C96A0"/>
                </a:solidFill>
                <a:latin typeface="Calibri" pitchFamily="34" charset="0"/>
                <a:ea typeface="Calibri" pitchFamily="34" charset="-122"/>
                <a:cs typeface="Calibri" pitchFamily="34" charset="-120"/>
              </a:rPr>
              <a:t> </a:t>
            </a:r>
            <a:r>
              <a:rPr lang="en-US" altLang="zh-CN" sz="950" dirty="0">
                <a:solidFill>
                  <a:srgbClr val="8C96A0"/>
                </a:solidFill>
                <a:latin typeface="Calibri" pitchFamily="34" charset="0"/>
                <a:ea typeface="Calibri" pitchFamily="34" charset="-122"/>
                <a:cs typeface="Calibri" pitchFamily="34" charset="-120"/>
              </a:rPr>
              <a:t>away</a:t>
            </a:r>
            <a:r>
              <a:rPr lang="en-US" sz="950" dirty="0">
                <a:solidFill>
                  <a:srgbClr val="8C96A0"/>
                </a:solidFill>
                <a:latin typeface="Calibri" pitchFamily="34" charset="0"/>
                <a:ea typeface="Calibri" pitchFamily="34" charset="-122"/>
                <a:cs typeface="Calibri" pitchFamily="34" charset="-120"/>
              </a:rPr>
              <a:t> ≠ an 8-hour workday far away.</a:t>
            </a:r>
            <a:endParaRPr lang="en-US" sz="1200" dirty="0"/>
          </a:p>
        </p:txBody>
      </p:sp>
      <p:sp>
        <p:nvSpPr>
          <p:cNvPr id="14" name="Shape 12"/>
          <p:cNvSpPr/>
          <p:nvPr/>
        </p:nvSpPr>
        <p:spPr>
          <a:xfrm>
            <a:off x="5046980" y="2926080"/>
            <a:ext cx="3931920" cy="7772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5" name="Shape 13"/>
          <p:cNvSpPr/>
          <p:nvPr/>
        </p:nvSpPr>
        <p:spPr>
          <a:xfrm>
            <a:off x="5046980" y="2926080"/>
            <a:ext cx="64008" cy="777240"/>
          </a:xfrm>
          <a:prstGeom prst="rect">
            <a:avLst/>
          </a:prstGeom>
          <a:solidFill>
            <a:srgbClr val="DD6B20"/>
          </a:solidFill>
          <a:ln/>
        </p:spPr>
        <p:txBody>
          <a:bodyPr/>
          <a:lstStyle/>
          <a:p>
            <a:endParaRPr lang="en-US"/>
          </a:p>
        </p:txBody>
      </p:sp>
      <p:sp>
        <p:nvSpPr>
          <p:cNvPr id="16" name="Text 14"/>
          <p:cNvSpPr/>
          <p:nvPr/>
        </p:nvSpPr>
        <p:spPr>
          <a:xfrm>
            <a:off x="5275580" y="2953512"/>
            <a:ext cx="3520440" cy="685800"/>
          </a:xfrm>
          <a:prstGeom prst="rect">
            <a:avLst/>
          </a:prstGeom>
          <a:noFill/>
          <a:ln/>
        </p:spPr>
        <p:txBody>
          <a:bodyPr wrap="square" rtlCol="0" anchor="ctr"/>
          <a:lstStyle/>
          <a:p>
            <a:pPr marL="0" indent="0">
              <a:lnSpc>
                <a:spcPct val="115000"/>
              </a:lnSpc>
              <a:buNone/>
            </a:pPr>
            <a:r>
              <a:rPr lang="en-US" sz="1200" b="1" dirty="0">
                <a:solidFill>
                  <a:srgbClr val="DD6B20"/>
                </a:solidFill>
                <a:latin typeface="Calibri" pitchFamily="34" charset="0"/>
                <a:ea typeface="Calibri" pitchFamily="34" charset="-122"/>
                <a:cs typeface="Calibri" pitchFamily="34" charset="-120"/>
              </a:rPr>
              <a:t>The Measurement Gap
</a:t>
            </a:r>
            <a:r>
              <a:rPr lang="en-US" sz="1000" b="1" dirty="0">
                <a:solidFill>
                  <a:srgbClr val="003660"/>
                </a:solidFill>
                <a:latin typeface="Calibri" pitchFamily="34" charset="0"/>
                <a:ea typeface="Calibri" pitchFamily="34" charset="-122"/>
                <a:cs typeface="Calibri" pitchFamily="34" charset="-120"/>
              </a:rPr>
              <a:t>H</a:t>
            </a:r>
            <a:r>
              <a:rPr lang="en-US" sz="1000" dirty="0">
                <a:solidFill>
                  <a:srgbClr val="2D3748"/>
                </a:solidFill>
                <a:latin typeface="Calibri" pitchFamily="34" charset="0"/>
                <a:ea typeface="Calibri" pitchFamily="34" charset="-122"/>
                <a:cs typeface="Calibri" pitchFamily="34" charset="-120"/>
              </a:rPr>
              <a:t>ow far you </a:t>
            </a:r>
            <a:r>
              <a:rPr lang="en-US" sz="1000" b="1" i="1" dirty="0">
                <a:solidFill>
                  <a:srgbClr val="DD6B20"/>
                </a:solidFill>
                <a:latin typeface="Calibri" pitchFamily="34" charset="0"/>
                <a:ea typeface="Calibri" pitchFamily="34" charset="-122"/>
                <a:cs typeface="Calibri" pitchFamily="34" charset="-120"/>
              </a:rPr>
              <a:t>actually commit your time</a:t>
            </a:r>
            <a:r>
              <a:rPr lang="en-US" sz="1000" dirty="0">
                <a:solidFill>
                  <a:srgbClr val="2D3748"/>
                </a:solidFill>
                <a:latin typeface="Calibri" pitchFamily="34" charset="0"/>
                <a:ea typeface="Calibri" pitchFamily="34" charset="-122"/>
                <a:cs typeface="Calibri" pitchFamily="34" charset="-120"/>
              </a:rPr>
              <a:t> (behavior).</a:t>
            </a:r>
            <a:endParaRPr lang="en-US" sz="1200" dirty="0"/>
          </a:p>
        </p:txBody>
      </p:sp>
      <p:sp>
        <p:nvSpPr>
          <p:cNvPr id="17" name="Shape 15"/>
          <p:cNvSpPr/>
          <p:nvPr/>
        </p:nvSpPr>
        <p:spPr>
          <a:xfrm>
            <a:off x="457200" y="3886200"/>
            <a:ext cx="8229600" cy="502920"/>
          </a:xfrm>
          <a:prstGeom prst="rect">
            <a:avLst/>
          </a:prstGeom>
          <a:solidFill>
            <a:srgbClr val="003660"/>
          </a:solidFill>
          <a:ln/>
        </p:spPr>
        <p:txBody>
          <a:bodyPr/>
          <a:lstStyle/>
          <a:p>
            <a:endParaRPr lang="en-US"/>
          </a:p>
        </p:txBody>
      </p:sp>
      <p:sp>
        <p:nvSpPr>
          <p:cNvPr id="18" name="Text 16"/>
          <p:cNvSpPr/>
          <p:nvPr/>
        </p:nvSpPr>
        <p:spPr>
          <a:xfrm>
            <a:off x="640080" y="3886200"/>
            <a:ext cx="7863840" cy="502920"/>
          </a:xfrm>
          <a:prstGeom prst="rect">
            <a:avLst/>
          </a:prstGeom>
          <a:noFill/>
          <a:ln/>
        </p:spPr>
        <p:txBody>
          <a:bodyPr wrap="square" rtlCol="0" anchor="ctr"/>
          <a:lstStyle/>
          <a:p>
            <a:r>
              <a:rPr lang="en-US" sz="1400" b="1" dirty="0">
                <a:solidFill>
                  <a:schemeClr val="bg1"/>
                </a:solidFill>
                <a:latin typeface="Calibri" pitchFamily="34" charset="0"/>
                <a:ea typeface="Calibri" pitchFamily="34" charset="-122"/>
                <a:cs typeface="Calibri" pitchFamily="34" charset="-120"/>
              </a:rPr>
              <a:t>→ </a:t>
            </a:r>
            <a:r>
              <a:rPr lang="en-US" sz="1400" b="1" i="1" dirty="0">
                <a:solidFill>
                  <a:schemeClr val="bg1"/>
                </a:solidFill>
              </a:rPr>
              <a:t>Whether infrastructure is serving people where they actually live their lives.</a:t>
            </a:r>
            <a:endParaRPr lang="en-US" sz="1400" dirty="0">
              <a:solidFill>
                <a:schemeClr val="bg1"/>
              </a:solidFill>
            </a:endParaRPr>
          </a:p>
        </p:txBody>
      </p:sp>
      <p:sp>
        <p:nvSpPr>
          <p:cNvPr id="19" name="Text 17"/>
          <p:cNvSpPr/>
          <p:nvPr/>
        </p:nvSpPr>
        <p:spPr>
          <a:xfrm>
            <a:off x="457200" y="4800600"/>
            <a:ext cx="8229600" cy="274320"/>
          </a:xfrm>
          <a:prstGeom prst="rect">
            <a:avLst/>
          </a:prstGeom>
          <a:noFill/>
          <a:ln/>
        </p:spPr>
        <p:txBody>
          <a:bodyPr wrap="square" rtlCol="0" anchor="ctr"/>
          <a:lstStyle/>
          <a:p>
            <a:pPr marL="0" indent="0" algn="l">
              <a:buNone/>
            </a:pPr>
            <a:r>
              <a:rPr lang="en-US" sz="750" dirty="0">
                <a:solidFill>
                  <a:srgbClr val="8C96A0"/>
                </a:solidFill>
                <a:latin typeface="Calibri" pitchFamily="34" charset="0"/>
                <a:ea typeface="Calibri" pitchFamily="34" charset="-122"/>
                <a:cs typeface="Calibri" pitchFamily="34" charset="-120"/>
              </a:rPr>
              <a:t>Die Hu | UC Santa Barbara | AAG 2026</a:t>
            </a:r>
            <a:endParaRPr lang="en-US" sz="750" dirty="0"/>
          </a:p>
        </p:txBody>
      </p:sp>
      <p:pic>
        <p:nvPicPr>
          <p:cNvPr id="21" name="Picture 20">
            <a:extLst>
              <a:ext uri="{FF2B5EF4-FFF2-40B4-BE49-F238E27FC236}">
                <a16:creationId xmlns:a16="http://schemas.microsoft.com/office/drawing/2014/main" id="{0C4FB90D-0E1B-0224-160A-167D59DF185A}"/>
              </a:ext>
            </a:extLst>
          </p:cNvPr>
          <p:cNvPicPr>
            <a:picLocks noChangeAspect="1"/>
          </p:cNvPicPr>
          <p:nvPr/>
        </p:nvPicPr>
        <p:blipFill>
          <a:blip r:embed="rId3"/>
          <a:stretch>
            <a:fillRect/>
          </a:stretch>
        </p:blipFill>
        <p:spPr>
          <a:xfrm>
            <a:off x="214119" y="968292"/>
            <a:ext cx="4668917" cy="260802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7" name="Shape 12">
            <a:extLst>
              <a:ext uri="{FF2B5EF4-FFF2-40B4-BE49-F238E27FC236}">
                <a16:creationId xmlns:a16="http://schemas.microsoft.com/office/drawing/2014/main" id="{18D533FA-C7AF-2D0D-610A-950B2C97B659}"/>
              </a:ext>
            </a:extLst>
          </p:cNvPr>
          <p:cNvSpPr/>
          <p:nvPr/>
        </p:nvSpPr>
        <p:spPr>
          <a:xfrm>
            <a:off x="457199" y="4434840"/>
            <a:ext cx="8219983" cy="457200"/>
          </a:xfrm>
          <a:prstGeom prst="rect">
            <a:avLst/>
          </a:prstGeom>
          <a:solidFill>
            <a:srgbClr val="1B2A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Shape 0"/>
          <p:cNvSpPr/>
          <p:nvPr/>
        </p:nvSpPr>
        <p:spPr>
          <a:xfrm>
            <a:off x="0" y="0"/>
            <a:ext cx="9144000" cy="54864"/>
          </a:xfrm>
          <a:prstGeom prst="rect">
            <a:avLst/>
          </a:prstGeom>
          <a:solidFill>
            <a:srgbClr val="003660"/>
          </a:solidFill>
          <a:ln/>
        </p:spPr>
        <p:txBody>
          <a:bodyPr/>
          <a:lstStyle/>
          <a:p>
            <a:endParaRPr lang="en-US"/>
          </a:p>
        </p:txBody>
      </p:sp>
      <p:sp>
        <p:nvSpPr>
          <p:cNvPr id="3" name="Text 1"/>
          <p:cNvSpPr/>
          <p:nvPr/>
        </p:nvSpPr>
        <p:spPr>
          <a:xfrm>
            <a:off x="457200" y="228600"/>
            <a:ext cx="7315200" cy="502920"/>
          </a:xfrm>
          <a:prstGeom prst="rect">
            <a:avLst/>
          </a:prstGeom>
          <a:noFill/>
          <a:ln/>
        </p:spPr>
        <p:txBody>
          <a:bodyPr wrap="square" rtlCol="0" anchor="ctr"/>
          <a:lstStyle/>
          <a:p>
            <a:r>
              <a:rPr lang="en-US" sz="2400" b="1" dirty="0">
                <a:solidFill>
                  <a:srgbClr val="1B2A4A"/>
                </a:solidFill>
                <a:latin typeface="Georgia" pitchFamily="34" charset="0"/>
                <a:ea typeface="Georgia" pitchFamily="34" charset="-122"/>
                <a:cs typeface="Georgia" pitchFamily="34" charset="-120"/>
              </a:rPr>
              <a:t>Key Concept: </a:t>
            </a:r>
            <a:r>
              <a:rPr lang="en-US" sz="2400" b="1" dirty="0">
                <a:solidFill>
                  <a:srgbClr val="003660"/>
                </a:solidFill>
                <a:latin typeface="Georgia" pitchFamily="34" charset="0"/>
                <a:ea typeface="Georgia" pitchFamily="34" charset="-122"/>
                <a:cs typeface="Georgia" pitchFamily="34" charset="-120"/>
              </a:rPr>
              <a:t>Activity Space Indicator (ASI)</a:t>
            </a:r>
            <a:endParaRPr lang="en-US" sz="2400" dirty="0"/>
          </a:p>
        </p:txBody>
      </p:sp>
      <p:sp>
        <p:nvSpPr>
          <p:cNvPr id="4" name="Shape 2"/>
          <p:cNvSpPr/>
          <p:nvPr/>
        </p:nvSpPr>
        <p:spPr>
          <a:xfrm>
            <a:off x="457200" y="914400"/>
            <a:ext cx="4114800" cy="3137836"/>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8" name="Text 6"/>
          <p:cNvSpPr/>
          <p:nvPr/>
        </p:nvSpPr>
        <p:spPr>
          <a:xfrm>
            <a:off x="457199" y="2097167"/>
            <a:ext cx="3566160" cy="1809140"/>
          </a:xfrm>
          <a:prstGeom prst="rect">
            <a:avLst/>
          </a:prstGeom>
          <a:noFill/>
          <a:ln/>
        </p:spPr>
        <p:txBody>
          <a:bodyPr wrap="square" rtlCol="0" anchor="ctr"/>
          <a:lstStyle/>
          <a:p>
            <a:pPr marL="171450" indent="-171450">
              <a:spcBef>
                <a:spcPts val="200"/>
              </a:spcBef>
              <a:buFont typeface="Arial" panose="020B0604020202020204" pitchFamily="34" charset="0"/>
              <a:buChar char="•"/>
            </a:pPr>
            <a:r>
              <a:rPr lang="en-US" altLang="zh-CN" sz="1100" b="1" dirty="0">
                <a:solidFill>
                  <a:srgbClr val="009CA6"/>
                </a:solidFill>
                <a:cs typeface="Consolas" pitchFamily="34" charset="-120"/>
              </a:rPr>
              <a:t>ASI</a:t>
            </a:r>
            <a:r>
              <a:rPr lang="en-US" sz="1100" dirty="0"/>
              <a:t>: Realized spatial reach (home-centered).</a:t>
            </a:r>
          </a:p>
          <a:p>
            <a:pPr marL="171450" indent="-171450">
              <a:spcBef>
                <a:spcPts val="200"/>
              </a:spcBef>
              <a:buFont typeface="Arial" panose="020B0604020202020204" pitchFamily="34" charset="0"/>
              <a:buChar char="•"/>
            </a:pPr>
            <a:r>
              <a:rPr lang="en-US" altLang="zh-CN" sz="1100" b="1" dirty="0" err="1">
                <a:solidFill>
                  <a:srgbClr val="009CA6"/>
                </a:solidFill>
                <a:cs typeface="Consolas" pitchFamily="34" charset="-120"/>
              </a:rPr>
              <a:t>r</a:t>
            </a:r>
            <a:r>
              <a:rPr lang="en-US" altLang="zh-CN" sz="1100" b="1" baseline="-25000" dirty="0" err="1">
                <a:solidFill>
                  <a:srgbClr val="009CA6"/>
                </a:solidFill>
                <a:cs typeface="Consolas" pitchFamily="34" charset="-120"/>
              </a:rPr>
              <a:t>i</a:t>
            </a:r>
            <a:r>
              <a:rPr lang="en-US" sz="1100" b="1" dirty="0">
                <a:solidFill>
                  <a:srgbClr val="009CA6"/>
                </a:solidFill>
                <a:cs typeface="Consolas" pitchFamily="34" charset="-120"/>
              </a:rPr>
              <a:t>: </a:t>
            </a:r>
            <a:r>
              <a:rPr lang="en-US" sz="1100" dirty="0"/>
              <a:t>Geographic coordinates of activity location </a:t>
            </a:r>
            <a:r>
              <a:rPr lang="en-US" sz="1100" dirty="0" err="1"/>
              <a:t>i</a:t>
            </a:r>
            <a:r>
              <a:rPr lang="en-US" sz="1100" dirty="0"/>
              <a:t>.</a:t>
            </a:r>
          </a:p>
          <a:p>
            <a:pPr marL="171450" indent="-171450">
              <a:spcBef>
                <a:spcPts val="200"/>
              </a:spcBef>
              <a:buFont typeface="Arial" panose="020B0604020202020204" pitchFamily="34" charset="0"/>
              <a:buChar char="•"/>
            </a:pPr>
            <a:r>
              <a:rPr lang="en-US" altLang="zh-CN" sz="1100" b="1" dirty="0" err="1">
                <a:solidFill>
                  <a:srgbClr val="009CA6"/>
                </a:solidFill>
                <a:cs typeface="Consolas" pitchFamily="34" charset="-120"/>
              </a:rPr>
              <a:t>r</a:t>
            </a:r>
            <a:r>
              <a:rPr lang="en-US" sz="1100" b="1" baseline="-25000" dirty="0" err="1">
                <a:solidFill>
                  <a:srgbClr val="009CA6"/>
                </a:solidFill>
                <a:cs typeface="Consolas" pitchFamily="34" charset="-120"/>
              </a:rPr>
              <a:t>home</a:t>
            </a:r>
            <a:r>
              <a:rPr lang="en-US" sz="1100" b="1" dirty="0">
                <a:solidFill>
                  <a:srgbClr val="009CA6"/>
                </a:solidFill>
                <a:cs typeface="Consolas" pitchFamily="34" charset="-120"/>
              </a:rPr>
              <a:t>: </a:t>
            </a:r>
            <a:r>
              <a:rPr lang="en-US" sz="1100" dirty="0"/>
              <a:t>Geographic coordinates of the home anchor.</a:t>
            </a:r>
          </a:p>
          <a:p>
            <a:pPr marL="171450" indent="-171450">
              <a:spcBef>
                <a:spcPts val="200"/>
              </a:spcBef>
              <a:buFont typeface="Arial" panose="020B0604020202020204" pitchFamily="34" charset="0"/>
              <a:buChar char="•"/>
            </a:pPr>
            <a:r>
              <a:rPr lang="en-US" sz="1100" b="1" dirty="0" err="1">
                <a:solidFill>
                  <a:srgbClr val="009CA6"/>
                </a:solidFill>
                <a:cs typeface="Consolas" pitchFamily="34" charset="-120"/>
              </a:rPr>
              <a:t>t</a:t>
            </a:r>
            <a:r>
              <a:rPr lang="en-US" altLang="zh-CN" sz="1100" b="1" baseline="-25000" dirty="0" err="1">
                <a:solidFill>
                  <a:srgbClr val="009CA6"/>
                </a:solidFill>
                <a:cs typeface="Consolas" pitchFamily="34" charset="-120"/>
              </a:rPr>
              <a:t>i</a:t>
            </a:r>
            <a:r>
              <a:rPr lang="en-US" sz="1100" b="1" dirty="0">
                <a:solidFill>
                  <a:srgbClr val="009CA6"/>
                </a:solidFill>
                <a:cs typeface="Consolas" pitchFamily="34" charset="-120"/>
              </a:rPr>
              <a:t>: </a:t>
            </a:r>
            <a:r>
              <a:rPr lang="en-US" sz="1100" dirty="0"/>
              <a:t>Dwell time (weight) spent at location </a:t>
            </a:r>
            <a:r>
              <a:rPr lang="en-US" sz="1100" dirty="0" err="1"/>
              <a:t>i</a:t>
            </a:r>
            <a:r>
              <a:rPr lang="en-US" sz="1100" dirty="0"/>
              <a:t>.</a:t>
            </a:r>
          </a:p>
          <a:p>
            <a:pPr marL="171450" indent="-171450">
              <a:spcBef>
                <a:spcPts val="200"/>
              </a:spcBef>
              <a:buFont typeface="Arial" panose="020B0604020202020204" pitchFamily="34" charset="0"/>
              <a:buChar char="•"/>
            </a:pPr>
            <a:r>
              <a:rPr lang="en-US" altLang="zh-CN" sz="1100" b="1" dirty="0">
                <a:solidFill>
                  <a:srgbClr val="009CA6"/>
                </a:solidFill>
                <a:cs typeface="Consolas" pitchFamily="34" charset="-120"/>
              </a:rPr>
              <a:t>T:</a:t>
            </a:r>
            <a:r>
              <a:rPr lang="zh-CN" altLang="en-US" sz="1100" b="1" dirty="0">
                <a:solidFill>
                  <a:srgbClr val="009CA6"/>
                </a:solidFill>
                <a:cs typeface="Consolas" pitchFamily="34" charset="-120"/>
              </a:rPr>
              <a:t> </a:t>
            </a:r>
            <a:r>
              <a:rPr lang="en-US" altLang="zh-CN" sz="1100" i="1" dirty="0"/>
              <a:t>T</a:t>
            </a:r>
            <a:r>
              <a:rPr lang="en-US" sz="1100" dirty="0"/>
              <a:t>otal dwell time across all locations</a:t>
            </a:r>
            <a:r>
              <a:rPr lang="en-US" altLang="zh-CN" sz="1100" dirty="0"/>
              <a:t>.</a:t>
            </a:r>
            <a:endParaRPr lang="en-US" sz="1100" dirty="0"/>
          </a:p>
          <a:p>
            <a:pPr marL="171450" indent="-171450">
              <a:spcBef>
                <a:spcPts val="200"/>
              </a:spcBef>
              <a:buFont typeface="Arial" panose="020B0604020202020204" pitchFamily="34" charset="0"/>
              <a:buChar char="•"/>
            </a:pPr>
            <a:r>
              <a:rPr lang="en-US" sz="1100" b="1" dirty="0">
                <a:solidFill>
                  <a:srgbClr val="009CA6"/>
                </a:solidFill>
                <a:ea typeface="Consolas" pitchFamily="34" charset="-122"/>
                <a:cs typeface="Consolas" pitchFamily="34" charset="-120"/>
              </a:rPr>
              <a:t>d(rᵢ, rₕ)</a:t>
            </a:r>
            <a:r>
              <a:rPr lang="en-US" sz="1100" dirty="0">
                <a:solidFill>
                  <a:srgbClr val="2D3748"/>
                </a:solidFill>
                <a:ea typeface="Calibri" pitchFamily="34" charset="-122"/>
                <a:cs typeface="Calibri" pitchFamily="34" charset="-120"/>
              </a:rPr>
              <a:t> = distance to home (km)</a:t>
            </a:r>
            <a:r>
              <a:rPr lang="en-US" sz="1100" dirty="0"/>
              <a:t>.</a:t>
            </a:r>
          </a:p>
          <a:p>
            <a:pPr marL="0" indent="0">
              <a:spcBef>
                <a:spcPts val="200"/>
              </a:spcBef>
              <a:buNone/>
            </a:pPr>
            <a:endParaRPr lang="en-US" sz="1100" dirty="0">
              <a:latin typeface="+mj-lt"/>
            </a:endParaRPr>
          </a:p>
        </p:txBody>
      </p:sp>
      <p:sp>
        <p:nvSpPr>
          <p:cNvPr id="9" name="Shape 7"/>
          <p:cNvSpPr/>
          <p:nvPr/>
        </p:nvSpPr>
        <p:spPr>
          <a:xfrm>
            <a:off x="4846320" y="914400"/>
            <a:ext cx="3840480" cy="1371600"/>
          </a:xfrm>
          <a:prstGeom prst="rect">
            <a:avLst/>
          </a:prstGeom>
          <a:solidFill>
            <a:srgbClr val="E6F7F8"/>
          </a:solidFill>
          <a:ln/>
        </p:spPr>
        <p:txBody>
          <a:bodyPr/>
          <a:lstStyle/>
          <a:p>
            <a:endParaRPr lang="en-US"/>
          </a:p>
        </p:txBody>
      </p:sp>
      <p:sp>
        <p:nvSpPr>
          <p:cNvPr id="10" name="Text 8"/>
          <p:cNvSpPr/>
          <p:nvPr/>
        </p:nvSpPr>
        <p:spPr>
          <a:xfrm>
            <a:off x="5029200" y="960120"/>
            <a:ext cx="3474720" cy="274320"/>
          </a:xfrm>
          <a:prstGeom prst="rect">
            <a:avLst/>
          </a:prstGeom>
          <a:noFill/>
          <a:ln/>
        </p:spPr>
        <p:txBody>
          <a:bodyPr wrap="square" rtlCol="0" anchor="ctr"/>
          <a:lstStyle/>
          <a:p>
            <a:pPr marL="0" indent="0">
              <a:buNone/>
            </a:pPr>
            <a:r>
              <a:rPr lang="en-US" sz="1200" b="1" dirty="0">
                <a:solidFill>
                  <a:srgbClr val="003660"/>
                </a:solidFill>
                <a:latin typeface="Calibri" pitchFamily="34" charset="0"/>
                <a:ea typeface="Calibri" pitchFamily="34" charset="-122"/>
                <a:cs typeface="Calibri" pitchFamily="34" charset="-120"/>
              </a:rPr>
              <a:t>Key Properties</a:t>
            </a:r>
            <a:endParaRPr lang="en-US" sz="1200" dirty="0"/>
          </a:p>
        </p:txBody>
      </p:sp>
      <p:sp>
        <p:nvSpPr>
          <p:cNvPr id="11" name="Text 9"/>
          <p:cNvSpPr/>
          <p:nvPr/>
        </p:nvSpPr>
        <p:spPr>
          <a:xfrm>
            <a:off x="5029200" y="1325880"/>
            <a:ext cx="3474720" cy="1005840"/>
          </a:xfrm>
          <a:prstGeom prst="rect">
            <a:avLst/>
          </a:prstGeom>
          <a:noFill/>
          <a:ln/>
        </p:spPr>
        <p:txBody>
          <a:bodyPr wrap="square" rtlCol="0" anchor="ctr"/>
          <a:lstStyle/>
          <a:p>
            <a:pPr marL="0" indent="0">
              <a:lnSpc>
                <a:spcPct val="110000"/>
              </a:lnSpc>
              <a:buNone/>
            </a:pPr>
            <a:r>
              <a:rPr lang="en-US" sz="1000" b="1" dirty="0">
                <a:solidFill>
                  <a:srgbClr val="003660"/>
                </a:solidFill>
                <a:latin typeface="Calibri" pitchFamily="34" charset="0"/>
                <a:ea typeface="Calibri" pitchFamily="34" charset="-122"/>
                <a:cs typeface="Calibri" pitchFamily="34" charset="-120"/>
              </a:rPr>
              <a:t>✓ Home-centered</a:t>
            </a:r>
            <a:endParaRPr lang="en-US" sz="1000" dirty="0"/>
          </a:p>
          <a:p>
            <a:pPr marL="0" indent="0">
              <a:lnSpc>
                <a:spcPct val="110000"/>
              </a:lnSpc>
              <a:buNone/>
            </a:pPr>
            <a:r>
              <a:rPr lang="en-US" sz="800" dirty="0">
                <a:solidFill>
                  <a:srgbClr val="8C96A0"/>
                </a:solidFill>
                <a:latin typeface="Calibri" pitchFamily="34" charset="0"/>
                <a:ea typeface="Calibri" pitchFamily="34" charset="-122"/>
                <a:cs typeface="Calibri" pitchFamily="34" charset="-120"/>
              </a:rPr>
              <a:t>   Distance from home anchor</a:t>
            </a:r>
            <a:endParaRPr lang="en-US" sz="1000" dirty="0"/>
          </a:p>
          <a:p>
            <a:pPr marL="0" indent="0">
              <a:lnSpc>
                <a:spcPct val="110000"/>
              </a:lnSpc>
              <a:buNone/>
            </a:pPr>
            <a:r>
              <a:rPr lang="en-US" sz="1000" b="1" dirty="0">
                <a:solidFill>
                  <a:srgbClr val="003660"/>
                </a:solidFill>
                <a:latin typeface="Calibri" pitchFamily="34" charset="0"/>
                <a:ea typeface="Calibri" pitchFamily="34" charset="-122"/>
                <a:cs typeface="Calibri" pitchFamily="34" charset="-120"/>
              </a:rPr>
              <a:t>✓ Dwell-time weighted</a:t>
            </a:r>
            <a:endParaRPr lang="en-US" sz="1000" dirty="0"/>
          </a:p>
        </p:txBody>
      </p:sp>
      <p:sp>
        <p:nvSpPr>
          <p:cNvPr id="16" name="Text 14"/>
          <p:cNvSpPr/>
          <p:nvPr/>
        </p:nvSpPr>
        <p:spPr>
          <a:xfrm>
            <a:off x="457200" y="4850295"/>
            <a:ext cx="8229600" cy="274320"/>
          </a:xfrm>
          <a:prstGeom prst="rect">
            <a:avLst/>
          </a:prstGeom>
          <a:noFill/>
          <a:ln/>
        </p:spPr>
        <p:txBody>
          <a:bodyPr wrap="square" rtlCol="0" anchor="ctr"/>
          <a:lstStyle/>
          <a:p>
            <a:pPr marL="0" indent="0" algn="l">
              <a:buNone/>
            </a:pPr>
            <a:r>
              <a:rPr lang="en-US" sz="750" dirty="0">
                <a:solidFill>
                  <a:srgbClr val="8C96A0"/>
                </a:solidFill>
                <a:latin typeface="Calibri" pitchFamily="34" charset="0"/>
                <a:ea typeface="Calibri" pitchFamily="34" charset="-122"/>
                <a:cs typeface="Calibri" pitchFamily="34" charset="-120"/>
              </a:rPr>
              <a:t>Die Hu | UC Santa Barbara | AAG 2026</a:t>
            </a:r>
            <a:endParaRPr lang="en-US" sz="750" dirty="0"/>
          </a:p>
        </p:txBody>
      </p:sp>
      <p:pic>
        <p:nvPicPr>
          <p:cNvPr id="21" name="Picture 20">
            <a:extLst>
              <a:ext uri="{FF2B5EF4-FFF2-40B4-BE49-F238E27FC236}">
                <a16:creationId xmlns:a16="http://schemas.microsoft.com/office/drawing/2014/main" id="{C1A519D8-3EBA-64CC-2663-0B737BB72465}"/>
              </a:ext>
            </a:extLst>
          </p:cNvPr>
          <p:cNvPicPr>
            <a:picLocks noChangeAspect="1"/>
          </p:cNvPicPr>
          <p:nvPr/>
        </p:nvPicPr>
        <p:blipFill>
          <a:blip r:embed="rId3"/>
          <a:stretch>
            <a:fillRect/>
          </a:stretch>
        </p:blipFill>
        <p:spPr>
          <a:xfrm>
            <a:off x="457200" y="1372505"/>
            <a:ext cx="3940350" cy="724662"/>
          </a:xfrm>
          <a:prstGeom prst="rect">
            <a:avLst/>
          </a:prstGeom>
        </p:spPr>
      </p:pic>
      <p:sp>
        <p:nvSpPr>
          <p:cNvPr id="23" name="TextBox 22">
            <a:extLst>
              <a:ext uri="{FF2B5EF4-FFF2-40B4-BE49-F238E27FC236}">
                <a16:creationId xmlns:a16="http://schemas.microsoft.com/office/drawing/2014/main" id="{7BD81E3D-3D8B-6D65-2ED3-F00BDFEFB5F0}"/>
              </a:ext>
            </a:extLst>
          </p:cNvPr>
          <p:cNvSpPr txBox="1"/>
          <p:nvPr/>
        </p:nvSpPr>
        <p:spPr>
          <a:xfrm>
            <a:off x="546651" y="4447892"/>
            <a:ext cx="7315200" cy="369332"/>
          </a:xfrm>
          <a:prstGeom prst="rect">
            <a:avLst/>
          </a:prstGeom>
          <a:noFill/>
        </p:spPr>
        <p:txBody>
          <a:bodyPr wrap="square">
            <a:spAutoFit/>
          </a:bodyPr>
          <a:lstStyle/>
          <a:p>
            <a:pPr lvl="0">
              <a:spcAft>
                <a:spcPts val="400"/>
              </a:spcAft>
              <a:defRPr/>
            </a:pPr>
            <a:r>
              <a:rPr kumimoji="0" lang="en-US" sz="18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Captures HOW FAR activities spread</a:t>
            </a:r>
            <a:r>
              <a:rPr lang="zh-CN" altLang="en-US" dirty="0">
                <a:solidFill>
                  <a:schemeClr val="bg1"/>
                </a:solidFill>
                <a:latin typeface="Calibri" panose="020F0502020204030204"/>
              </a:rPr>
              <a:t> </a:t>
            </a:r>
            <a:r>
              <a:rPr kumimoji="0" lang="en-US" sz="18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in geographic space</a:t>
            </a:r>
            <a:r>
              <a:rPr lang="en-US" altLang="zh-CN" b="1" dirty="0">
                <a:solidFill>
                  <a:schemeClr val="bg1"/>
                </a:solidFill>
                <a:latin typeface="Calibri" pitchFamily="34" charset="0"/>
                <a:ea typeface="Calibri" pitchFamily="34" charset="-122"/>
                <a:cs typeface="Calibri" pitchFamily="34" charset="-120"/>
              </a:rPr>
              <a:t>:</a:t>
            </a:r>
            <a:r>
              <a:rPr lang="zh-CN" altLang="en-US" b="1" dirty="0">
                <a:solidFill>
                  <a:schemeClr val="bg1"/>
                </a:solidFill>
                <a:latin typeface="Calibri" pitchFamily="34" charset="0"/>
                <a:ea typeface="Calibri" pitchFamily="34" charset="-122"/>
                <a:cs typeface="Calibri" pitchFamily="34" charset="-120"/>
              </a:rPr>
              <a:t> </a:t>
            </a:r>
            <a:r>
              <a:rPr lang="en-US" altLang="zh-CN" b="1" i="1" dirty="0">
                <a:solidFill>
                  <a:schemeClr val="bg1"/>
                </a:solidFill>
                <a:latin typeface="Calibri" pitchFamily="34" charset="0"/>
                <a:ea typeface="Calibri" pitchFamily="34" charset="-122"/>
                <a:cs typeface="Calibri" pitchFamily="34" charset="-120"/>
              </a:rPr>
              <a:t>S</a:t>
            </a:r>
            <a:r>
              <a:rPr lang="en-US" b="1" i="1" dirty="0">
                <a:solidFill>
                  <a:schemeClr val="bg1"/>
                </a:solidFill>
                <a:latin typeface="Calibri" pitchFamily="34" charset="0"/>
                <a:cs typeface="Calibri" pitchFamily="34" charset="-120"/>
              </a:rPr>
              <a:t>patial </a:t>
            </a:r>
            <a:r>
              <a:rPr lang="en-US" altLang="zh-CN" b="1" i="1" dirty="0">
                <a:solidFill>
                  <a:schemeClr val="bg1"/>
                </a:solidFill>
                <a:latin typeface="Calibri" pitchFamily="34" charset="0"/>
                <a:cs typeface="Calibri" pitchFamily="34" charset="-120"/>
              </a:rPr>
              <a:t>E</a:t>
            </a:r>
            <a:r>
              <a:rPr lang="en-US" b="1" i="1" dirty="0">
                <a:solidFill>
                  <a:schemeClr val="bg1"/>
                </a:solidFill>
                <a:latin typeface="Calibri" pitchFamily="34" charset="0"/>
                <a:cs typeface="Calibri" pitchFamily="34" charset="-120"/>
              </a:rPr>
              <a:t>xtent</a:t>
            </a:r>
          </a:p>
        </p:txBody>
      </p:sp>
      <p:sp>
        <p:nvSpPr>
          <p:cNvPr id="6" name="Text 4"/>
          <p:cNvSpPr/>
          <p:nvPr/>
        </p:nvSpPr>
        <p:spPr>
          <a:xfrm>
            <a:off x="5029200" y="1270558"/>
            <a:ext cx="3566160" cy="274320"/>
          </a:xfrm>
          <a:prstGeom prst="rect">
            <a:avLst/>
          </a:prstGeom>
          <a:noFill/>
          <a:ln/>
        </p:spPr>
        <p:txBody>
          <a:bodyPr wrap="square" rtlCol="0" anchor="ctr"/>
          <a:lstStyle/>
          <a:p>
            <a:pPr marL="0" indent="0">
              <a:buNone/>
            </a:pPr>
            <a:r>
              <a:rPr lang="en-US" altLang="zh-CN" sz="1400" b="1" dirty="0">
                <a:solidFill>
                  <a:srgbClr val="009CA6"/>
                </a:solidFill>
                <a:latin typeface="Calibri" pitchFamily="34" charset="0"/>
                <a:ea typeface="Calibri" pitchFamily="34" charset="-122"/>
                <a:cs typeface="Calibri" pitchFamily="34" charset="-120"/>
              </a:rPr>
              <a:t>S</a:t>
            </a:r>
            <a:r>
              <a:rPr lang="en-US" sz="1400" b="1" dirty="0">
                <a:solidFill>
                  <a:srgbClr val="009CA6"/>
                </a:solidFill>
                <a:latin typeface="Calibri" pitchFamily="34" charset="0"/>
                <a:ea typeface="Calibri" pitchFamily="34" charset="-122"/>
                <a:cs typeface="Calibri" pitchFamily="34" charset="-120"/>
              </a:rPr>
              <a:t>tandard</a:t>
            </a:r>
            <a:r>
              <a:rPr lang="zh-CN" altLang="en-US" sz="1400" b="1" dirty="0">
                <a:solidFill>
                  <a:srgbClr val="009CA6"/>
                </a:solidFill>
                <a:latin typeface="Calibri" pitchFamily="34" charset="0"/>
                <a:ea typeface="Calibri" pitchFamily="34" charset="-122"/>
                <a:cs typeface="Calibri" pitchFamily="34" charset="-120"/>
              </a:rPr>
              <a:t> </a:t>
            </a:r>
            <a:r>
              <a:rPr lang="en-US" altLang="zh-CN" sz="1400" b="1" dirty="0">
                <a:solidFill>
                  <a:srgbClr val="009CA6"/>
                </a:solidFill>
                <a:latin typeface="Calibri" pitchFamily="34" charset="0"/>
                <a:ea typeface="Calibri" pitchFamily="34" charset="-122"/>
                <a:cs typeface="Calibri" pitchFamily="34" charset="-120"/>
              </a:rPr>
              <a:t>Distance</a:t>
            </a:r>
          </a:p>
          <a:p>
            <a:r>
              <a:rPr lang="en-US" sz="1100" dirty="0">
                <a:solidFill>
                  <a:srgbClr val="333333"/>
                </a:solidFill>
              </a:rPr>
              <a:t>(Xu et al., 2015</a:t>
            </a:r>
            <a:r>
              <a:rPr lang="en-US" altLang="zh-CN" sz="1100" dirty="0">
                <a:solidFill>
                  <a:srgbClr val="333333"/>
                </a:solidFill>
              </a:rPr>
              <a:t>; </a:t>
            </a:r>
            <a:r>
              <a:rPr lang="en-US" sz="1100" dirty="0">
                <a:solidFill>
                  <a:srgbClr val="333333"/>
                </a:solidFill>
              </a:rPr>
              <a:t>Pappalardo et al.</a:t>
            </a:r>
            <a:r>
              <a:rPr lang="en-US" altLang="zh-CN" sz="1100" dirty="0">
                <a:solidFill>
                  <a:srgbClr val="333333"/>
                </a:solidFill>
              </a:rPr>
              <a:t>, </a:t>
            </a:r>
            <a:r>
              <a:rPr lang="en-US" sz="1100" dirty="0">
                <a:solidFill>
                  <a:srgbClr val="333333"/>
                </a:solidFill>
              </a:rPr>
              <a:t>2015)</a:t>
            </a:r>
            <a:endParaRPr lang="en-US" sz="1100" dirty="0"/>
          </a:p>
        </p:txBody>
      </p:sp>
      <p:sp>
        <p:nvSpPr>
          <p:cNvPr id="12" name="Text 3">
            <a:extLst>
              <a:ext uri="{FF2B5EF4-FFF2-40B4-BE49-F238E27FC236}">
                <a16:creationId xmlns:a16="http://schemas.microsoft.com/office/drawing/2014/main" id="{AA44905E-A432-2193-11C3-0C78BDE9DA16}"/>
              </a:ext>
            </a:extLst>
          </p:cNvPr>
          <p:cNvSpPr/>
          <p:nvPr/>
        </p:nvSpPr>
        <p:spPr>
          <a:xfrm>
            <a:off x="457200" y="922353"/>
            <a:ext cx="4114800" cy="320040"/>
          </a:xfrm>
          <a:prstGeom prst="rect">
            <a:avLst/>
          </a:prstGeom>
          <a:solidFill>
            <a:srgbClr val="2D6A8F"/>
          </a:solid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rgbClr val="FFFFFF"/>
                </a:solidFill>
                <a:latin typeface="Calibri" pitchFamily="34" charset="0"/>
                <a:cs typeface="Calibri" pitchFamily="34" charset="-120"/>
              </a:rPr>
              <a:t>Formula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5708CC-4AF2-B5DD-197C-782463B4DE43}"/>
              </a:ext>
            </a:extLst>
          </p:cNvPr>
          <p:cNvPicPr>
            <a:picLocks noChangeAspect="1"/>
          </p:cNvPicPr>
          <p:nvPr/>
        </p:nvPicPr>
        <p:blipFill>
          <a:blip r:embed="rId3"/>
          <a:srcRect b="5578"/>
          <a:stretch>
            <a:fillRect/>
          </a:stretch>
        </p:blipFill>
        <p:spPr>
          <a:xfrm>
            <a:off x="231006" y="1070207"/>
            <a:ext cx="8679224" cy="3073169"/>
          </a:xfrm>
          <a:prstGeom prst="rect">
            <a:avLst/>
          </a:prstGeom>
        </p:spPr>
      </p:pic>
      <p:sp>
        <p:nvSpPr>
          <p:cNvPr id="4" name="TextBox 3">
            <a:extLst>
              <a:ext uri="{FF2B5EF4-FFF2-40B4-BE49-F238E27FC236}">
                <a16:creationId xmlns:a16="http://schemas.microsoft.com/office/drawing/2014/main" id="{9729E5A8-8DFE-5C4E-A5D1-0CA1A6603203}"/>
              </a:ext>
            </a:extLst>
          </p:cNvPr>
          <p:cNvSpPr txBox="1"/>
          <p:nvPr/>
        </p:nvSpPr>
        <p:spPr>
          <a:xfrm>
            <a:off x="101065" y="191786"/>
            <a:ext cx="6886876" cy="369332"/>
          </a:xfrm>
          <a:prstGeom prst="rect">
            <a:avLst/>
          </a:prstGeom>
          <a:noFill/>
        </p:spPr>
        <p:txBody>
          <a:bodyPr wrap="square">
            <a:spAutoFit/>
          </a:bodyPr>
          <a:lstStyle/>
          <a:p>
            <a:r>
              <a:rPr lang="en-US" b="1" dirty="0">
                <a:solidFill>
                  <a:srgbClr val="1B2A4A"/>
                </a:solidFill>
                <a:latin typeface="Georgia" pitchFamily="34" charset="0"/>
                <a:ea typeface="Georgia" pitchFamily="34" charset="-122"/>
                <a:cs typeface="Georgia" pitchFamily="34" charset="-120"/>
              </a:rPr>
              <a:t>Demo</a:t>
            </a:r>
            <a:r>
              <a:rPr lang="en-US" sz="1800" b="1" dirty="0">
                <a:solidFill>
                  <a:srgbClr val="1B2A4A"/>
                </a:solidFill>
                <a:latin typeface="Georgia" pitchFamily="34" charset="0"/>
                <a:ea typeface="Georgia" pitchFamily="34" charset="-122"/>
                <a:cs typeface="Georgia" pitchFamily="34" charset="-120"/>
              </a:rPr>
              <a:t>: </a:t>
            </a:r>
            <a:r>
              <a:rPr lang="en-US" sz="1800" b="1" dirty="0">
                <a:solidFill>
                  <a:srgbClr val="003660"/>
                </a:solidFill>
                <a:latin typeface="Georgia" pitchFamily="34" charset="0"/>
                <a:ea typeface="Georgia" pitchFamily="34" charset="-122"/>
                <a:cs typeface="Georgia" pitchFamily="34" charset="-120"/>
              </a:rPr>
              <a:t>Activity Space Indicator (ASI)</a:t>
            </a:r>
            <a:endParaRPr lang="en-US" sz="1800" dirty="0"/>
          </a:p>
        </p:txBody>
      </p:sp>
    </p:spTree>
    <p:extLst>
      <p:ext uri="{BB962C8B-B14F-4D97-AF65-F5344CB8AC3E}">
        <p14:creationId xmlns:p14="http://schemas.microsoft.com/office/powerpoint/2010/main" val="3079292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3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Key Concept: </a:t>
            </a:r>
            <a:r>
              <a:rPr lang="en-US" altLang="zh-CN" sz="2800" b="1" dirty="0">
                <a:solidFill>
                  <a:srgbClr val="1B2A4A"/>
                </a:solidFill>
                <a:latin typeface="Georgia" pitchFamily="34" charset="0"/>
                <a:ea typeface="Georgia" pitchFamily="34" charset="-122"/>
                <a:cs typeface="Georgia" pitchFamily="34" charset="-120"/>
              </a:rPr>
              <a:t>Motif</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777240"/>
            <a:ext cx="1097280" cy="36576"/>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1051560"/>
            <a:ext cx="3931920" cy="329184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548640" y="1051560"/>
            <a:ext cx="3931920" cy="320040"/>
          </a:xfrm>
          <a:prstGeom prst="rect">
            <a:avLst/>
          </a:prstGeom>
          <a:solidFill>
            <a:srgbClr val="2D6A8F"/>
          </a:solid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STRUCTURE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22960" y="1463040"/>
            <a:ext cx="3383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Trip Chain Motif</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70513" y="2084983"/>
            <a:ext cx="3866315" cy="2152960"/>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40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Daily trips abstracted as a directed graph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40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Nodes = {Home, Work, Other}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40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Edges = trips between locations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40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Graph isomorphism </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490472" y="3954780"/>
            <a:ext cx="33832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754880" y="1051560"/>
            <a:ext cx="3931920" cy="329184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4754880" y="1051560"/>
            <a:ext cx="3931920" cy="320040"/>
          </a:xfrm>
          <a:prstGeom prst="rect">
            <a:avLst/>
          </a:prstGeom>
          <a:solidFill>
            <a:srgbClr val="0E8575"/>
          </a:solid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DEMO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48640" y="4434840"/>
            <a:ext cx="8138160" cy="457200"/>
          </a:xfrm>
          <a:prstGeom prst="rect">
            <a:avLst/>
          </a:prstGeom>
          <a:solidFill>
            <a:srgbClr val="1B2A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731520" y="4434840"/>
            <a:ext cx="7315200" cy="457200"/>
          </a:xfrm>
          <a:prstGeom prst="rect">
            <a:avLst/>
          </a:prstGeom>
          <a:noFill/>
          <a:ln/>
        </p:spPr>
        <p:txBody>
          <a:bodyPr wrap="square" rtlCol="0" anchor="ctr"/>
          <a:lstStyle/>
          <a:p>
            <a:pPr algn="ctr"/>
            <a:r>
              <a:rPr lang="en-US" sz="1600" b="1" dirty="0">
                <a:solidFill>
                  <a:schemeClr val="bg1"/>
                </a:solidFill>
                <a:latin typeface="Calibri" pitchFamily="34" charset="0"/>
                <a:ea typeface="Calibri" pitchFamily="34" charset="-122"/>
                <a:cs typeface="Calibri" pitchFamily="34" charset="-120"/>
              </a:rPr>
              <a:t>Captures HOW people organize travel, not WHERE they go</a:t>
            </a:r>
            <a:r>
              <a:rPr kumimoji="0" lang="en-US" sz="1600" b="1" i="1"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 </a:t>
            </a:r>
            <a:r>
              <a:rPr kumimoji="0" lang="en-US" altLang="zh-CN" sz="1600" b="1" i="1"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T</a:t>
            </a:r>
            <a:r>
              <a:rPr lang="en-US" sz="1600" b="1" i="1" dirty="0" err="1">
                <a:solidFill>
                  <a:schemeClr val="bg1"/>
                </a:solidFill>
                <a:latin typeface="Calibri" pitchFamily="34" charset="0"/>
                <a:ea typeface="Calibri" pitchFamily="34" charset="-122"/>
                <a:cs typeface="Calibri" pitchFamily="34" charset="-120"/>
              </a:rPr>
              <a:t>opological</a:t>
            </a:r>
            <a:r>
              <a:rPr lang="en-US" sz="1600" b="1" i="1" dirty="0">
                <a:solidFill>
                  <a:schemeClr val="bg1"/>
                </a:solidFill>
                <a:latin typeface="Calibri" pitchFamily="34" charset="0"/>
                <a:ea typeface="Calibri" pitchFamily="34" charset="-122"/>
                <a:cs typeface="Calibri" pitchFamily="34" charset="-120"/>
              </a:rPr>
              <a:t> </a:t>
            </a:r>
            <a:r>
              <a:rPr lang="en-US" altLang="zh-CN" sz="1600" b="1" i="1" dirty="0">
                <a:solidFill>
                  <a:schemeClr val="bg1"/>
                </a:solidFill>
                <a:latin typeface="Calibri" pitchFamily="34" charset="0"/>
                <a:ea typeface="Calibri" pitchFamily="34" charset="-122"/>
                <a:cs typeface="Calibri" pitchFamily="34" charset="-120"/>
              </a:rPr>
              <a:t>S</a:t>
            </a:r>
            <a:r>
              <a:rPr lang="en-US" sz="1600" b="1" i="1" dirty="0">
                <a:solidFill>
                  <a:schemeClr val="bg1"/>
                </a:solidFill>
                <a:latin typeface="Calibri" pitchFamily="34" charset="0"/>
                <a:ea typeface="Calibri" pitchFamily="34" charset="-122"/>
                <a:cs typeface="Calibri" pitchFamily="34" charset="-120"/>
              </a:rPr>
              <a:t>tructure.</a:t>
            </a:r>
            <a:endParaRPr kumimoji="0" lang="en-US" sz="16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6" name="Shape 37">
            <a:extLst>
              <a:ext uri="{FF2B5EF4-FFF2-40B4-BE49-F238E27FC236}">
                <a16:creationId xmlns:a16="http://schemas.microsoft.com/office/drawing/2014/main" id="{6D9ADC0A-EA1B-0277-1D47-6AD156733B76}"/>
              </a:ext>
            </a:extLst>
          </p:cNvPr>
          <p:cNvSpPr/>
          <p:nvPr/>
        </p:nvSpPr>
        <p:spPr>
          <a:xfrm>
            <a:off x="6391653" y="1893136"/>
            <a:ext cx="428284" cy="2"/>
          </a:xfrm>
          <a:prstGeom prst="line">
            <a:avLst/>
          </a:prstGeom>
          <a:noFill/>
          <a:ln w="12700">
            <a:solidFill>
              <a:srgbClr val="2D6A8F"/>
            </a:solidFill>
            <a:prstDash val="solid"/>
            <a:tailEnd type="stealth"/>
          </a:ln>
        </p:spPr>
        <p:txBody>
          <a:bodyPr/>
          <a:lstStyle/>
          <a:p>
            <a:endParaRPr lang="en-US"/>
          </a:p>
        </p:txBody>
      </p:sp>
      <p:sp>
        <p:nvSpPr>
          <p:cNvPr id="18" name="Shape 41">
            <a:extLst>
              <a:ext uri="{FF2B5EF4-FFF2-40B4-BE49-F238E27FC236}">
                <a16:creationId xmlns:a16="http://schemas.microsoft.com/office/drawing/2014/main" id="{75039C79-2B72-6AF5-3A1A-9BE87DFE086A}"/>
              </a:ext>
            </a:extLst>
          </p:cNvPr>
          <p:cNvSpPr/>
          <p:nvPr/>
        </p:nvSpPr>
        <p:spPr>
          <a:xfrm>
            <a:off x="6093783" y="1822860"/>
            <a:ext cx="211689" cy="211689"/>
          </a:xfrm>
          <a:prstGeom prst="ellipse">
            <a:avLst/>
          </a:prstGeom>
          <a:solidFill>
            <a:srgbClr val="1B2A4A"/>
          </a:solidFill>
          <a:ln w="6350">
            <a:solidFill>
              <a:srgbClr val="1B2A4A"/>
            </a:solidFill>
            <a:prstDash val="solid"/>
          </a:ln>
        </p:spPr>
        <p:txBody>
          <a:bodyPr/>
          <a:lstStyle/>
          <a:p>
            <a:endParaRPr lang="en-US"/>
          </a:p>
        </p:txBody>
      </p:sp>
      <p:sp>
        <p:nvSpPr>
          <p:cNvPr id="19" name="Shape 37">
            <a:extLst>
              <a:ext uri="{FF2B5EF4-FFF2-40B4-BE49-F238E27FC236}">
                <a16:creationId xmlns:a16="http://schemas.microsoft.com/office/drawing/2014/main" id="{4C4E7B6F-5440-34AF-5ADA-3463E55610A2}"/>
              </a:ext>
            </a:extLst>
          </p:cNvPr>
          <p:cNvSpPr/>
          <p:nvPr/>
        </p:nvSpPr>
        <p:spPr>
          <a:xfrm flipH="1" flipV="1">
            <a:off x="6372150" y="1979683"/>
            <a:ext cx="431982" cy="2"/>
          </a:xfrm>
          <a:prstGeom prst="line">
            <a:avLst/>
          </a:prstGeom>
          <a:noFill/>
          <a:ln w="12700">
            <a:solidFill>
              <a:srgbClr val="2D6A8F"/>
            </a:solidFill>
            <a:prstDash val="solid"/>
            <a:tailEnd type="stealth"/>
          </a:ln>
        </p:spPr>
        <p:txBody>
          <a:bodyPr/>
          <a:lstStyle/>
          <a:p>
            <a:endParaRPr lang="en-US"/>
          </a:p>
        </p:txBody>
      </p:sp>
      <p:sp>
        <p:nvSpPr>
          <p:cNvPr id="21" name="TextBox 20">
            <a:extLst>
              <a:ext uri="{FF2B5EF4-FFF2-40B4-BE49-F238E27FC236}">
                <a16:creationId xmlns:a16="http://schemas.microsoft.com/office/drawing/2014/main" id="{011FA0E2-7201-19E7-9124-BB3495F7C8A1}"/>
              </a:ext>
            </a:extLst>
          </p:cNvPr>
          <p:cNvSpPr txBox="1"/>
          <p:nvPr/>
        </p:nvSpPr>
        <p:spPr>
          <a:xfrm>
            <a:off x="4754880" y="1417894"/>
            <a:ext cx="227297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600" b="0" i="0" u="none" strike="noStrike" kern="1200" cap="none" spc="0" normalizeH="0" baseline="0" noProof="0" dirty="0">
                <a:ln>
                  <a:noFill/>
                </a:ln>
                <a:solidFill>
                  <a:srgbClr val="2D6A8F"/>
                </a:solidFill>
                <a:effectLst/>
                <a:uLnTx/>
                <a:uFillTx/>
                <a:latin typeface="Consolas" pitchFamily="34" charset="0"/>
                <a:ea typeface="Consolas" pitchFamily="34" charset="-122"/>
                <a:cs typeface="Consolas" pitchFamily="34" charset="-120"/>
              </a:rPr>
              <a:t>H→</a:t>
            </a:r>
            <a:r>
              <a:rPr lang="en-US" altLang="zh-CN" sz="1600" dirty="0">
                <a:solidFill>
                  <a:srgbClr val="2D6A8F"/>
                </a:solidFill>
                <a:latin typeface="Consolas" pitchFamily="34" charset="0"/>
                <a:ea typeface="Consolas" pitchFamily="34" charset="-122"/>
                <a:cs typeface="Consolas" pitchFamily="34" charset="-120"/>
              </a:rPr>
              <a:t>O</a:t>
            </a:r>
            <a:r>
              <a:rPr kumimoji="0" lang="en-US" sz="1600" b="0" i="0" u="none" strike="noStrike" kern="1200" cap="none" spc="0" normalizeH="0" baseline="0" noProof="0" dirty="0">
                <a:ln>
                  <a:noFill/>
                </a:ln>
                <a:solidFill>
                  <a:srgbClr val="2D6A8F"/>
                </a:solidFill>
                <a:effectLst/>
                <a:uLnTx/>
                <a:uFillTx/>
                <a:latin typeface="Consolas" pitchFamily="34" charset="0"/>
                <a:ea typeface="Consolas" pitchFamily="34" charset="-122"/>
                <a:cs typeface="Consolas" pitchFamily="34" charset="-120"/>
              </a:rPr>
              <a:t>→H </a:t>
            </a:r>
            <a:r>
              <a:rPr kumimoji="0" lang="en-US" sz="1600" b="0" i="0" u="none" strike="noStrike" kern="1200" cap="none" spc="0" normalizeH="0" baseline="0" noProof="0" dirty="0">
                <a:ln>
                  <a:noFill/>
                </a:ln>
                <a:solidFill>
                  <a:srgbClr val="5A6C7E"/>
                </a:solidFill>
                <a:effectLst/>
                <a:uLnTx/>
                <a:uFillTx/>
                <a:latin typeface="Calibri" panose="020F0502020204030204"/>
                <a:ea typeface="+mn-ea"/>
                <a:cs typeface="+mn-cs"/>
              </a:rPr>
              <a:t>Two</a:t>
            </a:r>
            <a:r>
              <a:rPr kumimoji="0" lang="zh-CN" altLang="en-US" sz="1600" b="0" i="0" u="none" strike="noStrike" kern="1200" cap="none" spc="0" normalizeH="0" baseline="0" noProof="0" dirty="0">
                <a:ln>
                  <a:noFill/>
                </a:ln>
                <a:solidFill>
                  <a:srgbClr val="5A6C7E"/>
                </a:solidFill>
                <a:effectLst/>
                <a:uLnTx/>
                <a:uFillTx/>
                <a:latin typeface="Calibri" panose="020F0502020204030204"/>
                <a:ea typeface="+mn-ea"/>
                <a:cs typeface="+mn-cs"/>
              </a:rPr>
              <a:t> </a:t>
            </a:r>
            <a:r>
              <a:rPr kumimoji="0" lang="en-US" altLang="zh-CN" sz="1600" b="0" i="0" u="none" strike="noStrike" kern="1200" cap="none" spc="0" normalizeH="0" baseline="0" noProof="0" dirty="0">
                <a:ln>
                  <a:noFill/>
                </a:ln>
                <a:solidFill>
                  <a:srgbClr val="5A6C7E"/>
                </a:solidFill>
                <a:effectLst/>
                <a:uLnTx/>
                <a:uFillTx/>
                <a:latin typeface="Calibri" panose="020F0502020204030204"/>
                <a:ea typeface="+mn-ea"/>
                <a:cs typeface="+mn-cs"/>
              </a:rPr>
              <a:t>stops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362DB67E-BBBD-BF98-3B92-0B347241F32C}"/>
              </a:ext>
            </a:extLst>
          </p:cNvPr>
          <p:cNvSpPr txBox="1"/>
          <p:nvPr/>
        </p:nvSpPr>
        <p:spPr>
          <a:xfrm>
            <a:off x="4754880" y="2220229"/>
            <a:ext cx="275897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600" b="0" i="0" u="none" strike="noStrike" kern="1200" cap="none" spc="0" normalizeH="0" baseline="0" noProof="0" dirty="0">
                <a:ln>
                  <a:noFill/>
                </a:ln>
                <a:solidFill>
                  <a:srgbClr val="0E8575"/>
                </a:solidFill>
                <a:effectLst/>
                <a:uLnTx/>
                <a:uFillTx/>
                <a:latin typeface="Consolas" pitchFamily="34" charset="0"/>
                <a:ea typeface="Consolas" pitchFamily="34" charset="-122"/>
                <a:cs typeface="Consolas" pitchFamily="34" charset="-120"/>
              </a:rPr>
              <a:t>H→W→O→H </a:t>
            </a:r>
            <a:r>
              <a:rPr kumimoji="0" lang="en-US" sz="1600" b="0" i="0" u="none" strike="noStrike" kern="1200" cap="none" spc="0" normalizeH="0" baseline="0" noProof="0" dirty="0">
                <a:ln>
                  <a:noFill/>
                </a:ln>
                <a:solidFill>
                  <a:srgbClr val="5A6C7E"/>
                </a:solidFill>
                <a:effectLst/>
                <a:uLnTx/>
                <a:uFillTx/>
                <a:latin typeface="Calibri" panose="020F0502020204030204"/>
                <a:ea typeface="+mn-ea"/>
                <a:cs typeface="+mn-cs"/>
              </a:rPr>
              <a:t>Commute + errand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F0238DF0-A14C-D73C-3355-56A2F99F7A76}"/>
              </a:ext>
            </a:extLst>
          </p:cNvPr>
          <p:cNvSpPr txBox="1"/>
          <p:nvPr/>
        </p:nvSpPr>
        <p:spPr>
          <a:xfrm>
            <a:off x="4754880" y="3218123"/>
            <a:ext cx="3931920" cy="338554"/>
          </a:xfrm>
          <a:prstGeom prst="rect">
            <a:avLst/>
          </a:prstGeom>
          <a:noFill/>
        </p:spPr>
        <p:txBody>
          <a:bodyPr wrap="square">
            <a:spAutoFit/>
          </a:bodyPr>
          <a:lstStyle/>
          <a:p>
            <a:pPr lvl="0">
              <a:spcAft>
                <a:spcPts val="100"/>
              </a:spcAft>
              <a:defRPr/>
            </a:pPr>
            <a:r>
              <a:rPr kumimoji="0" lang="en-US" sz="1600" b="0" i="0" u="none" strike="noStrike" kern="1200" cap="none" spc="0" normalizeH="0" baseline="0" noProof="0" dirty="0">
                <a:ln>
                  <a:noFill/>
                </a:ln>
                <a:solidFill>
                  <a:srgbClr val="E8734A"/>
                </a:solidFill>
                <a:effectLst/>
                <a:uLnTx/>
                <a:uFillTx/>
                <a:latin typeface="Consolas" pitchFamily="34" charset="0"/>
                <a:ea typeface="Consolas" pitchFamily="34" charset="-122"/>
                <a:cs typeface="Consolas" pitchFamily="34" charset="-120"/>
              </a:rPr>
              <a:t>H→W→O</a:t>
            </a:r>
            <a:r>
              <a:rPr lang="en-US" sz="1600" dirty="0">
                <a:solidFill>
                  <a:srgbClr val="E8734A"/>
                </a:solidFill>
                <a:latin typeface="Consolas" pitchFamily="34" charset="0"/>
                <a:ea typeface="Consolas" pitchFamily="34" charset="-122"/>
                <a:cs typeface="Consolas" pitchFamily="34" charset="-120"/>
              </a:rPr>
              <a:t>→W→H </a:t>
            </a:r>
            <a:r>
              <a:rPr kumimoji="0" lang="en-US" sz="1600" b="0" i="0" u="none" strike="noStrike" kern="1200" cap="none" spc="0" normalizeH="0" baseline="0" noProof="0" dirty="0">
                <a:ln>
                  <a:noFill/>
                </a:ln>
                <a:solidFill>
                  <a:srgbClr val="5A6C7E"/>
                </a:solidFill>
                <a:effectLst/>
                <a:uLnTx/>
                <a:uFillTx/>
                <a:latin typeface="Calibri" panose="020F0502020204030204"/>
                <a:ea typeface="+mn-ea"/>
                <a:cs typeface="+mn-cs"/>
              </a:rPr>
              <a:t>Multi-stop </a:t>
            </a:r>
            <a:r>
              <a:rPr lang="en-US" sz="1600" dirty="0">
                <a:solidFill>
                  <a:srgbClr val="5A6C7E"/>
                </a:solidFill>
                <a:latin typeface="Calibri" panose="020F0502020204030204"/>
              </a:rPr>
              <a:t>co</a:t>
            </a:r>
            <a:r>
              <a:rPr lang="en-US" altLang="zh-CN" sz="1600" dirty="0">
                <a:solidFill>
                  <a:srgbClr val="5A6C7E"/>
                </a:solidFill>
                <a:latin typeface="Calibri" panose="020F0502020204030204"/>
              </a:rPr>
              <a:t>mmute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37">
            <a:extLst>
              <a:ext uri="{FF2B5EF4-FFF2-40B4-BE49-F238E27FC236}">
                <a16:creationId xmlns:a16="http://schemas.microsoft.com/office/drawing/2014/main" id="{C74C5E05-8E07-A797-AB64-5C4FAFD35866}"/>
              </a:ext>
            </a:extLst>
          </p:cNvPr>
          <p:cNvSpPr/>
          <p:nvPr/>
        </p:nvSpPr>
        <p:spPr>
          <a:xfrm>
            <a:off x="6381714" y="2691974"/>
            <a:ext cx="428284" cy="2"/>
          </a:xfrm>
          <a:prstGeom prst="line">
            <a:avLst/>
          </a:prstGeom>
          <a:noFill/>
          <a:ln w="12700">
            <a:solidFill>
              <a:srgbClr val="2D6A8F"/>
            </a:solidFill>
            <a:prstDash val="solid"/>
            <a:tailEnd type="stealth"/>
          </a:ln>
        </p:spPr>
        <p:txBody>
          <a:bodyPr/>
          <a:lstStyle/>
          <a:p>
            <a:endParaRPr lang="en-US"/>
          </a:p>
        </p:txBody>
      </p:sp>
      <p:sp>
        <p:nvSpPr>
          <p:cNvPr id="12" name="Shape 40">
            <a:extLst>
              <a:ext uri="{FF2B5EF4-FFF2-40B4-BE49-F238E27FC236}">
                <a16:creationId xmlns:a16="http://schemas.microsoft.com/office/drawing/2014/main" id="{A76CE30B-D8B7-563F-009D-F968E026144F}"/>
              </a:ext>
            </a:extLst>
          </p:cNvPr>
          <p:cNvSpPr/>
          <p:nvPr/>
        </p:nvSpPr>
        <p:spPr>
          <a:xfrm>
            <a:off x="6872310" y="2591881"/>
            <a:ext cx="211689" cy="211689"/>
          </a:xfrm>
          <a:prstGeom prst="ellipse">
            <a:avLst/>
          </a:prstGeom>
          <a:solidFill>
            <a:schemeClr val="accent2">
              <a:lumMod val="50000"/>
            </a:schemeClr>
          </a:solidFill>
          <a:ln w="6350">
            <a:solidFill>
              <a:srgbClr val="1B2A4A"/>
            </a:solidFill>
            <a:prstDash val="solid"/>
          </a:ln>
        </p:spPr>
        <p:txBody>
          <a:bodyPr/>
          <a:lstStyle/>
          <a:p>
            <a:endParaRPr lang="en-US" dirty="0"/>
          </a:p>
        </p:txBody>
      </p:sp>
      <p:sp>
        <p:nvSpPr>
          <p:cNvPr id="13" name="Shape 41">
            <a:extLst>
              <a:ext uri="{FF2B5EF4-FFF2-40B4-BE49-F238E27FC236}">
                <a16:creationId xmlns:a16="http://schemas.microsoft.com/office/drawing/2014/main" id="{9F31DDB7-D397-30E0-70A7-4CDBF04FECC2}"/>
              </a:ext>
            </a:extLst>
          </p:cNvPr>
          <p:cNvSpPr/>
          <p:nvPr/>
        </p:nvSpPr>
        <p:spPr>
          <a:xfrm>
            <a:off x="6113661" y="2591881"/>
            <a:ext cx="211689" cy="211689"/>
          </a:xfrm>
          <a:prstGeom prst="ellipse">
            <a:avLst/>
          </a:prstGeom>
          <a:solidFill>
            <a:srgbClr val="1B2A4A"/>
          </a:solidFill>
          <a:ln w="6350">
            <a:solidFill>
              <a:srgbClr val="1B2A4A"/>
            </a:solidFill>
            <a:prstDash val="solid"/>
          </a:ln>
        </p:spPr>
        <p:txBody>
          <a:bodyPr/>
          <a:lstStyle/>
          <a:p>
            <a:endParaRPr lang="en-US"/>
          </a:p>
        </p:txBody>
      </p:sp>
      <p:sp>
        <p:nvSpPr>
          <p:cNvPr id="20" name="Shape 37">
            <a:extLst>
              <a:ext uri="{FF2B5EF4-FFF2-40B4-BE49-F238E27FC236}">
                <a16:creationId xmlns:a16="http://schemas.microsoft.com/office/drawing/2014/main" id="{AFFBC805-5162-8072-8E0A-C32723EFCA65}"/>
              </a:ext>
            </a:extLst>
          </p:cNvPr>
          <p:cNvSpPr/>
          <p:nvPr/>
        </p:nvSpPr>
        <p:spPr>
          <a:xfrm flipH="1">
            <a:off x="6703922" y="2835191"/>
            <a:ext cx="211687" cy="211689"/>
          </a:xfrm>
          <a:prstGeom prst="line">
            <a:avLst/>
          </a:prstGeom>
          <a:noFill/>
          <a:ln w="12700">
            <a:solidFill>
              <a:srgbClr val="2D6A8F"/>
            </a:solidFill>
            <a:prstDash val="solid"/>
            <a:tailEnd type="stealth"/>
          </a:ln>
        </p:spPr>
        <p:txBody>
          <a:bodyPr/>
          <a:lstStyle/>
          <a:p>
            <a:endParaRPr lang="en-US"/>
          </a:p>
        </p:txBody>
      </p:sp>
      <p:sp>
        <p:nvSpPr>
          <p:cNvPr id="22" name="Shape 40">
            <a:extLst>
              <a:ext uri="{FF2B5EF4-FFF2-40B4-BE49-F238E27FC236}">
                <a16:creationId xmlns:a16="http://schemas.microsoft.com/office/drawing/2014/main" id="{9E7B09C8-6D7A-D403-8C10-1323DAF20580}"/>
              </a:ext>
            </a:extLst>
          </p:cNvPr>
          <p:cNvSpPr/>
          <p:nvPr/>
        </p:nvSpPr>
        <p:spPr>
          <a:xfrm>
            <a:off x="6492235" y="3022564"/>
            <a:ext cx="211689" cy="211689"/>
          </a:xfrm>
          <a:prstGeom prst="ellipse">
            <a:avLst/>
          </a:prstGeom>
          <a:solidFill>
            <a:schemeClr val="accent6">
              <a:lumMod val="50000"/>
            </a:schemeClr>
          </a:solidFill>
          <a:ln w="6350">
            <a:solidFill>
              <a:srgbClr val="1B2A4A"/>
            </a:solidFill>
            <a:prstDash val="solid"/>
          </a:ln>
        </p:spPr>
        <p:txBody>
          <a:bodyPr/>
          <a:lstStyle/>
          <a:p>
            <a:endParaRPr lang="en-US" dirty="0"/>
          </a:p>
        </p:txBody>
      </p:sp>
      <p:sp>
        <p:nvSpPr>
          <p:cNvPr id="24" name="Shape 37">
            <a:extLst>
              <a:ext uri="{FF2B5EF4-FFF2-40B4-BE49-F238E27FC236}">
                <a16:creationId xmlns:a16="http://schemas.microsoft.com/office/drawing/2014/main" id="{4F20F578-5AD2-3A5E-65B6-64F9B8B2F633}"/>
              </a:ext>
            </a:extLst>
          </p:cNvPr>
          <p:cNvSpPr/>
          <p:nvPr/>
        </p:nvSpPr>
        <p:spPr>
          <a:xfrm flipH="1" flipV="1">
            <a:off x="6241772" y="2831444"/>
            <a:ext cx="207707" cy="195554"/>
          </a:xfrm>
          <a:prstGeom prst="line">
            <a:avLst/>
          </a:prstGeom>
          <a:noFill/>
          <a:ln w="12700">
            <a:solidFill>
              <a:srgbClr val="2D6A8F"/>
            </a:solidFill>
            <a:prstDash val="solid"/>
            <a:tailEnd type="stealth"/>
          </a:ln>
        </p:spPr>
        <p:txBody>
          <a:bodyPr/>
          <a:lstStyle/>
          <a:p>
            <a:endParaRPr lang="en-US"/>
          </a:p>
        </p:txBody>
      </p:sp>
      <p:sp>
        <p:nvSpPr>
          <p:cNvPr id="26" name="Shape 37">
            <a:extLst>
              <a:ext uri="{FF2B5EF4-FFF2-40B4-BE49-F238E27FC236}">
                <a16:creationId xmlns:a16="http://schemas.microsoft.com/office/drawing/2014/main" id="{9824AC31-4088-F856-D3FC-C7A9E8C80856}"/>
              </a:ext>
            </a:extLst>
          </p:cNvPr>
          <p:cNvSpPr/>
          <p:nvPr/>
        </p:nvSpPr>
        <p:spPr>
          <a:xfrm>
            <a:off x="6385257" y="3636030"/>
            <a:ext cx="428284" cy="2"/>
          </a:xfrm>
          <a:prstGeom prst="line">
            <a:avLst/>
          </a:prstGeom>
          <a:noFill/>
          <a:ln w="12700">
            <a:solidFill>
              <a:srgbClr val="2D6A8F"/>
            </a:solidFill>
            <a:prstDash val="solid"/>
            <a:tailEnd type="stealth"/>
          </a:ln>
        </p:spPr>
        <p:txBody>
          <a:bodyPr/>
          <a:lstStyle/>
          <a:p>
            <a:endParaRPr lang="en-US"/>
          </a:p>
        </p:txBody>
      </p:sp>
      <p:sp>
        <p:nvSpPr>
          <p:cNvPr id="28" name="Shape 41">
            <a:extLst>
              <a:ext uri="{FF2B5EF4-FFF2-40B4-BE49-F238E27FC236}">
                <a16:creationId xmlns:a16="http://schemas.microsoft.com/office/drawing/2014/main" id="{D5D418B0-854B-70E1-7AF4-9A124A09522C}"/>
              </a:ext>
            </a:extLst>
          </p:cNvPr>
          <p:cNvSpPr/>
          <p:nvPr/>
        </p:nvSpPr>
        <p:spPr>
          <a:xfrm>
            <a:off x="6087387" y="3595571"/>
            <a:ext cx="211689" cy="211689"/>
          </a:xfrm>
          <a:prstGeom prst="ellipse">
            <a:avLst/>
          </a:prstGeom>
          <a:solidFill>
            <a:srgbClr val="1B2A4A"/>
          </a:solidFill>
          <a:ln w="6350">
            <a:solidFill>
              <a:srgbClr val="1B2A4A"/>
            </a:solidFill>
            <a:prstDash val="solid"/>
          </a:ln>
        </p:spPr>
        <p:txBody>
          <a:bodyPr/>
          <a:lstStyle/>
          <a:p>
            <a:endParaRPr lang="en-US" dirty="0"/>
          </a:p>
        </p:txBody>
      </p:sp>
      <p:sp>
        <p:nvSpPr>
          <p:cNvPr id="29" name="Shape 37">
            <a:extLst>
              <a:ext uri="{FF2B5EF4-FFF2-40B4-BE49-F238E27FC236}">
                <a16:creationId xmlns:a16="http://schemas.microsoft.com/office/drawing/2014/main" id="{BB9B12C7-5DCD-D701-B0E4-BCB9D37CF9AC}"/>
              </a:ext>
            </a:extLst>
          </p:cNvPr>
          <p:cNvSpPr/>
          <p:nvPr/>
        </p:nvSpPr>
        <p:spPr>
          <a:xfrm flipH="1">
            <a:off x="6697526" y="3838881"/>
            <a:ext cx="211687" cy="211689"/>
          </a:xfrm>
          <a:prstGeom prst="line">
            <a:avLst/>
          </a:prstGeom>
          <a:noFill/>
          <a:ln w="12700">
            <a:solidFill>
              <a:srgbClr val="2D6A8F"/>
            </a:solidFill>
            <a:prstDash val="solid"/>
            <a:tailEnd type="stealth"/>
          </a:ln>
        </p:spPr>
        <p:txBody>
          <a:bodyPr/>
          <a:lstStyle/>
          <a:p>
            <a:endParaRPr lang="en-US"/>
          </a:p>
        </p:txBody>
      </p:sp>
      <p:sp>
        <p:nvSpPr>
          <p:cNvPr id="30" name="Shape 40">
            <a:extLst>
              <a:ext uri="{FF2B5EF4-FFF2-40B4-BE49-F238E27FC236}">
                <a16:creationId xmlns:a16="http://schemas.microsoft.com/office/drawing/2014/main" id="{8D006475-8A36-2D8E-46F2-AD08377ED197}"/>
              </a:ext>
            </a:extLst>
          </p:cNvPr>
          <p:cNvSpPr/>
          <p:nvPr/>
        </p:nvSpPr>
        <p:spPr>
          <a:xfrm>
            <a:off x="6485839" y="4026254"/>
            <a:ext cx="211689" cy="211689"/>
          </a:xfrm>
          <a:prstGeom prst="ellipse">
            <a:avLst/>
          </a:prstGeom>
          <a:solidFill>
            <a:schemeClr val="accent6">
              <a:lumMod val="50000"/>
            </a:schemeClr>
          </a:solidFill>
          <a:ln w="6350">
            <a:solidFill>
              <a:srgbClr val="1B2A4A"/>
            </a:solidFill>
            <a:prstDash val="solid"/>
          </a:ln>
        </p:spPr>
        <p:txBody>
          <a:bodyPr/>
          <a:lstStyle/>
          <a:p>
            <a:endParaRPr lang="en-US" dirty="0"/>
          </a:p>
        </p:txBody>
      </p:sp>
      <p:sp>
        <p:nvSpPr>
          <p:cNvPr id="31" name="Shape 37">
            <a:extLst>
              <a:ext uri="{FF2B5EF4-FFF2-40B4-BE49-F238E27FC236}">
                <a16:creationId xmlns:a16="http://schemas.microsoft.com/office/drawing/2014/main" id="{0E00B4A6-84A5-9945-9E26-3EB608696470}"/>
              </a:ext>
            </a:extLst>
          </p:cNvPr>
          <p:cNvSpPr/>
          <p:nvPr/>
        </p:nvSpPr>
        <p:spPr>
          <a:xfrm flipV="1">
            <a:off x="6780182" y="3868420"/>
            <a:ext cx="207912" cy="197711"/>
          </a:xfrm>
          <a:prstGeom prst="line">
            <a:avLst/>
          </a:prstGeom>
          <a:noFill/>
          <a:ln w="12700">
            <a:solidFill>
              <a:srgbClr val="2D6A8F"/>
            </a:solidFill>
            <a:prstDash val="solid"/>
            <a:tailEnd type="stealth"/>
          </a:ln>
        </p:spPr>
        <p:txBody>
          <a:bodyPr/>
          <a:lstStyle/>
          <a:p>
            <a:endParaRPr lang="en-US"/>
          </a:p>
        </p:txBody>
      </p:sp>
      <p:sp>
        <p:nvSpPr>
          <p:cNvPr id="33" name="Shape 40">
            <a:extLst>
              <a:ext uri="{FF2B5EF4-FFF2-40B4-BE49-F238E27FC236}">
                <a16:creationId xmlns:a16="http://schemas.microsoft.com/office/drawing/2014/main" id="{422E14C4-F0E4-5AAF-0C59-D65AC60EFDD1}"/>
              </a:ext>
            </a:extLst>
          </p:cNvPr>
          <p:cNvSpPr/>
          <p:nvPr/>
        </p:nvSpPr>
        <p:spPr>
          <a:xfrm>
            <a:off x="6922005" y="1830086"/>
            <a:ext cx="211689" cy="211689"/>
          </a:xfrm>
          <a:prstGeom prst="ellipse">
            <a:avLst/>
          </a:prstGeom>
          <a:solidFill>
            <a:schemeClr val="accent6">
              <a:lumMod val="50000"/>
            </a:schemeClr>
          </a:solidFill>
          <a:ln w="6350">
            <a:solidFill>
              <a:srgbClr val="1B2A4A"/>
            </a:solidFill>
            <a:prstDash val="solid"/>
          </a:ln>
        </p:spPr>
        <p:txBody>
          <a:bodyPr/>
          <a:lstStyle/>
          <a:p>
            <a:endParaRPr lang="en-US" dirty="0"/>
          </a:p>
        </p:txBody>
      </p:sp>
      <p:sp>
        <p:nvSpPr>
          <p:cNvPr id="34" name="Shape 40">
            <a:extLst>
              <a:ext uri="{FF2B5EF4-FFF2-40B4-BE49-F238E27FC236}">
                <a16:creationId xmlns:a16="http://schemas.microsoft.com/office/drawing/2014/main" id="{B95C5146-D667-3AB6-A435-912E103BEC36}"/>
              </a:ext>
            </a:extLst>
          </p:cNvPr>
          <p:cNvSpPr/>
          <p:nvPr/>
        </p:nvSpPr>
        <p:spPr>
          <a:xfrm>
            <a:off x="6915609" y="3600000"/>
            <a:ext cx="211689" cy="211689"/>
          </a:xfrm>
          <a:prstGeom prst="ellipse">
            <a:avLst/>
          </a:prstGeom>
          <a:solidFill>
            <a:schemeClr val="accent2">
              <a:lumMod val="50000"/>
            </a:schemeClr>
          </a:solidFill>
          <a:ln w="6350">
            <a:solidFill>
              <a:srgbClr val="1B2A4A"/>
            </a:solidFill>
            <a:prstDash val="solid"/>
          </a:ln>
        </p:spPr>
        <p:txBody>
          <a:bodyPr/>
          <a:lstStyle/>
          <a:p>
            <a:endParaRPr lang="en-US" dirty="0"/>
          </a:p>
        </p:txBody>
      </p:sp>
      <p:sp>
        <p:nvSpPr>
          <p:cNvPr id="35" name="Shape 37">
            <a:extLst>
              <a:ext uri="{FF2B5EF4-FFF2-40B4-BE49-F238E27FC236}">
                <a16:creationId xmlns:a16="http://schemas.microsoft.com/office/drawing/2014/main" id="{EC6C2898-0807-1591-52B4-C843DE825261}"/>
              </a:ext>
            </a:extLst>
          </p:cNvPr>
          <p:cNvSpPr/>
          <p:nvPr/>
        </p:nvSpPr>
        <p:spPr>
          <a:xfrm flipH="1" flipV="1">
            <a:off x="6375692" y="3726069"/>
            <a:ext cx="431982" cy="2"/>
          </a:xfrm>
          <a:prstGeom prst="line">
            <a:avLst/>
          </a:prstGeom>
          <a:noFill/>
          <a:ln w="12700">
            <a:solidFill>
              <a:srgbClr val="2D6A8F"/>
            </a:solidFill>
            <a:prstDash val="solid"/>
            <a:tailEnd type="stealth"/>
          </a:ln>
        </p:spPr>
        <p:txBody>
          <a:bodyPr/>
          <a:lstStyle/>
          <a:p>
            <a:endParaRPr lang="en-US"/>
          </a:p>
        </p:txBody>
      </p:sp>
      <p:sp>
        <p:nvSpPr>
          <p:cNvPr id="37" name="TextBox 36">
            <a:extLst>
              <a:ext uri="{FF2B5EF4-FFF2-40B4-BE49-F238E27FC236}">
                <a16:creationId xmlns:a16="http://schemas.microsoft.com/office/drawing/2014/main" id="{B75FA5A2-EC3A-A849-8E95-F0BB787CE7DC}"/>
              </a:ext>
            </a:extLst>
          </p:cNvPr>
          <p:cNvSpPr txBox="1"/>
          <p:nvPr/>
        </p:nvSpPr>
        <p:spPr>
          <a:xfrm>
            <a:off x="737839" y="1717732"/>
            <a:ext cx="3535988" cy="276999"/>
          </a:xfrm>
          <a:prstGeom prst="rect">
            <a:avLst/>
          </a:prstGeom>
          <a:noFill/>
        </p:spPr>
        <p:txBody>
          <a:bodyPr wrap="square">
            <a:spAutoFit/>
          </a:bodyPr>
          <a:lstStyle/>
          <a:p>
            <a:r>
              <a:rPr lang="en-US" altLang="zh-CN" sz="1200" dirty="0">
                <a:effectLst/>
                <a:latin typeface="Calibri" panose="020F0502020204030204" pitchFamily="34" charset="0"/>
                <a:ea typeface="MS Mincho" panose="02020609040205080304" pitchFamily="49" charset="-128"/>
                <a:cs typeface="Times New Roman" panose="02020603050405020304" pitchFamily="18" charset="0"/>
              </a:rPr>
              <a:t>(</a:t>
            </a:r>
            <a:r>
              <a:rPr lang="en-US" sz="1200" dirty="0">
                <a:effectLst/>
                <a:latin typeface="Calibri" panose="020F0502020204030204" pitchFamily="34" charset="0"/>
                <a:ea typeface="MS Mincho" panose="02020609040205080304" pitchFamily="49" charset="-128"/>
                <a:cs typeface="Times New Roman" panose="02020603050405020304" pitchFamily="18" charset="0"/>
              </a:rPr>
              <a:t>Schneider et al.</a:t>
            </a:r>
            <a:r>
              <a:rPr lang="en-US" altLang="zh-CN" sz="1200" dirty="0">
                <a:effectLst/>
                <a:latin typeface="Calibri" panose="020F0502020204030204" pitchFamily="34" charset="0"/>
                <a:ea typeface="MS Mincho" panose="02020609040205080304" pitchFamily="49" charset="-128"/>
                <a:cs typeface="Times New Roman" panose="02020603050405020304" pitchFamily="18" charset="0"/>
              </a:rPr>
              <a:t>,</a:t>
            </a:r>
            <a:r>
              <a:rPr lang="zh-CN" altLang="en-US" sz="12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200" dirty="0">
                <a:effectLst/>
                <a:latin typeface="Calibri" panose="020F0502020204030204" pitchFamily="34" charset="0"/>
                <a:ea typeface="MS Mincho" panose="02020609040205080304" pitchFamily="49" charset="-128"/>
                <a:cs typeface="Times New Roman" panose="02020603050405020304" pitchFamily="18" charset="0"/>
              </a:rPr>
              <a:t>2013</a:t>
            </a:r>
            <a:r>
              <a:rPr lang="en-US" altLang="zh-CN" sz="1200" dirty="0">
                <a:latin typeface="Calibri" panose="020F0502020204030204" pitchFamily="34" charset="0"/>
                <a:ea typeface="MS Mincho" panose="02020609040205080304" pitchFamily="49" charset="-128"/>
                <a:cs typeface="Times New Roman" panose="02020603050405020304" pitchFamily="18" charset="0"/>
              </a:rPr>
              <a:t>;</a:t>
            </a:r>
            <a:r>
              <a:rPr lang="en-US" sz="1200" dirty="0">
                <a:effectLst/>
                <a:latin typeface="Calibri" panose="020F0502020204030204" pitchFamily="34" charset="0"/>
                <a:ea typeface="MS Mincho" panose="02020609040205080304" pitchFamily="49" charset="-128"/>
                <a:cs typeface="Times New Roman" panose="02020603050405020304" pitchFamily="18" charset="0"/>
              </a:rPr>
              <a:t> Su et al.</a:t>
            </a:r>
            <a:r>
              <a:rPr lang="en-US" altLang="zh-CN" sz="1200" dirty="0">
                <a:effectLst/>
                <a:latin typeface="Calibri" panose="020F0502020204030204" pitchFamily="34" charset="0"/>
                <a:ea typeface="MS Mincho" panose="02020609040205080304" pitchFamily="49" charset="-128"/>
                <a:cs typeface="Times New Roman" panose="02020603050405020304" pitchFamily="18" charset="0"/>
              </a:rPr>
              <a:t>,</a:t>
            </a:r>
            <a:r>
              <a:rPr lang="zh-CN" altLang="en-US" sz="12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200" dirty="0">
                <a:effectLst/>
                <a:latin typeface="Calibri" panose="020F0502020204030204" pitchFamily="34" charset="0"/>
                <a:ea typeface="MS Mincho" panose="02020609040205080304" pitchFamily="49" charset="-128"/>
                <a:cs typeface="Times New Roman" panose="02020603050405020304" pitchFamily="18" charset="0"/>
              </a:rPr>
              <a:t>2020) </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00366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EBC11"/>
          </a:solidFill>
          <a:ln/>
        </p:spPr>
        <p:txBody>
          <a:bodyPr/>
          <a:lstStyle/>
          <a:p>
            <a:endParaRPr lang="en-US"/>
          </a:p>
        </p:txBody>
      </p:sp>
      <p:sp>
        <p:nvSpPr>
          <p:cNvPr id="3" name="Text 1"/>
          <p:cNvSpPr/>
          <p:nvPr/>
        </p:nvSpPr>
        <p:spPr>
          <a:xfrm>
            <a:off x="457200" y="274320"/>
            <a:ext cx="7315200" cy="54864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Research Questions</a:t>
            </a:r>
            <a:endParaRPr lang="en-US" sz="3200" dirty="0"/>
          </a:p>
        </p:txBody>
      </p:sp>
      <p:sp>
        <p:nvSpPr>
          <p:cNvPr id="4" name="Shape 2"/>
          <p:cNvSpPr/>
          <p:nvPr/>
        </p:nvSpPr>
        <p:spPr>
          <a:xfrm>
            <a:off x="457200" y="1051560"/>
            <a:ext cx="8229600" cy="1051560"/>
          </a:xfrm>
          <a:prstGeom prst="rect">
            <a:avLst/>
          </a:prstGeom>
          <a:solidFill>
            <a:srgbClr val="FFFFFF">
              <a:alpha val="92000"/>
            </a:srgbClr>
          </a:solidFill>
          <a:ln/>
        </p:spPr>
        <p:txBody>
          <a:bodyPr/>
          <a:lstStyle/>
          <a:p>
            <a:endParaRPr lang="en-US"/>
          </a:p>
        </p:txBody>
      </p:sp>
      <p:sp>
        <p:nvSpPr>
          <p:cNvPr id="5" name="Shape 3"/>
          <p:cNvSpPr/>
          <p:nvPr/>
        </p:nvSpPr>
        <p:spPr>
          <a:xfrm>
            <a:off x="457200" y="1051560"/>
            <a:ext cx="73152" cy="1051560"/>
          </a:xfrm>
          <a:prstGeom prst="rect">
            <a:avLst/>
          </a:prstGeom>
          <a:solidFill>
            <a:srgbClr val="009CA6"/>
          </a:solidFill>
          <a:ln/>
        </p:spPr>
        <p:txBody>
          <a:bodyPr/>
          <a:lstStyle/>
          <a:p>
            <a:endParaRPr lang="en-US"/>
          </a:p>
        </p:txBody>
      </p:sp>
      <p:sp>
        <p:nvSpPr>
          <p:cNvPr id="6" name="Shape 4"/>
          <p:cNvSpPr/>
          <p:nvPr/>
        </p:nvSpPr>
        <p:spPr>
          <a:xfrm>
            <a:off x="731520" y="1188720"/>
            <a:ext cx="777240" cy="365760"/>
          </a:xfrm>
          <a:prstGeom prst="roundRect">
            <a:avLst>
              <a:gd name="adj" fmla="val 25000"/>
            </a:avLst>
          </a:prstGeom>
          <a:solidFill>
            <a:srgbClr val="009CA6"/>
          </a:solidFill>
          <a:ln/>
        </p:spPr>
        <p:txBody>
          <a:bodyPr/>
          <a:lstStyle/>
          <a:p>
            <a:endParaRPr lang="en-US"/>
          </a:p>
        </p:txBody>
      </p:sp>
      <p:sp>
        <p:nvSpPr>
          <p:cNvPr id="7" name="Text 5"/>
          <p:cNvSpPr/>
          <p:nvPr/>
        </p:nvSpPr>
        <p:spPr>
          <a:xfrm>
            <a:off x="731520" y="1188720"/>
            <a:ext cx="777240" cy="365760"/>
          </a:xfrm>
          <a:prstGeom prst="rect">
            <a:avLst/>
          </a:prstGeom>
          <a:noFill/>
          <a:ln/>
        </p:spPr>
        <p:txBody>
          <a:bodyPr wrap="square" rtlCol="0" anchor="ctr"/>
          <a:lstStyle/>
          <a:p>
            <a:pPr marL="0" indent="0" algn="ctr">
              <a:buNone/>
            </a:pPr>
            <a:r>
              <a:rPr lang="en-US" sz="1600" b="1" dirty="0">
                <a:solidFill>
                  <a:srgbClr val="003660"/>
                </a:solidFill>
                <a:latin typeface="Calibri" pitchFamily="34" charset="0"/>
                <a:ea typeface="Calibri" pitchFamily="34" charset="-122"/>
                <a:cs typeface="Calibri" pitchFamily="34" charset="-120"/>
              </a:rPr>
              <a:t>RQ1</a:t>
            </a:r>
            <a:endParaRPr lang="en-US" sz="1600" dirty="0"/>
          </a:p>
        </p:txBody>
      </p:sp>
      <p:sp>
        <p:nvSpPr>
          <p:cNvPr id="8" name="Text 6"/>
          <p:cNvSpPr/>
          <p:nvPr/>
        </p:nvSpPr>
        <p:spPr>
          <a:xfrm>
            <a:off x="1691640" y="1143000"/>
            <a:ext cx="6766560" cy="320040"/>
          </a:xfrm>
          <a:prstGeom prst="rect">
            <a:avLst/>
          </a:prstGeom>
          <a:noFill/>
          <a:ln/>
        </p:spPr>
        <p:txBody>
          <a:bodyPr wrap="square" rtlCol="0" anchor="ctr"/>
          <a:lstStyle/>
          <a:p>
            <a:pPr marL="0" indent="0">
              <a:buNone/>
            </a:pPr>
            <a:r>
              <a:rPr lang="en-US" sz="1600" b="1" dirty="0">
                <a:latin typeface="Calibri" pitchFamily="34" charset="0"/>
                <a:ea typeface="Calibri" pitchFamily="34" charset="-122"/>
                <a:cs typeface="Calibri" pitchFamily="34" charset="-120"/>
              </a:rPr>
              <a:t>Spatial Patterns</a:t>
            </a:r>
            <a:endParaRPr lang="en-US" sz="1600" dirty="0"/>
          </a:p>
        </p:txBody>
      </p:sp>
      <p:sp>
        <p:nvSpPr>
          <p:cNvPr id="9" name="Text 7"/>
          <p:cNvSpPr/>
          <p:nvPr/>
        </p:nvSpPr>
        <p:spPr>
          <a:xfrm>
            <a:off x="1691640" y="1463040"/>
            <a:ext cx="6766560" cy="320040"/>
          </a:xfrm>
          <a:prstGeom prst="rect">
            <a:avLst/>
          </a:prstGeom>
          <a:noFill/>
          <a:ln/>
        </p:spPr>
        <p:txBody>
          <a:bodyPr wrap="square" rtlCol="0" anchor="ctr"/>
          <a:lstStyle/>
          <a:p>
            <a:pPr marL="0" indent="0">
              <a:lnSpc>
                <a:spcPct val="120000"/>
              </a:lnSpc>
              <a:buNone/>
            </a:pPr>
            <a:r>
              <a:rPr lang="en-US" sz="1400" i="1" dirty="0">
                <a:latin typeface="Calibri" pitchFamily="34" charset="0"/>
                <a:ea typeface="Calibri" pitchFamily="34" charset="-122"/>
                <a:cs typeface="Calibri" pitchFamily="34" charset="-120"/>
              </a:rPr>
              <a:t>What are the spatial patterns of daily activity space among California residents?</a:t>
            </a:r>
            <a:endParaRPr lang="en-US" sz="1400" dirty="0"/>
          </a:p>
        </p:txBody>
      </p:sp>
      <p:sp>
        <p:nvSpPr>
          <p:cNvPr id="10" name="Text 8"/>
          <p:cNvSpPr/>
          <p:nvPr/>
        </p:nvSpPr>
        <p:spPr>
          <a:xfrm>
            <a:off x="1691640" y="1783080"/>
            <a:ext cx="6766560" cy="228600"/>
          </a:xfrm>
          <a:prstGeom prst="rect">
            <a:avLst/>
          </a:prstGeom>
          <a:noFill/>
          <a:ln/>
        </p:spPr>
        <p:txBody>
          <a:bodyPr wrap="square" rtlCol="0" anchor="ctr"/>
          <a:lstStyle/>
          <a:p>
            <a:pPr marL="0" indent="0">
              <a:buNone/>
            </a:pPr>
            <a:endParaRPr lang="en-US" sz="900" dirty="0"/>
          </a:p>
        </p:txBody>
      </p:sp>
      <p:sp>
        <p:nvSpPr>
          <p:cNvPr id="11" name="Shape 9"/>
          <p:cNvSpPr/>
          <p:nvPr/>
        </p:nvSpPr>
        <p:spPr>
          <a:xfrm>
            <a:off x="457200" y="2286000"/>
            <a:ext cx="8229600" cy="1051560"/>
          </a:xfrm>
          <a:prstGeom prst="rect">
            <a:avLst/>
          </a:prstGeom>
          <a:solidFill>
            <a:srgbClr val="FFFFFF">
              <a:alpha val="92000"/>
            </a:srgbClr>
          </a:solidFill>
          <a:ln/>
        </p:spPr>
        <p:txBody>
          <a:bodyPr/>
          <a:lstStyle/>
          <a:p>
            <a:endParaRPr lang="en-US"/>
          </a:p>
        </p:txBody>
      </p:sp>
      <p:sp>
        <p:nvSpPr>
          <p:cNvPr id="12" name="Shape 10"/>
          <p:cNvSpPr/>
          <p:nvPr/>
        </p:nvSpPr>
        <p:spPr>
          <a:xfrm>
            <a:off x="457200" y="2286000"/>
            <a:ext cx="73152" cy="1051560"/>
          </a:xfrm>
          <a:prstGeom prst="rect">
            <a:avLst/>
          </a:prstGeom>
          <a:solidFill>
            <a:srgbClr val="FEBC11"/>
          </a:solidFill>
          <a:ln/>
        </p:spPr>
        <p:txBody>
          <a:bodyPr/>
          <a:lstStyle/>
          <a:p>
            <a:endParaRPr lang="en-US"/>
          </a:p>
        </p:txBody>
      </p:sp>
      <p:sp>
        <p:nvSpPr>
          <p:cNvPr id="13" name="Shape 11"/>
          <p:cNvSpPr/>
          <p:nvPr/>
        </p:nvSpPr>
        <p:spPr>
          <a:xfrm>
            <a:off x="731520" y="2423160"/>
            <a:ext cx="777240" cy="365760"/>
          </a:xfrm>
          <a:prstGeom prst="roundRect">
            <a:avLst>
              <a:gd name="adj" fmla="val 25000"/>
            </a:avLst>
          </a:prstGeom>
          <a:solidFill>
            <a:srgbClr val="FEBC11"/>
          </a:solidFill>
          <a:ln/>
        </p:spPr>
        <p:txBody>
          <a:bodyPr/>
          <a:lstStyle/>
          <a:p>
            <a:endParaRPr lang="en-US"/>
          </a:p>
        </p:txBody>
      </p:sp>
      <p:sp>
        <p:nvSpPr>
          <p:cNvPr id="14" name="Text 12"/>
          <p:cNvSpPr/>
          <p:nvPr/>
        </p:nvSpPr>
        <p:spPr>
          <a:xfrm>
            <a:off x="731520" y="2423160"/>
            <a:ext cx="777240" cy="365760"/>
          </a:xfrm>
          <a:prstGeom prst="rect">
            <a:avLst/>
          </a:prstGeom>
          <a:noFill/>
          <a:ln/>
        </p:spPr>
        <p:txBody>
          <a:bodyPr wrap="square" rtlCol="0" anchor="ctr"/>
          <a:lstStyle/>
          <a:p>
            <a:pPr marL="0" indent="0" algn="ctr">
              <a:buNone/>
            </a:pPr>
            <a:r>
              <a:rPr lang="en-US" sz="1600" b="1" dirty="0">
                <a:solidFill>
                  <a:srgbClr val="003660"/>
                </a:solidFill>
                <a:latin typeface="Calibri" pitchFamily="34" charset="0"/>
                <a:ea typeface="Calibri" pitchFamily="34" charset="-122"/>
                <a:cs typeface="Calibri" pitchFamily="34" charset="-120"/>
              </a:rPr>
              <a:t>RQ2</a:t>
            </a:r>
            <a:endParaRPr lang="en-US" sz="1600" dirty="0"/>
          </a:p>
        </p:txBody>
      </p:sp>
      <p:sp>
        <p:nvSpPr>
          <p:cNvPr id="15" name="Text 13"/>
          <p:cNvSpPr/>
          <p:nvPr/>
        </p:nvSpPr>
        <p:spPr>
          <a:xfrm>
            <a:off x="1691640" y="2377440"/>
            <a:ext cx="6766560" cy="320040"/>
          </a:xfrm>
          <a:prstGeom prst="rect">
            <a:avLst/>
          </a:prstGeom>
          <a:noFill/>
          <a:ln/>
        </p:spPr>
        <p:txBody>
          <a:bodyPr wrap="square" rtlCol="0" anchor="ctr"/>
          <a:lstStyle/>
          <a:p>
            <a:pPr marL="0" indent="0">
              <a:buNone/>
            </a:pPr>
            <a:r>
              <a:rPr lang="en-US" sz="1600" b="1" dirty="0">
                <a:latin typeface="Calibri" pitchFamily="34" charset="0"/>
                <a:ea typeface="Calibri" pitchFamily="34" charset="-122"/>
                <a:cs typeface="Calibri" pitchFamily="34" charset="-120"/>
              </a:rPr>
              <a:t>Determinants</a:t>
            </a:r>
            <a:endParaRPr lang="en-US" sz="1600" dirty="0"/>
          </a:p>
        </p:txBody>
      </p:sp>
      <p:sp>
        <p:nvSpPr>
          <p:cNvPr id="16" name="Text 14"/>
          <p:cNvSpPr/>
          <p:nvPr/>
        </p:nvSpPr>
        <p:spPr>
          <a:xfrm>
            <a:off x="1691640" y="2697480"/>
            <a:ext cx="6766560" cy="320040"/>
          </a:xfrm>
          <a:prstGeom prst="rect">
            <a:avLst/>
          </a:prstGeom>
          <a:noFill/>
          <a:ln/>
        </p:spPr>
        <p:txBody>
          <a:bodyPr wrap="square" rtlCol="0" anchor="ctr"/>
          <a:lstStyle/>
          <a:p>
            <a:pPr marL="0" indent="0">
              <a:buNone/>
            </a:pPr>
            <a:r>
              <a:rPr lang="en-US" sz="1400" i="1" dirty="0">
                <a:latin typeface="Calibri" pitchFamily="34" charset="0"/>
                <a:ea typeface="Calibri" pitchFamily="34" charset="-122"/>
                <a:cs typeface="Calibri" pitchFamily="34" charset="-120"/>
              </a:rPr>
              <a:t>Controlling for trip chain structure, what individual, household, and built-environment factors shape activity space extent?</a:t>
            </a:r>
            <a:endParaRPr lang="en-US" sz="1400" dirty="0"/>
          </a:p>
        </p:txBody>
      </p:sp>
      <p:sp>
        <p:nvSpPr>
          <p:cNvPr id="18" name="Shape 16"/>
          <p:cNvSpPr/>
          <p:nvPr/>
        </p:nvSpPr>
        <p:spPr>
          <a:xfrm>
            <a:off x="457200" y="3520440"/>
            <a:ext cx="8229600" cy="1051560"/>
          </a:xfrm>
          <a:prstGeom prst="rect">
            <a:avLst/>
          </a:prstGeom>
          <a:solidFill>
            <a:srgbClr val="FFFFFF">
              <a:alpha val="92000"/>
            </a:srgbClr>
          </a:solidFill>
          <a:ln/>
        </p:spPr>
        <p:txBody>
          <a:bodyPr/>
          <a:lstStyle/>
          <a:p>
            <a:endParaRPr lang="en-US"/>
          </a:p>
        </p:txBody>
      </p:sp>
      <p:sp>
        <p:nvSpPr>
          <p:cNvPr id="19" name="Shape 17"/>
          <p:cNvSpPr/>
          <p:nvPr/>
        </p:nvSpPr>
        <p:spPr>
          <a:xfrm>
            <a:off x="457200" y="3520440"/>
            <a:ext cx="73152" cy="1051560"/>
          </a:xfrm>
          <a:prstGeom prst="rect">
            <a:avLst/>
          </a:prstGeom>
          <a:solidFill>
            <a:srgbClr val="DD6B20"/>
          </a:solidFill>
          <a:ln/>
        </p:spPr>
        <p:txBody>
          <a:bodyPr/>
          <a:lstStyle/>
          <a:p>
            <a:endParaRPr lang="en-US"/>
          </a:p>
        </p:txBody>
      </p:sp>
      <p:sp>
        <p:nvSpPr>
          <p:cNvPr id="20" name="Shape 18"/>
          <p:cNvSpPr/>
          <p:nvPr/>
        </p:nvSpPr>
        <p:spPr>
          <a:xfrm>
            <a:off x="731520" y="3657600"/>
            <a:ext cx="777240" cy="365760"/>
          </a:xfrm>
          <a:prstGeom prst="roundRect">
            <a:avLst>
              <a:gd name="adj" fmla="val 25000"/>
            </a:avLst>
          </a:prstGeom>
          <a:solidFill>
            <a:srgbClr val="DD6B20"/>
          </a:solidFill>
          <a:ln/>
        </p:spPr>
        <p:txBody>
          <a:bodyPr/>
          <a:lstStyle/>
          <a:p>
            <a:endParaRPr lang="en-US"/>
          </a:p>
        </p:txBody>
      </p:sp>
      <p:sp>
        <p:nvSpPr>
          <p:cNvPr id="21" name="Text 19"/>
          <p:cNvSpPr/>
          <p:nvPr/>
        </p:nvSpPr>
        <p:spPr>
          <a:xfrm>
            <a:off x="731520" y="3657600"/>
            <a:ext cx="777240" cy="365760"/>
          </a:xfrm>
          <a:prstGeom prst="rect">
            <a:avLst/>
          </a:prstGeom>
          <a:noFill/>
          <a:ln/>
        </p:spPr>
        <p:txBody>
          <a:bodyPr wrap="square" rtlCol="0" anchor="ctr"/>
          <a:lstStyle/>
          <a:p>
            <a:pPr marL="0" indent="0" algn="ctr">
              <a:buNone/>
            </a:pPr>
            <a:r>
              <a:rPr lang="en-US" sz="1600" b="1" dirty="0">
                <a:solidFill>
                  <a:srgbClr val="003660"/>
                </a:solidFill>
                <a:latin typeface="Calibri" pitchFamily="34" charset="0"/>
                <a:ea typeface="Calibri" pitchFamily="34" charset="-122"/>
                <a:cs typeface="Calibri" pitchFamily="34" charset="-120"/>
              </a:rPr>
              <a:t>RQ3</a:t>
            </a:r>
            <a:endParaRPr lang="en-US" sz="1600" dirty="0"/>
          </a:p>
        </p:txBody>
      </p:sp>
      <p:sp>
        <p:nvSpPr>
          <p:cNvPr id="22" name="Text 20"/>
          <p:cNvSpPr/>
          <p:nvPr/>
        </p:nvSpPr>
        <p:spPr>
          <a:xfrm>
            <a:off x="1691640" y="3611880"/>
            <a:ext cx="6766560" cy="320040"/>
          </a:xfrm>
          <a:prstGeom prst="rect">
            <a:avLst/>
          </a:prstGeom>
          <a:noFill/>
          <a:ln/>
        </p:spPr>
        <p:txBody>
          <a:bodyPr wrap="square" rtlCol="0" anchor="ctr"/>
          <a:lstStyle/>
          <a:p>
            <a:pPr marL="0" indent="0">
              <a:buNone/>
            </a:pPr>
            <a:r>
              <a:rPr lang="en-US" sz="1600" b="1" dirty="0">
                <a:latin typeface="Calibri" pitchFamily="34" charset="0"/>
                <a:ea typeface="Calibri" pitchFamily="34" charset="-122"/>
                <a:cs typeface="Calibri" pitchFamily="34" charset="-120"/>
              </a:rPr>
              <a:t>Spatial Heterogeneity</a:t>
            </a:r>
            <a:endParaRPr lang="en-US" sz="1600" dirty="0"/>
          </a:p>
        </p:txBody>
      </p:sp>
      <p:sp>
        <p:nvSpPr>
          <p:cNvPr id="23" name="Text 21"/>
          <p:cNvSpPr/>
          <p:nvPr/>
        </p:nvSpPr>
        <p:spPr>
          <a:xfrm>
            <a:off x="1691640" y="3931920"/>
            <a:ext cx="6766560" cy="320040"/>
          </a:xfrm>
          <a:prstGeom prst="rect">
            <a:avLst/>
          </a:prstGeom>
          <a:noFill/>
          <a:ln/>
        </p:spPr>
        <p:txBody>
          <a:bodyPr wrap="square" rtlCol="0" anchor="ctr"/>
          <a:lstStyle/>
          <a:p>
            <a:r>
              <a:rPr lang="en-US" sz="1400" i="1" dirty="0">
                <a:latin typeface="Calibri" pitchFamily="34" charset="0"/>
                <a:cs typeface="Calibri" pitchFamily="34" charset="-120"/>
              </a:rPr>
              <a:t>How does the effect of home-based accessibility on activity space vary across California?</a:t>
            </a:r>
          </a:p>
        </p:txBody>
      </p:sp>
      <p:sp>
        <p:nvSpPr>
          <p:cNvPr id="24" name="Text 22"/>
          <p:cNvSpPr/>
          <p:nvPr/>
        </p:nvSpPr>
        <p:spPr>
          <a:xfrm>
            <a:off x="1691640" y="4251960"/>
            <a:ext cx="6766560" cy="228600"/>
          </a:xfrm>
          <a:prstGeom prst="rect">
            <a:avLst/>
          </a:prstGeom>
          <a:noFill/>
          <a:ln/>
        </p:spPr>
        <p:txBody>
          <a:bodyPr wrap="square" rtlCol="0" anchor="ctr"/>
          <a:lstStyle/>
          <a:p>
            <a:pPr marL="0" indent="0">
              <a:buNone/>
            </a:pPr>
            <a:endParaRPr lang="en-US" sz="900" dirty="0"/>
          </a:p>
        </p:txBody>
      </p:sp>
      <p:sp>
        <p:nvSpPr>
          <p:cNvPr id="25" name="Text 23"/>
          <p:cNvSpPr/>
          <p:nvPr/>
        </p:nvSpPr>
        <p:spPr>
          <a:xfrm>
            <a:off x="457200" y="4572000"/>
            <a:ext cx="8229600" cy="274320"/>
          </a:xfrm>
          <a:prstGeom prst="rect">
            <a:avLst/>
          </a:prstGeom>
          <a:noFill/>
          <a:ln/>
        </p:spPr>
        <p:txBody>
          <a:bodyPr wrap="square" rtlCol="0" anchor="ctr"/>
          <a:lstStyle/>
          <a:p>
            <a:pPr marL="0" indent="0" algn="ctr">
              <a:buNone/>
            </a:pPr>
            <a:r>
              <a:rPr lang="en-US" b="1" dirty="0">
                <a:solidFill>
                  <a:srgbClr val="FEBC11"/>
                </a:solidFill>
                <a:latin typeface="Calibri" pitchFamily="34" charset="0"/>
                <a:ea typeface="Calibri" pitchFamily="34" charset="-122"/>
                <a:cs typeface="Calibri" pitchFamily="34" charset="-120"/>
              </a:rPr>
              <a:t>Pattern  →  Mechanism  →  Spatial Variation</a:t>
            </a:r>
            <a:endParaRPr lang="en-US" dirty="0"/>
          </a:p>
        </p:txBody>
      </p:sp>
      <p:sp>
        <p:nvSpPr>
          <p:cNvPr id="26" name="Text 24"/>
          <p:cNvSpPr/>
          <p:nvPr/>
        </p:nvSpPr>
        <p:spPr>
          <a:xfrm>
            <a:off x="8412480" y="4800600"/>
            <a:ext cx="457200" cy="274320"/>
          </a:xfrm>
          <a:prstGeom prst="rect">
            <a:avLst/>
          </a:prstGeom>
          <a:noFill/>
          <a:ln/>
        </p:spPr>
        <p:txBody>
          <a:bodyPr wrap="square" rtlCol="0" anchor="ctr"/>
          <a:lstStyle/>
          <a:p>
            <a:pPr marL="0" indent="0" algn="r">
              <a:buNone/>
            </a:pPr>
            <a:r>
              <a:rPr lang="en-US" sz="750" dirty="0">
                <a:solidFill>
                  <a:srgbClr val="8C96A0"/>
                </a:solidFill>
                <a:latin typeface="Calibri" pitchFamily="34" charset="0"/>
                <a:ea typeface="Calibri" pitchFamily="34" charset="-122"/>
                <a:cs typeface="Calibri" pitchFamily="34" charset="-120"/>
              </a:rPr>
              <a:t>3</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3660"/>
          </a:solidFill>
          <a:ln/>
        </p:spPr>
        <p:txBody>
          <a:bodyPr/>
          <a:lstStyle/>
          <a:p>
            <a:endParaRPr lang="en-US"/>
          </a:p>
        </p:txBody>
      </p:sp>
      <p:sp>
        <p:nvSpPr>
          <p:cNvPr id="3" name="Text 1"/>
          <p:cNvSpPr/>
          <p:nvPr/>
        </p:nvSpPr>
        <p:spPr>
          <a:xfrm>
            <a:off x="258420" y="111097"/>
            <a:ext cx="5486400" cy="502920"/>
          </a:xfrm>
          <a:prstGeom prst="rect">
            <a:avLst/>
          </a:prstGeom>
          <a:noFill/>
          <a:ln/>
        </p:spPr>
        <p:txBody>
          <a:bodyPr wrap="square" rtlCol="0" anchor="ctr"/>
          <a:lstStyle/>
          <a:p>
            <a:pPr marL="0" indent="0">
              <a:buNone/>
            </a:pPr>
            <a:r>
              <a:rPr lang="en-US" sz="2400" b="1" dirty="0">
                <a:solidFill>
                  <a:srgbClr val="003660"/>
                </a:solidFill>
                <a:latin typeface="Georgia" pitchFamily="34" charset="0"/>
                <a:ea typeface="Georgia" pitchFamily="34" charset="-122"/>
                <a:cs typeface="Georgia" pitchFamily="34" charset="-120"/>
              </a:rPr>
              <a:t>Data &amp;</a:t>
            </a:r>
            <a:r>
              <a:rPr lang="zh-CN" altLang="en-US" sz="2400" b="1" dirty="0">
                <a:solidFill>
                  <a:srgbClr val="003660"/>
                </a:solidFill>
                <a:latin typeface="Georgia" pitchFamily="34" charset="0"/>
                <a:ea typeface="Georgia" pitchFamily="34" charset="-122"/>
                <a:cs typeface="Georgia" pitchFamily="34" charset="-120"/>
              </a:rPr>
              <a:t> </a:t>
            </a:r>
            <a:r>
              <a:rPr lang="en-US" altLang="zh-CN" sz="2400" b="1" dirty="0">
                <a:solidFill>
                  <a:srgbClr val="003660"/>
                </a:solidFill>
                <a:latin typeface="Georgia" pitchFamily="34" charset="0"/>
                <a:ea typeface="Georgia" pitchFamily="34" charset="-122"/>
                <a:cs typeface="Georgia" pitchFamily="34" charset="-120"/>
              </a:rPr>
              <a:t>Preprocessing</a:t>
            </a:r>
            <a:endParaRPr lang="en-US" sz="2400" dirty="0"/>
          </a:p>
        </p:txBody>
      </p:sp>
      <p:sp>
        <p:nvSpPr>
          <p:cNvPr id="4" name="Shape 2"/>
          <p:cNvSpPr/>
          <p:nvPr/>
        </p:nvSpPr>
        <p:spPr>
          <a:xfrm>
            <a:off x="258420" y="702685"/>
            <a:ext cx="4572000" cy="4097915"/>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258420" y="700697"/>
            <a:ext cx="4572000" cy="45720"/>
          </a:xfrm>
          <a:prstGeom prst="rect">
            <a:avLst/>
          </a:prstGeom>
          <a:solidFill>
            <a:srgbClr val="009CA6"/>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351849" y="1890418"/>
            <a:ext cx="228600" cy="228600"/>
          </a:xfrm>
          <a:prstGeom prst="rect">
            <a:avLst/>
          </a:prstGeom>
        </p:spPr>
      </p:pic>
      <p:sp>
        <p:nvSpPr>
          <p:cNvPr id="7" name="Text 4"/>
          <p:cNvSpPr/>
          <p:nvPr/>
        </p:nvSpPr>
        <p:spPr>
          <a:xfrm>
            <a:off x="624180" y="1862590"/>
            <a:ext cx="3200400" cy="274320"/>
          </a:xfrm>
          <a:prstGeom prst="rect">
            <a:avLst/>
          </a:prstGeom>
          <a:noFill/>
          <a:ln/>
        </p:spPr>
        <p:txBody>
          <a:bodyPr wrap="square" rtlCol="0" anchor="ctr"/>
          <a:lstStyle/>
          <a:p>
            <a:pPr marL="0" indent="0">
              <a:buNone/>
            </a:pPr>
            <a:r>
              <a:rPr lang="en-US" sz="1400" b="1" dirty="0">
                <a:solidFill>
                  <a:srgbClr val="003660"/>
                </a:solidFill>
                <a:latin typeface="Calibri" pitchFamily="34" charset="0"/>
                <a:ea typeface="Calibri" pitchFamily="34" charset="-122"/>
                <a:cs typeface="Calibri" pitchFamily="34" charset="-120"/>
              </a:rPr>
              <a:t>Sample Processing Pipeline</a:t>
            </a:r>
            <a:endParaRPr lang="en-US" sz="1400" dirty="0"/>
          </a:p>
        </p:txBody>
      </p:sp>
      <p:sp>
        <p:nvSpPr>
          <p:cNvPr id="8" name="Shape 5"/>
          <p:cNvSpPr/>
          <p:nvPr/>
        </p:nvSpPr>
        <p:spPr>
          <a:xfrm>
            <a:off x="487020" y="2154801"/>
            <a:ext cx="4114800" cy="320040"/>
          </a:xfrm>
          <a:prstGeom prst="rect">
            <a:avLst/>
          </a:prstGeom>
          <a:solidFill>
            <a:srgbClr val="E8ECF1"/>
          </a:solidFill>
          <a:ln/>
        </p:spPr>
        <p:txBody>
          <a:bodyPr/>
          <a:lstStyle/>
          <a:p>
            <a:endParaRPr lang="en-US"/>
          </a:p>
        </p:txBody>
      </p:sp>
      <p:sp>
        <p:nvSpPr>
          <p:cNvPr id="9" name="Text 6"/>
          <p:cNvSpPr/>
          <p:nvPr/>
        </p:nvSpPr>
        <p:spPr>
          <a:xfrm>
            <a:off x="624180" y="2132137"/>
            <a:ext cx="3840480" cy="342704"/>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N = 55,819  </a:t>
            </a:r>
            <a:r>
              <a:rPr lang="en-US" sz="900" dirty="0">
                <a:solidFill>
                  <a:srgbClr val="2D3748"/>
                </a:solidFill>
                <a:latin typeface="Calibri" pitchFamily="34" charset="0"/>
                <a:ea typeface="Calibri" pitchFamily="34" charset="-122"/>
                <a:cs typeface="Calibri" pitchFamily="34" charset="-120"/>
              </a:rPr>
              <a:t>NHTS CA Add-On (total persons)</a:t>
            </a:r>
            <a:endParaRPr lang="en-US" sz="1200" dirty="0"/>
          </a:p>
        </p:txBody>
      </p:sp>
      <p:sp>
        <p:nvSpPr>
          <p:cNvPr id="10" name="Text 7"/>
          <p:cNvSpPr/>
          <p:nvPr/>
        </p:nvSpPr>
        <p:spPr>
          <a:xfrm>
            <a:off x="2315820" y="2429121"/>
            <a:ext cx="457200" cy="182880"/>
          </a:xfrm>
          <a:prstGeom prst="rect">
            <a:avLst/>
          </a:prstGeom>
          <a:noFill/>
          <a:ln/>
        </p:spPr>
        <p:txBody>
          <a:bodyPr wrap="square" rtlCol="0" anchor="ctr"/>
          <a:lstStyle/>
          <a:p>
            <a:pPr marL="0" indent="0" algn="ctr">
              <a:buNone/>
            </a:pPr>
            <a:r>
              <a:rPr lang="en-US" sz="800" dirty="0">
                <a:solidFill>
                  <a:srgbClr val="8C96A0"/>
                </a:solidFill>
              </a:rPr>
              <a:t>▼</a:t>
            </a:r>
            <a:endParaRPr lang="en-US" sz="800" dirty="0"/>
          </a:p>
        </p:txBody>
      </p:sp>
      <p:sp>
        <p:nvSpPr>
          <p:cNvPr id="14" name="Shape 11"/>
          <p:cNvSpPr/>
          <p:nvPr/>
        </p:nvSpPr>
        <p:spPr>
          <a:xfrm>
            <a:off x="852780" y="2584569"/>
            <a:ext cx="3383280" cy="1024128"/>
          </a:xfrm>
          <a:prstGeom prst="rect">
            <a:avLst/>
          </a:prstGeom>
          <a:solidFill>
            <a:srgbClr val="E6F7F8"/>
          </a:solidFill>
          <a:ln/>
        </p:spPr>
        <p:txBody>
          <a:bodyPr/>
          <a:lstStyle/>
          <a:p>
            <a:endParaRPr lang="en-US"/>
          </a:p>
        </p:txBody>
      </p:sp>
      <p:sp>
        <p:nvSpPr>
          <p:cNvPr id="15" name="Text 12"/>
          <p:cNvSpPr/>
          <p:nvPr/>
        </p:nvSpPr>
        <p:spPr>
          <a:xfrm>
            <a:off x="1058520" y="2584569"/>
            <a:ext cx="3108960" cy="1024128"/>
          </a:xfrm>
          <a:prstGeom prst="rect">
            <a:avLst/>
          </a:prstGeom>
          <a:noFill/>
          <a:ln/>
        </p:spPr>
        <p:txBody>
          <a:bodyPr wrap="square" rtlCol="0" anchor="ctr"/>
          <a:lstStyle/>
          <a:p>
            <a:pPr marL="107950" lvl="0" algn="just">
              <a:lnSpc>
                <a:spcPct val="115000"/>
              </a:lnSpc>
              <a:buSzPts val="1900"/>
            </a:pPr>
            <a:r>
              <a:rPr lang="en-US" sz="900" dirty="0">
                <a:solidFill>
                  <a:srgbClr val="2D3748"/>
                </a:solidFill>
                <a:latin typeface="Calibri" pitchFamily="34" charset="0"/>
                <a:cs typeface="Calibri" pitchFamily="34" charset="-120"/>
              </a:rPr>
              <a:t>Non-holiday weekdays.</a:t>
            </a:r>
          </a:p>
          <a:p>
            <a:pPr marL="107950" lvl="0" algn="just">
              <a:lnSpc>
                <a:spcPct val="115000"/>
              </a:lnSpc>
              <a:buSzPts val="1900"/>
            </a:pPr>
            <a:r>
              <a:rPr lang="en-US" sz="900" dirty="0">
                <a:solidFill>
                  <a:srgbClr val="2D3748"/>
                </a:solidFill>
                <a:latin typeface="Calibri" pitchFamily="34" charset="0"/>
                <a:cs typeface="Calibri" pitchFamily="34" charset="-120"/>
              </a:rPr>
              <a:t>Leave home at least once on the reported day</a:t>
            </a:r>
            <a:r>
              <a:rPr lang="en-US" altLang="zh-CN" sz="900" dirty="0">
                <a:solidFill>
                  <a:srgbClr val="2D3748"/>
                </a:solidFill>
                <a:latin typeface="Calibri" pitchFamily="34" charset="0"/>
                <a:cs typeface="Calibri" pitchFamily="34" charset="-120"/>
              </a:rPr>
              <a:t>.</a:t>
            </a:r>
            <a:endParaRPr lang="en-US" sz="900" dirty="0">
              <a:solidFill>
                <a:srgbClr val="2D3748"/>
              </a:solidFill>
              <a:latin typeface="Calibri" pitchFamily="34" charset="0"/>
              <a:cs typeface="Calibri" pitchFamily="34" charset="-120"/>
            </a:endParaRPr>
          </a:p>
          <a:p>
            <a:pPr marL="107950" algn="just">
              <a:lnSpc>
                <a:spcPct val="115000"/>
              </a:lnSpc>
              <a:buSzPts val="1900"/>
            </a:pPr>
            <a:r>
              <a:rPr lang="en-US" sz="900" dirty="0">
                <a:solidFill>
                  <a:srgbClr val="2D3748"/>
                </a:solidFill>
                <a:latin typeface="Calibri" pitchFamily="34" charset="0"/>
                <a:cs typeface="Calibri" pitchFamily="34" charset="-120"/>
              </a:rPr>
              <a:t>With neighbors within a four-kilometer driving distance (Open Street Map data)</a:t>
            </a:r>
            <a:r>
              <a:rPr lang="en-US" altLang="zh-CN" sz="900" dirty="0">
                <a:solidFill>
                  <a:srgbClr val="2D3748"/>
                </a:solidFill>
                <a:latin typeface="Calibri" pitchFamily="34" charset="0"/>
                <a:cs typeface="Calibri" pitchFamily="34" charset="-120"/>
              </a:rPr>
              <a:t>:</a:t>
            </a:r>
            <a:r>
              <a:rPr lang="zh-CN" altLang="en-US" sz="900" dirty="0">
                <a:solidFill>
                  <a:srgbClr val="2D3748"/>
                </a:solidFill>
                <a:latin typeface="Calibri" pitchFamily="34" charset="0"/>
                <a:cs typeface="Calibri" pitchFamily="34" charset="-120"/>
              </a:rPr>
              <a:t> </a:t>
            </a:r>
            <a:r>
              <a:rPr lang="en-US" sz="900" dirty="0">
                <a:solidFill>
                  <a:srgbClr val="003660"/>
                </a:solidFill>
                <a:latin typeface="Calibri" pitchFamily="34" charset="0"/>
                <a:ea typeface="Calibri" pitchFamily="34" charset="-122"/>
                <a:cs typeface="Calibri" pitchFamily="34" charset="-120"/>
              </a:rPr>
              <a:t>Spatial Weights</a:t>
            </a:r>
            <a:r>
              <a:rPr lang="en-US" altLang="zh-CN" sz="900" dirty="0">
                <a:solidFill>
                  <a:srgbClr val="003660"/>
                </a:solidFill>
                <a:latin typeface="Calibri" pitchFamily="34" charset="0"/>
                <a:ea typeface="Calibri" pitchFamily="34" charset="-122"/>
                <a:cs typeface="Calibri" pitchFamily="34" charset="-120"/>
              </a:rPr>
              <a:t>.</a:t>
            </a:r>
            <a:endParaRPr lang="en-US" sz="900" dirty="0">
              <a:solidFill>
                <a:srgbClr val="2D3748"/>
              </a:solidFill>
              <a:latin typeface="Calibri" pitchFamily="34" charset="0"/>
              <a:cs typeface="Calibri" pitchFamily="34" charset="-120"/>
            </a:endParaRPr>
          </a:p>
          <a:p>
            <a:pPr marL="107950" lvl="0" algn="just">
              <a:lnSpc>
                <a:spcPct val="115000"/>
              </a:lnSpc>
              <a:buSzPts val="1900"/>
            </a:pPr>
            <a:r>
              <a:rPr lang="en-US" sz="900" dirty="0">
                <a:solidFill>
                  <a:srgbClr val="2D3748"/>
                </a:solidFill>
                <a:latin typeface="Calibri" pitchFamily="34" charset="0"/>
                <a:cs typeface="Calibri" pitchFamily="34" charset="-120"/>
              </a:rPr>
              <a:t>Non-missing ASI &amp;</a:t>
            </a:r>
            <a:r>
              <a:rPr lang="en-US" sz="900" dirty="0">
                <a:solidFill>
                  <a:srgbClr val="2D3748"/>
                </a:solidFill>
                <a:latin typeface="Calibri" pitchFamily="34" charset="0"/>
                <a:ea typeface="Calibri" pitchFamily="34" charset="-122"/>
                <a:cs typeface="Calibri" pitchFamily="34" charset="-120"/>
              </a:rPr>
              <a:t> ASI &lt; 100 km (outliers removed)</a:t>
            </a:r>
            <a:r>
              <a:rPr lang="en-US" altLang="zh-CN" sz="900" dirty="0">
                <a:solidFill>
                  <a:srgbClr val="2D3748"/>
                </a:solidFill>
                <a:latin typeface="Calibri" pitchFamily="34" charset="0"/>
                <a:ea typeface="Calibri" pitchFamily="34" charset="-122"/>
                <a:cs typeface="Calibri" pitchFamily="34" charset="-120"/>
              </a:rPr>
              <a:t>.</a:t>
            </a:r>
            <a:endParaRPr lang="en-US" sz="900" dirty="0">
              <a:solidFill>
                <a:srgbClr val="2D3748"/>
              </a:solidFill>
              <a:latin typeface="Calibri" pitchFamily="34" charset="0"/>
              <a:cs typeface="Calibri" pitchFamily="34" charset="-120"/>
            </a:endParaRPr>
          </a:p>
        </p:txBody>
      </p:sp>
      <p:sp>
        <p:nvSpPr>
          <p:cNvPr id="16" name="Text 13"/>
          <p:cNvSpPr/>
          <p:nvPr/>
        </p:nvSpPr>
        <p:spPr>
          <a:xfrm>
            <a:off x="2315820" y="3562977"/>
            <a:ext cx="457200" cy="182880"/>
          </a:xfrm>
          <a:prstGeom prst="rect">
            <a:avLst/>
          </a:prstGeom>
          <a:noFill/>
          <a:ln/>
        </p:spPr>
        <p:txBody>
          <a:bodyPr wrap="square" rtlCol="0" anchor="ctr"/>
          <a:lstStyle/>
          <a:p>
            <a:pPr marL="0" indent="0" algn="ctr">
              <a:buNone/>
            </a:pPr>
            <a:r>
              <a:rPr lang="en-US" sz="800" dirty="0">
                <a:solidFill>
                  <a:srgbClr val="8C96A0"/>
                </a:solidFill>
              </a:rPr>
              <a:t>▼</a:t>
            </a:r>
            <a:endParaRPr lang="en-US" sz="800" dirty="0"/>
          </a:p>
        </p:txBody>
      </p:sp>
      <p:sp>
        <p:nvSpPr>
          <p:cNvPr id="17" name="Shape 14"/>
          <p:cNvSpPr/>
          <p:nvPr/>
        </p:nvSpPr>
        <p:spPr>
          <a:xfrm>
            <a:off x="1035660" y="3723197"/>
            <a:ext cx="3017520" cy="283464"/>
          </a:xfrm>
          <a:prstGeom prst="rect">
            <a:avLst/>
          </a:prstGeom>
          <a:solidFill>
            <a:srgbClr val="F0FFF4"/>
          </a:solidFill>
          <a:ln/>
        </p:spPr>
        <p:txBody>
          <a:bodyPr/>
          <a:lstStyle/>
          <a:p>
            <a:endParaRPr lang="en-US"/>
          </a:p>
        </p:txBody>
      </p:sp>
      <p:sp>
        <p:nvSpPr>
          <p:cNvPr id="18" name="Text 15"/>
          <p:cNvSpPr/>
          <p:nvPr/>
        </p:nvSpPr>
        <p:spPr>
          <a:xfrm>
            <a:off x="2050644" y="3723197"/>
            <a:ext cx="891341" cy="283464"/>
          </a:xfrm>
          <a:prstGeom prst="rect">
            <a:avLst/>
          </a:prstGeom>
          <a:noFill/>
          <a:ln/>
        </p:spPr>
        <p:txBody>
          <a:bodyPr wrap="square" rtlCol="0" anchor="ctr"/>
          <a:lstStyle/>
          <a:p>
            <a:pPr marL="0" indent="0">
              <a:buNone/>
            </a:pPr>
            <a:r>
              <a:rPr lang="en-US" sz="1200" b="1" dirty="0">
                <a:solidFill>
                  <a:srgbClr val="2F855A"/>
                </a:solidFill>
                <a:latin typeface="Calibri" pitchFamily="34" charset="0"/>
                <a:ea typeface="Calibri" pitchFamily="34" charset="-122"/>
                <a:cs typeface="Calibri" pitchFamily="34" charset="-120"/>
              </a:rPr>
              <a:t>N = 28,404</a:t>
            </a:r>
            <a:endParaRPr lang="en-US" sz="1200" dirty="0"/>
          </a:p>
        </p:txBody>
      </p:sp>
      <p:sp>
        <p:nvSpPr>
          <p:cNvPr id="19" name="Shape 16"/>
          <p:cNvSpPr/>
          <p:nvPr/>
        </p:nvSpPr>
        <p:spPr>
          <a:xfrm>
            <a:off x="715620" y="4061129"/>
            <a:ext cx="3657600" cy="36576"/>
          </a:xfrm>
          <a:prstGeom prst="rect">
            <a:avLst/>
          </a:prstGeom>
          <a:solidFill>
            <a:srgbClr val="003660"/>
          </a:solidFill>
          <a:ln/>
        </p:spPr>
        <p:txBody>
          <a:bodyPr/>
          <a:lstStyle/>
          <a:p>
            <a:endParaRPr lang="en-US"/>
          </a:p>
        </p:txBody>
      </p:sp>
      <p:sp>
        <p:nvSpPr>
          <p:cNvPr id="20" name="Shape 17"/>
          <p:cNvSpPr/>
          <p:nvPr/>
        </p:nvSpPr>
        <p:spPr>
          <a:xfrm>
            <a:off x="487020" y="4152569"/>
            <a:ext cx="1920240" cy="594360"/>
          </a:xfrm>
          <a:prstGeom prst="rect">
            <a:avLst/>
          </a:prstGeom>
          <a:solidFill>
            <a:srgbClr val="E8EDF3"/>
          </a:solidFill>
          <a:ln/>
        </p:spPr>
        <p:txBody>
          <a:bodyPr/>
          <a:lstStyle/>
          <a:p>
            <a:endParaRPr lang="en-US"/>
          </a:p>
        </p:txBody>
      </p:sp>
      <p:sp>
        <p:nvSpPr>
          <p:cNvPr id="21" name="Text 18"/>
          <p:cNvSpPr/>
          <p:nvPr/>
        </p:nvSpPr>
        <p:spPr>
          <a:xfrm>
            <a:off x="578460" y="4198289"/>
            <a:ext cx="1737360" cy="502920"/>
          </a:xfrm>
          <a:prstGeom prst="rect">
            <a:avLst/>
          </a:prstGeom>
          <a:noFill/>
          <a:ln/>
        </p:spPr>
        <p:txBody>
          <a:bodyPr wrap="square" rtlCol="0" anchor="ctr"/>
          <a:lstStyle/>
          <a:p>
            <a:r>
              <a:rPr lang="en-US" sz="1100" b="1" dirty="0">
                <a:solidFill>
                  <a:srgbClr val="2B6CB0"/>
                </a:solidFill>
                <a:latin typeface="Calibri" pitchFamily="34" charset="0"/>
                <a:cs typeface="Calibri" pitchFamily="34" charset="-120"/>
              </a:rPr>
              <a:t>Work-trip days</a:t>
            </a:r>
          </a:p>
          <a:p>
            <a:pPr marL="0" indent="0">
              <a:buNone/>
            </a:pPr>
            <a:r>
              <a:rPr lang="en-US" sz="850" dirty="0">
                <a:solidFill>
                  <a:srgbClr val="2D3748"/>
                </a:solidFill>
                <a:latin typeface="Calibri" pitchFamily="34" charset="0"/>
                <a:ea typeface="Calibri" pitchFamily="34" charset="-122"/>
                <a:cs typeface="Calibri" pitchFamily="34" charset="-120"/>
              </a:rPr>
              <a:t>N = </a:t>
            </a:r>
            <a:r>
              <a:rPr lang="en-US" altLang="zh-CN" sz="850" dirty="0">
                <a:solidFill>
                  <a:srgbClr val="2D3748"/>
                </a:solidFill>
                <a:latin typeface="Calibri" pitchFamily="34" charset="0"/>
                <a:ea typeface="Calibri" pitchFamily="34" charset="-122"/>
                <a:cs typeface="Calibri" pitchFamily="34" charset="-120"/>
              </a:rPr>
              <a:t>10,495</a:t>
            </a:r>
            <a:r>
              <a:rPr lang="en-US" sz="850" dirty="0">
                <a:solidFill>
                  <a:srgbClr val="2D3748"/>
                </a:solidFill>
                <a:latin typeface="Calibri" pitchFamily="34" charset="0"/>
                <a:ea typeface="Calibri" pitchFamily="34" charset="-122"/>
                <a:cs typeface="Calibri" pitchFamily="34" charset="-120"/>
              </a:rPr>
              <a:t> (≥1 work trip)</a:t>
            </a:r>
            <a:endParaRPr lang="en-US" sz="1100" dirty="0"/>
          </a:p>
        </p:txBody>
      </p:sp>
      <p:sp>
        <p:nvSpPr>
          <p:cNvPr id="22" name="Shape 19"/>
          <p:cNvSpPr/>
          <p:nvPr/>
        </p:nvSpPr>
        <p:spPr>
          <a:xfrm>
            <a:off x="2590140" y="4152569"/>
            <a:ext cx="1920240" cy="594360"/>
          </a:xfrm>
          <a:prstGeom prst="rect">
            <a:avLst/>
          </a:prstGeom>
          <a:solidFill>
            <a:srgbClr val="E6F7F8"/>
          </a:solidFill>
          <a:ln/>
        </p:spPr>
        <p:txBody>
          <a:bodyPr/>
          <a:lstStyle/>
          <a:p>
            <a:endParaRPr lang="en-US"/>
          </a:p>
        </p:txBody>
      </p:sp>
      <p:sp>
        <p:nvSpPr>
          <p:cNvPr id="23" name="Text 20"/>
          <p:cNvSpPr/>
          <p:nvPr/>
        </p:nvSpPr>
        <p:spPr>
          <a:xfrm>
            <a:off x="2681580" y="4198289"/>
            <a:ext cx="1737360" cy="502920"/>
          </a:xfrm>
          <a:prstGeom prst="rect">
            <a:avLst/>
          </a:prstGeom>
          <a:noFill/>
          <a:ln/>
        </p:spPr>
        <p:txBody>
          <a:bodyPr wrap="square" rtlCol="0" anchor="ctr"/>
          <a:lstStyle/>
          <a:p>
            <a:r>
              <a:rPr lang="en-US" sz="1100" b="1" dirty="0">
                <a:solidFill>
                  <a:srgbClr val="009CA6"/>
                </a:solidFill>
                <a:latin typeface="Calibri" pitchFamily="34" charset="0"/>
                <a:cs typeface="Calibri" pitchFamily="34" charset="-120"/>
              </a:rPr>
              <a:t>Non-work-trip days</a:t>
            </a:r>
          </a:p>
          <a:p>
            <a:pPr marL="0" indent="0">
              <a:buNone/>
            </a:pPr>
            <a:r>
              <a:rPr lang="en-US" sz="850" dirty="0">
                <a:solidFill>
                  <a:srgbClr val="2D3748"/>
                </a:solidFill>
                <a:latin typeface="Calibri" pitchFamily="34" charset="0"/>
                <a:ea typeface="Calibri" pitchFamily="34" charset="-122"/>
                <a:cs typeface="Calibri" pitchFamily="34" charset="-120"/>
              </a:rPr>
              <a:t>N = 1</a:t>
            </a:r>
            <a:r>
              <a:rPr lang="en-US" altLang="zh-CN" sz="850" dirty="0">
                <a:solidFill>
                  <a:srgbClr val="2D3748"/>
                </a:solidFill>
                <a:latin typeface="Calibri" pitchFamily="34" charset="0"/>
                <a:ea typeface="Calibri" pitchFamily="34" charset="-122"/>
                <a:cs typeface="Calibri" pitchFamily="34" charset="-120"/>
              </a:rPr>
              <a:t>7,909</a:t>
            </a:r>
            <a:r>
              <a:rPr lang="en-US" sz="850" dirty="0">
                <a:solidFill>
                  <a:srgbClr val="2D3748"/>
                </a:solidFill>
                <a:latin typeface="Calibri" pitchFamily="34" charset="0"/>
                <a:ea typeface="Calibri" pitchFamily="34" charset="-122"/>
                <a:cs typeface="Calibri" pitchFamily="34" charset="-120"/>
              </a:rPr>
              <a:t> (0 work trips)</a:t>
            </a:r>
            <a:endParaRPr lang="en-US" sz="1100" dirty="0"/>
          </a:p>
        </p:txBody>
      </p:sp>
      <p:sp>
        <p:nvSpPr>
          <p:cNvPr id="36" name="Text 33"/>
          <p:cNvSpPr/>
          <p:nvPr/>
        </p:nvSpPr>
        <p:spPr>
          <a:xfrm>
            <a:off x="457200" y="4800600"/>
            <a:ext cx="8229600" cy="274320"/>
          </a:xfrm>
          <a:prstGeom prst="rect">
            <a:avLst/>
          </a:prstGeom>
          <a:noFill/>
          <a:ln/>
        </p:spPr>
        <p:txBody>
          <a:bodyPr wrap="square" rtlCol="0" anchor="ctr"/>
          <a:lstStyle/>
          <a:p>
            <a:pPr marL="0" indent="0" algn="l">
              <a:buNone/>
            </a:pPr>
            <a:r>
              <a:rPr lang="en-US" sz="750" dirty="0">
                <a:solidFill>
                  <a:srgbClr val="8C96A0"/>
                </a:solidFill>
                <a:latin typeface="Calibri" pitchFamily="34" charset="0"/>
                <a:ea typeface="Calibri" pitchFamily="34" charset="-122"/>
                <a:cs typeface="Calibri" pitchFamily="34" charset="-120"/>
              </a:rPr>
              <a:t>Die Hu | UC Santa Barbara | AAG 2026</a:t>
            </a:r>
            <a:endParaRPr lang="en-US" sz="750" dirty="0"/>
          </a:p>
        </p:txBody>
      </p:sp>
      <p:pic>
        <p:nvPicPr>
          <p:cNvPr id="38" name="Picture 37">
            <a:extLst>
              <a:ext uri="{FF2B5EF4-FFF2-40B4-BE49-F238E27FC236}">
                <a16:creationId xmlns:a16="http://schemas.microsoft.com/office/drawing/2014/main" id="{61F1AEF8-BEB0-34E0-DA8E-4E7940F5342D}"/>
              </a:ext>
            </a:extLst>
          </p:cNvPr>
          <p:cNvPicPr>
            <a:picLocks noChangeAspect="1"/>
          </p:cNvPicPr>
          <p:nvPr/>
        </p:nvPicPr>
        <p:blipFill>
          <a:blip r:embed="rId4"/>
          <a:stretch>
            <a:fillRect/>
          </a:stretch>
        </p:blipFill>
        <p:spPr>
          <a:xfrm>
            <a:off x="4957367" y="716779"/>
            <a:ext cx="4015186" cy="4083821"/>
          </a:xfrm>
          <a:prstGeom prst="rect">
            <a:avLst/>
          </a:prstGeom>
        </p:spPr>
      </p:pic>
      <p:sp>
        <p:nvSpPr>
          <p:cNvPr id="12" name="TextBox 11">
            <a:extLst>
              <a:ext uri="{FF2B5EF4-FFF2-40B4-BE49-F238E27FC236}">
                <a16:creationId xmlns:a16="http://schemas.microsoft.com/office/drawing/2014/main" id="{F42A955F-5F29-9097-1749-ACCDFDE7DF5D}"/>
              </a:ext>
            </a:extLst>
          </p:cNvPr>
          <p:cNvSpPr txBox="1"/>
          <p:nvPr/>
        </p:nvSpPr>
        <p:spPr>
          <a:xfrm>
            <a:off x="210314" y="716779"/>
            <a:ext cx="4572000" cy="1077218"/>
          </a:xfrm>
          <a:prstGeom prst="rect">
            <a:avLst/>
          </a:prstGeom>
          <a:noFill/>
        </p:spPr>
        <p:txBody>
          <a:bodyPr wrap="square">
            <a:spAutoFit/>
          </a:bodyPr>
          <a:lstStyle/>
          <a:p>
            <a:pPr marL="194310" lvl="0" indent="-285750">
              <a:buFont typeface="Wingdings" pitchFamily="2" charset="2"/>
              <a:buChar char="q"/>
            </a:pPr>
            <a:r>
              <a:rPr lang="en-US" sz="1400" b="1" dirty="0">
                <a:solidFill>
                  <a:srgbClr val="003660"/>
                </a:solidFill>
                <a:latin typeface="Calibri" pitchFamily="34" charset="0"/>
                <a:cs typeface="Calibri" pitchFamily="34" charset="-120"/>
                <a:sym typeface="Century Gothic"/>
              </a:rPr>
              <a:t>The California component of </a:t>
            </a:r>
            <a:r>
              <a:rPr lang="en-US" sz="1400" b="1" dirty="0">
                <a:solidFill>
                  <a:srgbClr val="003660"/>
                </a:solidFill>
                <a:latin typeface="Calibri" pitchFamily="34" charset="0"/>
                <a:cs typeface="Calibri" pitchFamily="34" charset="-120"/>
              </a:rPr>
              <a:t>the National Household Travel Survey (NHTS)</a:t>
            </a:r>
            <a:r>
              <a:rPr lang="en-US" sz="1400" b="1" dirty="0">
                <a:solidFill>
                  <a:srgbClr val="003660"/>
                </a:solidFill>
                <a:latin typeface="Calibri" pitchFamily="34" charset="0"/>
                <a:cs typeface="Calibri" pitchFamily="34" charset="-120"/>
                <a:sym typeface="Century Gothic"/>
              </a:rPr>
              <a:t> in 2017</a:t>
            </a:r>
          </a:p>
          <a:p>
            <a:pPr marL="831850" lvl="1" indent="-285750" algn="just">
              <a:buClr>
                <a:schemeClr val="tx1"/>
              </a:buClr>
              <a:buSzPct val="100000"/>
              <a:buFont typeface="Arial" panose="020B0604020202020204" pitchFamily="34" charset="0"/>
              <a:buChar char="•"/>
            </a:pPr>
            <a:r>
              <a:rPr lang="en-US" sz="1200" dirty="0">
                <a:ea typeface="Century Gothic"/>
                <a:cs typeface="Century Gothic"/>
                <a:sym typeface="Century Gothic"/>
              </a:rPr>
              <a:t>A single day travel diary</a:t>
            </a:r>
          </a:p>
          <a:p>
            <a:pPr marL="831850" lvl="1" indent="-285750" algn="just">
              <a:buClr>
                <a:schemeClr val="tx1"/>
              </a:buClr>
              <a:buSzPct val="100000"/>
              <a:buFont typeface="Arial" panose="020B0604020202020204" pitchFamily="34" charset="0"/>
              <a:buChar char="•"/>
            </a:pPr>
            <a:r>
              <a:rPr lang="en-US" sz="1200" dirty="0">
                <a:ea typeface="Century Gothic"/>
                <a:cs typeface="Century Gothic"/>
                <a:sym typeface="Century Gothic"/>
              </a:rPr>
              <a:t>Personal/household characteristics</a:t>
            </a:r>
          </a:p>
          <a:p>
            <a:pPr marL="831850" lvl="1" indent="-285750" algn="just">
              <a:buClr>
                <a:schemeClr val="tx1"/>
              </a:buClr>
              <a:buSzPct val="100000"/>
              <a:buFont typeface="Arial" panose="020B0604020202020204" pitchFamily="34" charset="0"/>
              <a:buChar char="•"/>
            </a:pPr>
            <a:r>
              <a:rPr lang="en-US" sz="1200" dirty="0">
                <a:ea typeface="Century Gothic"/>
                <a:cs typeface="Century Gothic"/>
                <a:sym typeface="Century Gothic"/>
              </a:rPr>
              <a:t>Location</a:t>
            </a:r>
            <a:r>
              <a:rPr lang="zh-CN" altLang="en-US" sz="1200" dirty="0">
                <a:ea typeface="Century Gothic"/>
                <a:cs typeface="Century Gothic"/>
                <a:sym typeface="Century Gothic"/>
              </a:rPr>
              <a:t> </a:t>
            </a:r>
            <a:r>
              <a:rPr lang="en-US" altLang="zh-CN" sz="1200" dirty="0">
                <a:ea typeface="Century Gothic"/>
                <a:cs typeface="Century Gothic"/>
                <a:sym typeface="Century Gothic"/>
              </a:rPr>
              <a:t>(Lat/Lon)</a:t>
            </a:r>
            <a:endParaRPr lang="en-US" sz="1200" dirty="0">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3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Analytical Framework</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777240"/>
            <a:ext cx="1097280" cy="36576"/>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972048"/>
            <a:ext cx="2377440" cy="274320"/>
          </a:xfrm>
          <a:prstGeom prst="rect">
            <a:avLst/>
          </a:prstGeom>
          <a:solidFill>
            <a:srgbClr val="2D6A8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548640" y="972048"/>
            <a:ext cx="237744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48640" y="1246368"/>
            <a:ext cx="2377440" cy="128016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85800" y="1292088"/>
            <a:ext cx="210312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Individual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Attributes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85800" y="1840728"/>
            <a:ext cx="2103120" cy="54864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Age, income, race,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worker status, vehicles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200400" y="972048"/>
            <a:ext cx="2377440" cy="274320"/>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3200400" y="972048"/>
            <a:ext cx="237744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WHERE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200400" y="1246368"/>
            <a:ext cx="2377440" cy="128016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3337560" y="1292088"/>
            <a:ext cx="210312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Built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Environment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337560" y="1840728"/>
            <a:ext cx="2103120" cy="54864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Density, land use mix,</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transit, accessibility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852160" y="972048"/>
            <a:ext cx="2377440" cy="274320"/>
          </a:xfrm>
          <a:prstGeom prst="rect">
            <a:avLst/>
          </a:prstGeom>
          <a:solidFill>
            <a:srgbClr val="E87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5852160" y="972048"/>
            <a:ext cx="237744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HOW</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852160" y="1246368"/>
            <a:ext cx="2377440" cy="128016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5989320" y="1292088"/>
            <a:ext cx="210312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Trip Chain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Topology (Motif)</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5989320" y="1840728"/>
            <a:ext cx="2103120" cy="54864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dirty="0">
                <a:solidFill>
                  <a:srgbClr val="5A6C7E"/>
                </a:solidFill>
                <a:latin typeface="Calibri" pitchFamily="34" charset="0"/>
                <a:ea typeface="Calibri" pitchFamily="34" charset="-122"/>
                <a:cs typeface="Calibri" pitchFamily="34" charset="-120"/>
              </a:rPr>
              <a:t>T</a:t>
            </a:r>
            <a:r>
              <a:rPr kumimoji="0" lang="en-US" sz="1000" b="0" i="0" u="none" strike="noStrike" kern="1200" cap="none" spc="0" normalizeH="0" baseline="0" noProof="0" dirty="0" err="1">
                <a:ln>
                  <a:noFill/>
                </a:ln>
                <a:solidFill>
                  <a:srgbClr val="5A6C7E"/>
                </a:solidFill>
                <a:effectLst/>
                <a:uLnTx/>
                <a:uFillTx/>
                <a:latin typeface="Calibri" pitchFamily="34" charset="0"/>
                <a:ea typeface="Calibri" pitchFamily="34" charset="-122"/>
                <a:cs typeface="Calibri" pitchFamily="34" charset="-120"/>
              </a:rPr>
              <a:t>ypes</a:t>
            </a:r>
            <a:r>
              <a:rPr lang="zh-CN" altLang="en-US" sz="1000" dirty="0">
                <a:solidFill>
                  <a:prstClr val="black"/>
                </a:solidFill>
                <a:latin typeface="Calibri" panose="020F0502020204030204"/>
              </a:rPr>
              <a:t> </a:t>
            </a:r>
            <a:r>
              <a:rPr kumimoji="0" lang="en-US" sz="1000" b="0"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of daily trip organization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3200400" y="2617968"/>
            <a:ext cx="27432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B2A4A"/>
                </a:solidFill>
                <a:effectLst/>
                <a:uLnTx/>
                <a:uFillTx/>
                <a:latin typeface="Calibri" panose="020F0502020204030204"/>
                <a:ea typeface="+mn-ea"/>
                <a:cs typeface="+mn-cs"/>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2743200" y="2938008"/>
            <a:ext cx="3657600" cy="423410"/>
          </a:xfrm>
          <a:prstGeom prst="rect">
            <a:avLst/>
          </a:prstGeom>
          <a:solidFill>
            <a:srgbClr val="1B2A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2743200" y="2938008"/>
            <a:ext cx="3657600" cy="42341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Activity Space Index (ASI)</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548640" y="3590018"/>
            <a:ext cx="2560320" cy="86868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548640" y="3590018"/>
            <a:ext cx="2560320" cy="36576"/>
          </a:xfrm>
          <a:prstGeom prst="rect">
            <a:avLst/>
          </a:prstGeom>
          <a:solidFill>
            <a:srgbClr val="2D6A8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548640" y="3654026"/>
            <a:ext cx="2560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D6A8F"/>
                </a:solidFill>
                <a:effectLst/>
                <a:uLnTx/>
                <a:uFillTx/>
                <a:latin typeface="Georgia" pitchFamily="34" charset="0"/>
                <a:ea typeface="Georgia" pitchFamily="34" charset="-122"/>
                <a:cs typeface="Georgia" pitchFamily="34" charset="-120"/>
              </a:rPr>
              <a:t>OLS</a:t>
            </a:r>
          </a:p>
          <a:p>
            <a:pPr lvl="0" algn="ctr">
              <a:defRPr/>
            </a:pPr>
            <a:r>
              <a:rPr lang="en-US" sz="1100" dirty="0"/>
              <a:t>Ordinary Least Squares</a:t>
            </a:r>
            <a:r>
              <a:rPr kumimoji="0" lang="zh-CN" altLang="en-US" sz="1000" b="1" i="0" u="none" strike="noStrike" kern="1200" cap="none" spc="0" normalizeH="0" baseline="0" noProof="0" dirty="0">
                <a:ln>
                  <a:noFill/>
                </a:ln>
                <a:solidFill>
                  <a:srgbClr val="2D6A8F"/>
                </a:solidFill>
                <a:effectLst/>
                <a:uLnTx/>
                <a:uFillTx/>
                <a:latin typeface="Georgia" pitchFamily="34" charset="0"/>
                <a:ea typeface="Georgia" pitchFamily="34" charset="-122"/>
                <a:cs typeface="Georgia" pitchFamily="34" charset="-120"/>
              </a:rPr>
              <a:t>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640080" y="3928346"/>
            <a:ext cx="237744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Baseline:</a:t>
            </a:r>
          </a:p>
          <a:p>
            <a:pPr algn="ctr">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zh-CN" altLang="en-US" sz="1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altLang="zh-CN" sz="1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zh-CN" altLang="en-US" sz="1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28,404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Motif explanatory power</a:t>
            </a:r>
          </a:p>
        </p:txBody>
      </p:sp>
      <p:sp>
        <p:nvSpPr>
          <p:cNvPr id="27" name="Shape 25"/>
          <p:cNvSpPr/>
          <p:nvPr/>
        </p:nvSpPr>
        <p:spPr>
          <a:xfrm>
            <a:off x="3383280" y="3590018"/>
            <a:ext cx="2560320" cy="86868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p:cNvSpPr/>
          <p:nvPr/>
        </p:nvSpPr>
        <p:spPr>
          <a:xfrm>
            <a:off x="3383280" y="3590018"/>
            <a:ext cx="2560320" cy="36576"/>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3383280" y="3654026"/>
            <a:ext cx="2560320" cy="274320"/>
          </a:xfrm>
          <a:prstGeom prst="rect">
            <a:avLst/>
          </a:prstGeom>
          <a:noFill/>
          <a:ln/>
        </p:spPr>
        <p:txBody>
          <a:bodyPr wrap="square" lIns="0" tIns="0" rIns="0" bIns="0" rtlCol="0" anchor="ctr"/>
          <a:lstStyle/>
          <a:p>
            <a:pPr algn="ctr">
              <a:defRPr/>
            </a:pPr>
            <a:r>
              <a:rPr kumimoji="0" lang="en-US" sz="1400" b="1" i="0" u="none" strike="noStrike" kern="1200" cap="none" spc="0" normalizeH="0" baseline="0" noProof="0" dirty="0">
                <a:ln>
                  <a:noFill/>
                </a:ln>
                <a:solidFill>
                  <a:srgbClr val="0E8575"/>
                </a:solidFill>
                <a:effectLst/>
                <a:uLnTx/>
                <a:uFillTx/>
                <a:latin typeface="Georgia" pitchFamily="34" charset="0"/>
                <a:ea typeface="Georgia" pitchFamily="34" charset="-122"/>
                <a:cs typeface="Georgia" pitchFamily="34" charset="-120"/>
              </a:rPr>
              <a:t>Spatial Error Model </a:t>
            </a:r>
            <a:r>
              <a:rPr kumimoji="0" lang="en-US" altLang="zh-CN" sz="1400" b="1" i="0" u="none" strike="noStrike" kern="1200" cap="none" spc="0" normalizeH="0" baseline="0" noProof="0" dirty="0">
                <a:ln>
                  <a:noFill/>
                </a:ln>
                <a:solidFill>
                  <a:srgbClr val="0E8575"/>
                </a:solidFill>
                <a:effectLst/>
                <a:uLnTx/>
                <a:uFillTx/>
                <a:latin typeface="Georgia" pitchFamily="34" charset="0"/>
                <a:ea typeface="Georgia" pitchFamily="34" charset="-122"/>
                <a:cs typeface="Georgia" pitchFamily="34" charset="-120"/>
              </a:rPr>
              <a:t>(</a:t>
            </a:r>
            <a:r>
              <a:rPr kumimoji="0" lang="en-US" sz="1400" b="1" i="0" u="none" strike="noStrike" kern="1200" cap="none" spc="0" normalizeH="0" baseline="0" noProof="0" dirty="0">
                <a:ln>
                  <a:noFill/>
                </a:ln>
                <a:solidFill>
                  <a:srgbClr val="0E8575"/>
                </a:solidFill>
                <a:effectLst/>
                <a:uLnTx/>
                <a:uFillTx/>
                <a:latin typeface="Georgia" pitchFamily="34" charset="0"/>
                <a:ea typeface="Georgia" pitchFamily="34" charset="-122"/>
                <a:cs typeface="Georgia" pitchFamily="34" charset="-120"/>
              </a:rPr>
              <a:t>SEM</a:t>
            </a:r>
            <a:r>
              <a:rPr kumimoji="0" lang="en-US" altLang="zh-CN" sz="1400" b="1" i="0" u="none" strike="noStrike" kern="1200" cap="none" spc="0" normalizeH="0" baseline="0" noProof="0" dirty="0">
                <a:ln>
                  <a:noFill/>
                </a:ln>
                <a:solidFill>
                  <a:srgbClr val="0E8575"/>
                </a:solidFill>
                <a:effectLst/>
                <a:uLnTx/>
                <a:uFillTx/>
                <a:latin typeface="Georgia" pitchFamily="34" charset="0"/>
                <a:ea typeface="Georgia" pitchFamily="34" charset="-122"/>
                <a:cs typeface="Georgia"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3474720" y="3928346"/>
            <a:ext cx="237744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Spatial Error Model: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ctr">
              <a:defRPr/>
            </a:pPr>
            <a:r>
              <a:rPr kumimoji="0" lang="en-US" sz="1000" b="0" i="0" u="none" strike="noStrike" kern="1200" cap="none" spc="0" normalizeH="0" baseline="0" noProof="0" dirty="0" err="1">
                <a:ln>
                  <a:noFill/>
                </a:ln>
                <a:solidFill>
                  <a:srgbClr val="5A6C7E"/>
                </a:solidFill>
                <a:effectLst/>
                <a:uLnTx/>
                <a:uFillTx/>
                <a:latin typeface="Calibri" pitchFamily="34" charset="0"/>
                <a:ea typeface="Calibri" pitchFamily="34" charset="-122"/>
                <a:cs typeface="Calibri" pitchFamily="34" charset="-120"/>
              </a:rPr>
              <a:t>λ</a:t>
            </a:r>
            <a:r>
              <a:rPr kumimoji="0" lang="en-US" sz="1000" b="0"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 absorbs autocorrelation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6217920" y="3590018"/>
            <a:ext cx="2560320" cy="86868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p:cNvSpPr/>
          <p:nvPr/>
        </p:nvSpPr>
        <p:spPr>
          <a:xfrm>
            <a:off x="6217920" y="3590018"/>
            <a:ext cx="2560320" cy="36576"/>
          </a:xfrm>
          <a:prstGeom prst="rect">
            <a:avLst/>
          </a:prstGeom>
          <a:solidFill>
            <a:srgbClr val="E87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6217920" y="3654026"/>
            <a:ext cx="2560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8734A"/>
                </a:solidFill>
                <a:effectLst/>
                <a:uLnTx/>
                <a:uFillTx/>
                <a:latin typeface="Georgia" pitchFamily="34" charset="0"/>
                <a:ea typeface="Georgia" pitchFamily="34" charset="-122"/>
                <a:cs typeface="Georgia" pitchFamily="34" charset="-120"/>
              </a:rPr>
              <a:t>GWR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6285509" y="3876992"/>
            <a:ext cx="2377440" cy="547915"/>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Local regression:</a:t>
            </a:r>
            <a:r>
              <a:rPr lang="zh-CN" altLang="en-US" sz="1000" dirty="0">
                <a:solidFill>
                  <a:prstClr val="black"/>
                </a:solidFill>
                <a:latin typeface="Calibri" panose="020F0502020204030204"/>
              </a:rPr>
              <a:t> </a:t>
            </a:r>
            <a:r>
              <a:rPr kumimoji="0" lang="en-US" sz="1000" b="0"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Spatial heterogeneity</a:t>
            </a:r>
          </a:p>
          <a:p>
            <a:pPr lvl="0" algn="ctr">
              <a:lnSpc>
                <a:spcPct val="115000"/>
              </a:lnSpc>
              <a:defRPr/>
            </a:pPr>
            <a:r>
              <a:rPr lang="en-US" sz="1000" dirty="0">
                <a:solidFill>
                  <a:srgbClr val="5A6C7E"/>
                </a:solidFill>
                <a:latin typeface="Calibri" pitchFamily="34" charset="0"/>
                <a:cs typeface="Calibri" pitchFamily="34" charset="-120"/>
              </a:rPr>
              <a:t>Adaptive </a:t>
            </a:r>
            <a:r>
              <a:rPr lang="en-US" sz="1000" dirty="0" err="1">
                <a:solidFill>
                  <a:srgbClr val="5A6C7E"/>
                </a:solidFill>
                <a:latin typeface="Calibri" pitchFamily="34" charset="0"/>
                <a:cs typeface="Calibri" pitchFamily="34" charset="-120"/>
              </a:rPr>
              <a:t>bisquare</a:t>
            </a:r>
            <a:r>
              <a:rPr lang="en-US" sz="1000" dirty="0">
                <a:solidFill>
                  <a:srgbClr val="5A6C7E"/>
                </a:solidFill>
                <a:latin typeface="Calibri" pitchFamily="34" charset="0"/>
                <a:cs typeface="Calibri" pitchFamily="34" charset="-120"/>
              </a:rPr>
              <a:t> kernel</a:t>
            </a:r>
          </a:p>
          <a:p>
            <a:pPr lvl="0" algn="ctr">
              <a:lnSpc>
                <a:spcPct val="115000"/>
              </a:lnSpc>
              <a:defRPr/>
            </a:pPr>
            <a:r>
              <a:rPr lang="en-US" sz="1000" dirty="0">
                <a:solidFill>
                  <a:srgbClr val="5A6C7E"/>
                </a:solidFill>
                <a:latin typeface="Calibri" pitchFamily="34" charset="0"/>
                <a:cs typeface="Calibri" pitchFamily="34" charset="-120"/>
              </a:rPr>
              <a:t>Bandwidth: 708 NN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3017520" y="3727178"/>
            <a:ext cx="4572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2A4A"/>
                </a:solidFill>
                <a:effectLst/>
                <a:uLnTx/>
                <a:uFillTx/>
                <a:latin typeface="Calibri" panose="020F0502020204030204"/>
                <a:ea typeface="+mn-ea"/>
                <a:cs typeface="+mn-cs"/>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5852160" y="3727178"/>
            <a:ext cx="3657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2A4A"/>
                </a:solidFill>
                <a:effectLst/>
                <a:uLnTx/>
                <a:uFillTx/>
                <a:latin typeface="Calibri" panose="020F0502020204030204"/>
                <a:ea typeface="+mn-ea"/>
                <a:cs typeface="+mn-cs"/>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Box 38">
            <a:extLst>
              <a:ext uri="{FF2B5EF4-FFF2-40B4-BE49-F238E27FC236}">
                <a16:creationId xmlns:a16="http://schemas.microsoft.com/office/drawing/2014/main" id="{51DD0142-D3A5-6387-F244-F1C727F77363}"/>
              </a:ext>
            </a:extLst>
          </p:cNvPr>
          <p:cNvSpPr txBox="1"/>
          <p:nvPr/>
        </p:nvSpPr>
        <p:spPr>
          <a:xfrm>
            <a:off x="948190" y="4617829"/>
            <a:ext cx="1999753" cy="523220"/>
          </a:xfrm>
          <a:prstGeom prst="rect">
            <a:avLst/>
          </a:prstGeom>
          <a:noFill/>
        </p:spPr>
        <p:txBody>
          <a:bodyPr wrap="square">
            <a:spAutoFit/>
          </a:bodyPr>
          <a:lstStyle/>
          <a:p>
            <a:pPr>
              <a:defRPr/>
            </a:pPr>
            <a:r>
              <a:rPr kumimoji="0" lang="en-US" sz="1400" b="1" i="0" u="none" strike="noStrike" kern="1200" cap="none" spc="0" normalizeH="0" baseline="0" noProof="0" dirty="0">
                <a:ln>
                  <a:noFill/>
                </a:ln>
                <a:solidFill>
                  <a:srgbClr val="2D8B72"/>
                </a:solidFill>
                <a:effectLst/>
                <a:uLnTx/>
                <a:uFillTx/>
                <a:latin typeface="Georgia" pitchFamily="34" charset="0"/>
                <a:ea typeface="Georgia" pitchFamily="34" charset="-122"/>
                <a:cs typeface="Georgia" pitchFamily="34" charset="-120"/>
              </a:rPr>
              <a:t>Spatial Diagnostics</a:t>
            </a:r>
            <a:r>
              <a:rPr kumimoji="0" lang="zh-CN" altLang="en-US" sz="1400" b="1" i="0" u="none" strike="noStrike" kern="1200" cap="none" spc="0" normalizeH="0" baseline="0" noProof="0" dirty="0">
                <a:ln>
                  <a:noFill/>
                </a:ln>
                <a:solidFill>
                  <a:srgbClr val="2D8B72"/>
                </a:solidFill>
                <a:effectLst/>
                <a:uLnTx/>
                <a:uFillTx/>
                <a:latin typeface="Georgia" pitchFamily="34" charset="0"/>
                <a:ea typeface="Georgia" pitchFamily="34" charset="-122"/>
                <a:cs typeface="Georgia" pitchFamily="34" charset="-120"/>
              </a:rPr>
              <a:t> </a:t>
            </a:r>
            <a:endParaRPr kumimoji="0" lang="en-US" altLang="zh-CN" sz="1400" b="1" i="0" u="none" strike="noStrike" kern="1200" cap="none" spc="0" normalizeH="0" baseline="0" noProof="0" dirty="0">
              <a:ln>
                <a:noFill/>
              </a:ln>
              <a:solidFill>
                <a:srgbClr val="2D8B72"/>
              </a:solidFill>
              <a:effectLst/>
              <a:uLnTx/>
              <a:uFillTx/>
              <a:latin typeface="Georgia" pitchFamily="34" charset="0"/>
              <a:ea typeface="Georgia" pitchFamily="34" charset="-122"/>
              <a:cs typeface="Georgia" pitchFamily="34" charset="-120"/>
            </a:endParaRPr>
          </a:p>
          <a:p>
            <a:pPr>
              <a:defRPr/>
            </a:pPr>
            <a:r>
              <a:rPr lang="en-US" sz="1400" dirty="0">
                <a:solidFill>
                  <a:srgbClr val="2C3E50"/>
                </a:solidFill>
                <a:latin typeface="Calibri" pitchFamily="34" charset="0"/>
                <a:ea typeface="Calibri" pitchFamily="34" charset="-122"/>
                <a:cs typeface="Calibri" pitchFamily="34" charset="-120"/>
              </a:rPr>
              <a:t>Moran's I = 0.203***</a:t>
            </a:r>
            <a:endParaRPr lang="en-US" sz="1400" dirty="0">
              <a:solidFill>
                <a:prstClr val="black"/>
              </a:solidFill>
            </a:endParaRPr>
          </a:p>
        </p:txBody>
      </p:sp>
      <p:sp>
        <p:nvSpPr>
          <p:cNvPr id="40" name="Text 33">
            <a:extLst>
              <a:ext uri="{FF2B5EF4-FFF2-40B4-BE49-F238E27FC236}">
                <a16:creationId xmlns:a16="http://schemas.microsoft.com/office/drawing/2014/main" id="{6AB6F43F-2583-99DE-872E-F7ED216B2270}"/>
              </a:ext>
            </a:extLst>
          </p:cNvPr>
          <p:cNvSpPr/>
          <p:nvPr/>
        </p:nvSpPr>
        <p:spPr>
          <a:xfrm rot="16200000">
            <a:off x="1645918" y="4409399"/>
            <a:ext cx="274320" cy="22661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2A4A"/>
                </a:solidFill>
                <a:effectLst/>
                <a:uLnTx/>
                <a:uFillTx/>
                <a:latin typeface="Calibri" panose="020F0502020204030204"/>
                <a:ea typeface="+mn-ea"/>
                <a:cs typeface="+mn-cs"/>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5E54F7FA-388E-387C-E78E-AF0738D3DEFC}"/>
              </a:ext>
            </a:extLst>
          </p:cNvPr>
          <p:cNvSpPr txBox="1"/>
          <p:nvPr/>
        </p:nvSpPr>
        <p:spPr>
          <a:xfrm>
            <a:off x="3314452" y="4528415"/>
            <a:ext cx="2697482" cy="59208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en-US" sz="1400" b="1" dirty="0">
                <a:solidFill>
                  <a:srgbClr val="2D8B72"/>
                </a:solidFill>
                <a:latin typeface="Georgia" pitchFamily="34" charset="0"/>
              </a:rPr>
              <a:t>Autocorrelation eliminated</a:t>
            </a:r>
          </a:p>
          <a:p>
            <a:pPr algn="ctr">
              <a:lnSpc>
                <a:spcPct val="120000"/>
              </a:lnSpc>
              <a:defRPr/>
            </a:pPr>
            <a:r>
              <a:rPr lang="en-US" sz="1400" dirty="0">
                <a:ea typeface="Calibri" pitchFamily="34" charset="-122"/>
                <a:cs typeface="Calibri" pitchFamily="34" charset="-120"/>
              </a:rPr>
              <a:t>Moran‘s I</a:t>
            </a:r>
            <a:r>
              <a:rPr lang="en-US" altLang="zh-CN" sz="1400" dirty="0">
                <a:ea typeface="Calibri" pitchFamily="34" charset="-122"/>
                <a:cs typeface="Calibri" pitchFamily="34" charset="-120"/>
              </a:rPr>
              <a:t>:</a:t>
            </a:r>
            <a:r>
              <a:rPr lang="zh-CN" altLang="en-US" sz="1400" dirty="0">
                <a:ea typeface="Calibri" pitchFamily="34" charset="-122"/>
                <a:cs typeface="Calibri" pitchFamily="34" charset="-120"/>
              </a:rPr>
              <a:t> </a:t>
            </a:r>
            <a:r>
              <a:rPr lang="en-US" sz="1400" dirty="0">
                <a:ea typeface="Calibri" pitchFamily="34" charset="-122"/>
                <a:cs typeface="Calibri" pitchFamily="34" charset="-120"/>
              </a:rPr>
              <a:t> −0.001 (</a:t>
            </a:r>
            <a:r>
              <a:rPr lang="en-US" sz="1400" dirty="0" err="1">
                <a:ea typeface="Calibri" pitchFamily="34" charset="-122"/>
                <a:cs typeface="Calibri" pitchFamily="34" charset="-120"/>
              </a:rPr>
              <a:t>n.s</a:t>
            </a:r>
            <a:r>
              <a:rPr lang="en-US" sz="1400" dirty="0">
                <a:ea typeface="Calibri" pitchFamily="34" charset="-122"/>
                <a:cs typeface="Calibri" pitchFamily="34" charset="-120"/>
              </a:rPr>
              <a:t>.)</a:t>
            </a:r>
            <a:endParaRPr lang="en-US" sz="1400" dirty="0"/>
          </a:p>
        </p:txBody>
      </p:sp>
      <p:sp>
        <p:nvSpPr>
          <p:cNvPr id="43" name="Text 33">
            <a:extLst>
              <a:ext uri="{FF2B5EF4-FFF2-40B4-BE49-F238E27FC236}">
                <a16:creationId xmlns:a16="http://schemas.microsoft.com/office/drawing/2014/main" id="{7C1D1F03-9C6B-021D-6870-C436126996CD}"/>
              </a:ext>
            </a:extLst>
          </p:cNvPr>
          <p:cNvSpPr/>
          <p:nvPr/>
        </p:nvSpPr>
        <p:spPr>
          <a:xfrm rot="16200000">
            <a:off x="4581574" y="4382269"/>
            <a:ext cx="274320" cy="22661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2A4A"/>
                </a:solidFill>
                <a:effectLst/>
                <a:uLnTx/>
                <a:uFillTx/>
                <a:latin typeface="Calibri" panose="020F0502020204030204"/>
                <a:ea typeface="+mn-ea"/>
                <a:cs typeface="+mn-cs"/>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925F73F4-D968-C875-D39F-F2E0AB0D6F82}"/>
              </a:ext>
            </a:extLst>
          </p:cNvPr>
          <p:cNvSpPr/>
          <p:nvPr/>
        </p:nvSpPr>
        <p:spPr>
          <a:xfrm>
            <a:off x="333030" y="224624"/>
            <a:ext cx="80467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Results:</a:t>
            </a:r>
            <a:r>
              <a:rPr kumimoji="0" lang="zh-CN" altLang="en-US" sz="2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 </a:t>
            </a:r>
            <a:r>
              <a:rPr kumimoji="0" lang="en-US" sz="2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Motif</a:t>
            </a:r>
            <a:r>
              <a:rPr kumimoji="0" lang="zh-CN" altLang="en-US" sz="2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 </a:t>
            </a:r>
            <a:r>
              <a:rPr kumimoji="0" lang="en-US" altLang="zh-CN" sz="2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Construction</a:t>
            </a:r>
            <a:r>
              <a:rPr kumimoji="0" lang="zh-CN" altLang="en-US" sz="2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 </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EC547D2-8220-451C-3724-93CB56D0172C}"/>
              </a:ext>
            </a:extLst>
          </p:cNvPr>
          <p:cNvSpPr txBox="1"/>
          <p:nvPr/>
        </p:nvSpPr>
        <p:spPr>
          <a:xfrm>
            <a:off x="547624" y="4724979"/>
            <a:ext cx="5567131" cy="276999"/>
          </a:xfrm>
          <a:prstGeom prst="rect">
            <a:avLst/>
          </a:prstGeom>
          <a:noFill/>
        </p:spPr>
        <p:txBody>
          <a:bodyPr wrap="square">
            <a:spAutoFit/>
          </a:bodyPr>
          <a:lstStyle/>
          <a:p>
            <a:r>
              <a:rPr lang="en-US" sz="1200" dirty="0"/>
              <a:t>Fig.</a:t>
            </a:r>
            <a:r>
              <a:rPr lang="en-US" altLang="zh-CN" sz="1200" dirty="0"/>
              <a:t>1</a:t>
            </a:r>
            <a:r>
              <a:rPr lang="en-US" sz="1200" dirty="0"/>
              <a:t>. Percentage of human mobility motif patterns.</a:t>
            </a:r>
            <a:r>
              <a:rPr lang="zh-CN" altLang="en-US" sz="1200" dirty="0"/>
              <a:t> </a:t>
            </a:r>
            <a:r>
              <a:rPr lang="en-US" sz="1200" dirty="0"/>
              <a:t>(Top 14</a:t>
            </a:r>
            <a:r>
              <a:rPr lang="zh-CN" altLang="en-US" sz="1200" dirty="0"/>
              <a:t> </a:t>
            </a:r>
            <a:r>
              <a:rPr lang="en-US" altLang="zh-CN" sz="1200" dirty="0"/>
              <a:t>+</a:t>
            </a:r>
            <a:r>
              <a:rPr lang="zh-CN" altLang="en-US" sz="1200" dirty="0"/>
              <a:t> </a:t>
            </a:r>
            <a:r>
              <a:rPr lang="en-US" altLang="zh-CN" sz="1200" dirty="0"/>
              <a:t>merged rare category</a:t>
            </a:r>
            <a:r>
              <a:rPr lang="en-US" sz="1200" dirty="0"/>
              <a:t>)</a:t>
            </a:r>
          </a:p>
        </p:txBody>
      </p:sp>
      <p:sp>
        <p:nvSpPr>
          <p:cNvPr id="8" name="TextBox 7">
            <a:extLst>
              <a:ext uri="{FF2B5EF4-FFF2-40B4-BE49-F238E27FC236}">
                <a16:creationId xmlns:a16="http://schemas.microsoft.com/office/drawing/2014/main" id="{76DA23D4-3DEF-527A-29D9-C1E4ADADF38E}"/>
              </a:ext>
            </a:extLst>
          </p:cNvPr>
          <p:cNvSpPr txBox="1"/>
          <p:nvPr/>
        </p:nvSpPr>
        <p:spPr>
          <a:xfrm>
            <a:off x="6305236" y="2988161"/>
            <a:ext cx="2543882" cy="646331"/>
          </a:xfrm>
          <a:prstGeom prst="rect">
            <a:avLst/>
          </a:prstGeom>
          <a:noFill/>
        </p:spPr>
        <p:txBody>
          <a:bodyPr wrap="square">
            <a:spAutoFit/>
          </a:bodyPr>
          <a:lstStyle/>
          <a:p>
            <a:r>
              <a:rPr lang="en-US" sz="1200" dirty="0"/>
              <a:t>Fig. </a:t>
            </a:r>
            <a:r>
              <a:rPr lang="en-US" altLang="zh-CN" sz="1200" dirty="0"/>
              <a:t>2</a:t>
            </a:r>
            <a:r>
              <a:rPr lang="en-US" sz="1200" dirty="0"/>
              <a:t>. Cumulative distribution function for count of mobility motif types. (Top 14</a:t>
            </a:r>
            <a:r>
              <a:rPr lang="zh-CN" altLang="en-US" sz="1200" dirty="0"/>
              <a:t> </a:t>
            </a:r>
            <a:r>
              <a:rPr lang="en-US" altLang="zh-CN" sz="1200" dirty="0"/>
              <a:t>+</a:t>
            </a:r>
            <a:r>
              <a:rPr lang="zh-CN" altLang="en-US" sz="1200" dirty="0"/>
              <a:t> </a:t>
            </a:r>
            <a:r>
              <a:rPr lang="en-US" altLang="zh-CN" sz="1200" dirty="0"/>
              <a:t>other</a:t>
            </a:r>
            <a:r>
              <a:rPr lang="zh-CN" altLang="en-US" sz="1200" dirty="0"/>
              <a:t> </a:t>
            </a:r>
            <a:r>
              <a:rPr lang="en-US" altLang="zh-CN" sz="1200" dirty="0"/>
              <a:t>28</a:t>
            </a:r>
            <a:r>
              <a:rPr lang="zh-CN" altLang="en-US" sz="1200" dirty="0"/>
              <a:t> </a:t>
            </a:r>
            <a:r>
              <a:rPr lang="en-US" altLang="zh-CN" sz="1200" dirty="0"/>
              <a:t>types</a:t>
            </a:r>
            <a:r>
              <a:rPr lang="en-US" sz="1200" dirty="0"/>
              <a:t>)</a:t>
            </a:r>
          </a:p>
        </p:txBody>
      </p:sp>
      <p:pic>
        <p:nvPicPr>
          <p:cNvPr id="9" name="Picture 8">
            <a:extLst>
              <a:ext uri="{FF2B5EF4-FFF2-40B4-BE49-F238E27FC236}">
                <a16:creationId xmlns:a16="http://schemas.microsoft.com/office/drawing/2014/main" id="{9ED70EC4-3D0E-21C3-1AC5-80580BB4D9A2}"/>
              </a:ext>
            </a:extLst>
          </p:cNvPr>
          <p:cNvPicPr>
            <a:picLocks noChangeAspect="1"/>
          </p:cNvPicPr>
          <p:nvPr/>
        </p:nvPicPr>
        <p:blipFill>
          <a:blip r:embed="rId3"/>
          <a:srcRect b="5785"/>
          <a:stretch>
            <a:fillRect/>
          </a:stretch>
        </p:blipFill>
        <p:spPr>
          <a:xfrm>
            <a:off x="131367" y="1256723"/>
            <a:ext cx="6030713" cy="2988429"/>
          </a:xfrm>
          <a:prstGeom prst="rect">
            <a:avLst/>
          </a:prstGeom>
        </p:spPr>
      </p:pic>
      <p:pic>
        <p:nvPicPr>
          <p:cNvPr id="10" name="Picture 9">
            <a:extLst>
              <a:ext uri="{FF2B5EF4-FFF2-40B4-BE49-F238E27FC236}">
                <a16:creationId xmlns:a16="http://schemas.microsoft.com/office/drawing/2014/main" id="{5093F6D7-DD7D-5F5E-5BA4-2BAA16A44C12}"/>
              </a:ext>
            </a:extLst>
          </p:cNvPr>
          <p:cNvPicPr>
            <a:picLocks noChangeAspect="1"/>
          </p:cNvPicPr>
          <p:nvPr/>
        </p:nvPicPr>
        <p:blipFill>
          <a:blip r:embed="rId4"/>
          <a:stretch>
            <a:fillRect/>
          </a:stretch>
        </p:blipFill>
        <p:spPr>
          <a:xfrm>
            <a:off x="6305236" y="1256723"/>
            <a:ext cx="2640793" cy="1678405"/>
          </a:xfrm>
          <a:prstGeom prst="rect">
            <a:avLst/>
          </a:prstGeom>
        </p:spPr>
      </p:pic>
      <p:sp>
        <p:nvSpPr>
          <p:cNvPr id="11" name="Shape 1">
            <a:extLst>
              <a:ext uri="{FF2B5EF4-FFF2-40B4-BE49-F238E27FC236}">
                <a16:creationId xmlns:a16="http://schemas.microsoft.com/office/drawing/2014/main" id="{49665885-7626-1CA2-C18A-ED57719D881F}"/>
              </a:ext>
            </a:extLst>
          </p:cNvPr>
          <p:cNvSpPr/>
          <p:nvPr/>
        </p:nvSpPr>
        <p:spPr>
          <a:xfrm>
            <a:off x="362847" y="609467"/>
            <a:ext cx="1097280" cy="36576"/>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8">
            <a:extLst>
              <a:ext uri="{FF2B5EF4-FFF2-40B4-BE49-F238E27FC236}">
                <a16:creationId xmlns:a16="http://schemas.microsoft.com/office/drawing/2014/main" id="{A94F0E5B-F424-8DFC-B540-B3F647FF850C}"/>
              </a:ext>
            </a:extLst>
          </p:cNvPr>
          <p:cNvSpPr/>
          <p:nvPr/>
        </p:nvSpPr>
        <p:spPr>
          <a:xfrm>
            <a:off x="362847" y="762714"/>
            <a:ext cx="6332922" cy="411480"/>
          </a:xfrm>
          <a:prstGeom prst="rect">
            <a:avLst/>
          </a:prstGeom>
          <a:solidFill>
            <a:srgbClr val="FFFFFF"/>
          </a:solidFill>
          <a:ln/>
          <a:effectLst>
            <a:outerShdw blurRad="76200" dist="25400" dir="8100000" algn="bl" rotWithShape="0">
              <a:srgbClr val="000000">
                <a:alpha val="12000"/>
              </a:srgbClr>
            </a:outerShdw>
          </a:effectLst>
        </p:spPr>
        <p:txBody>
          <a:bodyPr/>
          <a:lstStyle/>
          <a:p>
            <a:r>
              <a:rPr lang="en-US" dirty="0">
                <a:solidFill>
                  <a:srgbClr val="2C3E50"/>
                </a:solidFill>
                <a:latin typeface="Calibri" pitchFamily="34" charset="0"/>
                <a:ea typeface="Calibri" pitchFamily="34" charset="-122"/>
                <a:cs typeface="Calibri" pitchFamily="34" charset="-120"/>
              </a:rPr>
              <a:t>1</a:t>
            </a:r>
            <a:r>
              <a:rPr lang="en-US" altLang="zh-CN" dirty="0">
                <a:solidFill>
                  <a:srgbClr val="2C3E50"/>
                </a:solidFill>
                <a:latin typeface="Calibri" pitchFamily="34" charset="0"/>
                <a:ea typeface="Calibri" pitchFamily="34" charset="-122"/>
                <a:cs typeface="Calibri" pitchFamily="34" charset="-120"/>
              </a:rPr>
              <a:t>4</a:t>
            </a:r>
            <a:r>
              <a:rPr lang="en-US" dirty="0">
                <a:solidFill>
                  <a:srgbClr val="2C3E50"/>
                </a:solidFill>
                <a:latin typeface="Calibri" pitchFamily="34" charset="0"/>
                <a:ea typeface="Calibri" pitchFamily="34" charset="-122"/>
                <a:cs typeface="Calibri" pitchFamily="34" charset="-120"/>
              </a:rPr>
              <a:t> canonical types</a:t>
            </a:r>
            <a:r>
              <a:rPr lang="zh-CN" altLang="en-US" dirty="0">
                <a:solidFill>
                  <a:srgbClr val="2C3E50"/>
                </a:solidFill>
                <a:latin typeface="Calibri" pitchFamily="34" charset="0"/>
                <a:ea typeface="Calibri" pitchFamily="34" charset="-122"/>
                <a:cs typeface="Calibri" pitchFamily="34" charset="-120"/>
              </a:rPr>
              <a:t> </a:t>
            </a:r>
            <a:r>
              <a:rPr lang="en-US" altLang="zh-CN" dirty="0">
                <a:solidFill>
                  <a:srgbClr val="2C3E50"/>
                </a:solidFill>
                <a:latin typeface="Calibri" pitchFamily="34" charset="0"/>
                <a:ea typeface="Calibri" pitchFamily="34" charset="-122"/>
                <a:cs typeface="Calibri" pitchFamily="34" charset="-120"/>
              </a:rPr>
              <a:t>account for ~84% of </a:t>
            </a:r>
            <a:r>
              <a:rPr lang="en-US" i="1" dirty="0"/>
              <a:t>of all person-days</a:t>
            </a:r>
            <a:r>
              <a:rPr lang="en-US" altLang="zh-CN" dirty="0">
                <a:solidFill>
                  <a:srgbClr val="2C3E50"/>
                </a:solidFill>
                <a:latin typeface="Calibri" pitchFamily="34" charset="0"/>
                <a:ea typeface="Calibri" pitchFamily="34" charset="-122"/>
                <a:cs typeface="Calibri" pitchFamily="34" charset="-120"/>
              </a:rPr>
              <a:t>.</a:t>
            </a:r>
            <a:endParaRPr lang="en-US" dirty="0"/>
          </a:p>
        </p:txBody>
      </p:sp>
      <p:pic>
        <p:nvPicPr>
          <p:cNvPr id="14" name="Picture 13">
            <a:extLst>
              <a:ext uri="{FF2B5EF4-FFF2-40B4-BE49-F238E27FC236}">
                <a16:creationId xmlns:a16="http://schemas.microsoft.com/office/drawing/2014/main" id="{8ADFB9F7-ED95-92D0-F3EC-9EB6F71CAC7F}"/>
              </a:ext>
            </a:extLst>
          </p:cNvPr>
          <p:cNvPicPr>
            <a:picLocks noChangeAspect="1"/>
          </p:cNvPicPr>
          <p:nvPr/>
        </p:nvPicPr>
        <p:blipFill>
          <a:blip r:embed="rId5"/>
          <a:stretch>
            <a:fillRect/>
          </a:stretch>
        </p:blipFill>
        <p:spPr>
          <a:xfrm flipV="1">
            <a:off x="812618" y="4271129"/>
            <a:ext cx="139749" cy="274320"/>
          </a:xfrm>
          <a:prstGeom prst="rect">
            <a:avLst/>
          </a:prstGeom>
        </p:spPr>
      </p:pic>
      <p:pic>
        <p:nvPicPr>
          <p:cNvPr id="15" name="Picture 14">
            <a:extLst>
              <a:ext uri="{FF2B5EF4-FFF2-40B4-BE49-F238E27FC236}">
                <a16:creationId xmlns:a16="http://schemas.microsoft.com/office/drawing/2014/main" id="{B7910BFE-3411-9E88-EDE8-2103E5C8976A}"/>
              </a:ext>
            </a:extLst>
          </p:cNvPr>
          <p:cNvPicPr>
            <a:picLocks noChangeAspect="1"/>
          </p:cNvPicPr>
          <p:nvPr/>
        </p:nvPicPr>
        <p:blipFill>
          <a:blip r:embed="rId6"/>
          <a:stretch>
            <a:fillRect/>
          </a:stretch>
        </p:blipFill>
        <p:spPr>
          <a:xfrm>
            <a:off x="1093864" y="4271129"/>
            <a:ext cx="216567" cy="274320"/>
          </a:xfrm>
          <a:prstGeom prst="rect">
            <a:avLst/>
          </a:prstGeom>
        </p:spPr>
      </p:pic>
      <p:pic>
        <p:nvPicPr>
          <p:cNvPr id="16" name="Picture 15">
            <a:extLst>
              <a:ext uri="{FF2B5EF4-FFF2-40B4-BE49-F238E27FC236}">
                <a16:creationId xmlns:a16="http://schemas.microsoft.com/office/drawing/2014/main" id="{E5B78F19-BEEE-F8D1-7D72-46FE8623BADE}"/>
              </a:ext>
            </a:extLst>
          </p:cNvPr>
          <p:cNvPicPr>
            <a:picLocks noChangeAspect="1"/>
          </p:cNvPicPr>
          <p:nvPr/>
        </p:nvPicPr>
        <p:blipFill>
          <a:blip r:embed="rId7"/>
          <a:stretch>
            <a:fillRect/>
          </a:stretch>
        </p:blipFill>
        <p:spPr>
          <a:xfrm>
            <a:off x="1447633" y="4271129"/>
            <a:ext cx="231006" cy="274320"/>
          </a:xfrm>
          <a:prstGeom prst="rect">
            <a:avLst/>
          </a:prstGeom>
        </p:spPr>
      </p:pic>
      <p:pic>
        <p:nvPicPr>
          <p:cNvPr id="17" name="Picture 16">
            <a:extLst>
              <a:ext uri="{FF2B5EF4-FFF2-40B4-BE49-F238E27FC236}">
                <a16:creationId xmlns:a16="http://schemas.microsoft.com/office/drawing/2014/main" id="{B9E0D0E4-2C73-3F26-F600-4DB20F657820}"/>
              </a:ext>
            </a:extLst>
          </p:cNvPr>
          <p:cNvPicPr>
            <a:picLocks noChangeAspect="1"/>
          </p:cNvPicPr>
          <p:nvPr/>
        </p:nvPicPr>
        <p:blipFill>
          <a:blip r:embed="rId8"/>
          <a:stretch>
            <a:fillRect/>
          </a:stretch>
        </p:blipFill>
        <p:spPr>
          <a:xfrm>
            <a:off x="1797023" y="4271129"/>
            <a:ext cx="231753" cy="274320"/>
          </a:xfrm>
          <a:prstGeom prst="rect">
            <a:avLst/>
          </a:prstGeom>
        </p:spPr>
      </p:pic>
      <p:pic>
        <p:nvPicPr>
          <p:cNvPr id="18" name="Picture 17">
            <a:extLst>
              <a:ext uri="{FF2B5EF4-FFF2-40B4-BE49-F238E27FC236}">
                <a16:creationId xmlns:a16="http://schemas.microsoft.com/office/drawing/2014/main" id="{A74ABFD2-A18F-44F7-BCA2-D6BE11AB1873}"/>
              </a:ext>
            </a:extLst>
          </p:cNvPr>
          <p:cNvPicPr>
            <a:picLocks noChangeAspect="1"/>
          </p:cNvPicPr>
          <p:nvPr/>
        </p:nvPicPr>
        <p:blipFill>
          <a:blip r:embed="rId9"/>
          <a:stretch>
            <a:fillRect/>
          </a:stretch>
        </p:blipFill>
        <p:spPr>
          <a:xfrm>
            <a:off x="2132506" y="4293989"/>
            <a:ext cx="218485" cy="228600"/>
          </a:xfrm>
          <a:prstGeom prst="rect">
            <a:avLst/>
          </a:prstGeom>
        </p:spPr>
      </p:pic>
      <p:pic>
        <p:nvPicPr>
          <p:cNvPr id="19" name="Picture 18">
            <a:extLst>
              <a:ext uri="{FF2B5EF4-FFF2-40B4-BE49-F238E27FC236}">
                <a16:creationId xmlns:a16="http://schemas.microsoft.com/office/drawing/2014/main" id="{1C6E3F4C-F5D2-6358-9ECF-60F56682621B}"/>
              </a:ext>
            </a:extLst>
          </p:cNvPr>
          <p:cNvPicPr>
            <a:picLocks noChangeAspect="1"/>
          </p:cNvPicPr>
          <p:nvPr/>
        </p:nvPicPr>
        <p:blipFill>
          <a:blip r:embed="rId10"/>
          <a:stretch>
            <a:fillRect/>
          </a:stretch>
        </p:blipFill>
        <p:spPr>
          <a:xfrm>
            <a:off x="2478742" y="4293989"/>
            <a:ext cx="245378" cy="228600"/>
          </a:xfrm>
          <a:prstGeom prst="rect">
            <a:avLst/>
          </a:prstGeom>
        </p:spPr>
      </p:pic>
      <p:pic>
        <p:nvPicPr>
          <p:cNvPr id="20" name="Picture 19">
            <a:extLst>
              <a:ext uri="{FF2B5EF4-FFF2-40B4-BE49-F238E27FC236}">
                <a16:creationId xmlns:a16="http://schemas.microsoft.com/office/drawing/2014/main" id="{1C2B80C3-BE5C-A1B6-04EE-B807A0E388A6}"/>
              </a:ext>
            </a:extLst>
          </p:cNvPr>
          <p:cNvPicPr>
            <a:picLocks noChangeAspect="1"/>
          </p:cNvPicPr>
          <p:nvPr/>
        </p:nvPicPr>
        <p:blipFill>
          <a:blip r:embed="rId11"/>
          <a:stretch>
            <a:fillRect/>
          </a:stretch>
        </p:blipFill>
        <p:spPr>
          <a:xfrm>
            <a:off x="2821138" y="4293989"/>
            <a:ext cx="252100" cy="228600"/>
          </a:xfrm>
          <a:prstGeom prst="rect">
            <a:avLst/>
          </a:prstGeom>
        </p:spPr>
      </p:pic>
      <p:pic>
        <p:nvPicPr>
          <p:cNvPr id="21" name="Picture 20">
            <a:extLst>
              <a:ext uri="{FF2B5EF4-FFF2-40B4-BE49-F238E27FC236}">
                <a16:creationId xmlns:a16="http://schemas.microsoft.com/office/drawing/2014/main" id="{E76F98C9-ABE7-FDD4-422F-D10BCFED5B6A}"/>
              </a:ext>
            </a:extLst>
          </p:cNvPr>
          <p:cNvPicPr>
            <a:picLocks noChangeAspect="1"/>
          </p:cNvPicPr>
          <p:nvPr/>
        </p:nvPicPr>
        <p:blipFill>
          <a:blip r:embed="rId12"/>
          <a:stretch>
            <a:fillRect/>
          </a:stretch>
        </p:blipFill>
        <p:spPr>
          <a:xfrm>
            <a:off x="3205861" y="4293989"/>
            <a:ext cx="250658" cy="228600"/>
          </a:xfrm>
          <a:prstGeom prst="rect">
            <a:avLst/>
          </a:prstGeom>
        </p:spPr>
      </p:pic>
      <p:pic>
        <p:nvPicPr>
          <p:cNvPr id="22" name="Picture 21">
            <a:extLst>
              <a:ext uri="{FF2B5EF4-FFF2-40B4-BE49-F238E27FC236}">
                <a16:creationId xmlns:a16="http://schemas.microsoft.com/office/drawing/2014/main" id="{FCF927F3-8D85-F7A2-6E55-F2D515E2DC9D}"/>
              </a:ext>
            </a:extLst>
          </p:cNvPr>
          <p:cNvPicPr>
            <a:picLocks noChangeAspect="1"/>
          </p:cNvPicPr>
          <p:nvPr/>
        </p:nvPicPr>
        <p:blipFill>
          <a:blip r:embed="rId13"/>
          <a:stretch>
            <a:fillRect/>
          </a:stretch>
        </p:blipFill>
        <p:spPr>
          <a:xfrm>
            <a:off x="3574903" y="4271129"/>
            <a:ext cx="180609" cy="274320"/>
          </a:xfrm>
          <a:prstGeom prst="rect">
            <a:avLst/>
          </a:prstGeom>
        </p:spPr>
      </p:pic>
      <p:pic>
        <p:nvPicPr>
          <p:cNvPr id="23" name="Picture 22">
            <a:extLst>
              <a:ext uri="{FF2B5EF4-FFF2-40B4-BE49-F238E27FC236}">
                <a16:creationId xmlns:a16="http://schemas.microsoft.com/office/drawing/2014/main" id="{6BC2CA70-A374-4545-E847-1FD3421CBE95}"/>
              </a:ext>
            </a:extLst>
          </p:cNvPr>
          <p:cNvPicPr>
            <a:picLocks noChangeAspect="1"/>
          </p:cNvPicPr>
          <p:nvPr/>
        </p:nvPicPr>
        <p:blipFill>
          <a:blip r:embed="rId14"/>
          <a:stretch>
            <a:fillRect/>
          </a:stretch>
        </p:blipFill>
        <p:spPr>
          <a:xfrm>
            <a:off x="3929220" y="4271129"/>
            <a:ext cx="198882" cy="274320"/>
          </a:xfrm>
          <a:prstGeom prst="rect">
            <a:avLst/>
          </a:prstGeom>
        </p:spPr>
      </p:pic>
      <p:pic>
        <p:nvPicPr>
          <p:cNvPr id="24" name="Picture 23">
            <a:extLst>
              <a:ext uri="{FF2B5EF4-FFF2-40B4-BE49-F238E27FC236}">
                <a16:creationId xmlns:a16="http://schemas.microsoft.com/office/drawing/2014/main" id="{03B5C62E-2F2F-770C-794C-4A1093C6807E}"/>
              </a:ext>
            </a:extLst>
          </p:cNvPr>
          <p:cNvPicPr>
            <a:picLocks noChangeAspect="1"/>
          </p:cNvPicPr>
          <p:nvPr/>
        </p:nvPicPr>
        <p:blipFill>
          <a:blip r:embed="rId15"/>
          <a:stretch>
            <a:fillRect/>
          </a:stretch>
        </p:blipFill>
        <p:spPr>
          <a:xfrm>
            <a:off x="4244142" y="4271129"/>
            <a:ext cx="204873" cy="274320"/>
          </a:xfrm>
          <a:prstGeom prst="rect">
            <a:avLst/>
          </a:prstGeom>
        </p:spPr>
      </p:pic>
      <p:pic>
        <p:nvPicPr>
          <p:cNvPr id="25" name="Picture 24">
            <a:extLst>
              <a:ext uri="{FF2B5EF4-FFF2-40B4-BE49-F238E27FC236}">
                <a16:creationId xmlns:a16="http://schemas.microsoft.com/office/drawing/2014/main" id="{2FE52A55-5D56-6437-FF6E-C7D5E4956C29}"/>
              </a:ext>
            </a:extLst>
          </p:cNvPr>
          <p:cNvPicPr>
            <a:picLocks noChangeAspect="1"/>
          </p:cNvPicPr>
          <p:nvPr/>
        </p:nvPicPr>
        <p:blipFill>
          <a:blip r:embed="rId16"/>
          <a:stretch>
            <a:fillRect/>
          </a:stretch>
        </p:blipFill>
        <p:spPr>
          <a:xfrm>
            <a:off x="4606918" y="4271129"/>
            <a:ext cx="187509" cy="274320"/>
          </a:xfrm>
          <a:prstGeom prst="rect">
            <a:avLst/>
          </a:prstGeom>
        </p:spPr>
      </p:pic>
      <p:pic>
        <p:nvPicPr>
          <p:cNvPr id="26" name="Picture 25">
            <a:extLst>
              <a:ext uri="{FF2B5EF4-FFF2-40B4-BE49-F238E27FC236}">
                <a16:creationId xmlns:a16="http://schemas.microsoft.com/office/drawing/2014/main" id="{D2DF845B-BB3C-9E29-FFBC-932AAEDAA0BE}"/>
              </a:ext>
            </a:extLst>
          </p:cNvPr>
          <p:cNvPicPr>
            <a:picLocks noChangeAspect="1"/>
          </p:cNvPicPr>
          <p:nvPr/>
        </p:nvPicPr>
        <p:blipFill>
          <a:blip r:embed="rId17"/>
          <a:stretch>
            <a:fillRect/>
          </a:stretch>
        </p:blipFill>
        <p:spPr>
          <a:xfrm>
            <a:off x="4986175" y="4271129"/>
            <a:ext cx="147612" cy="274320"/>
          </a:xfrm>
          <a:prstGeom prst="rect">
            <a:avLst/>
          </a:prstGeom>
        </p:spPr>
      </p:pic>
      <p:pic>
        <p:nvPicPr>
          <p:cNvPr id="27" name="Picture 26">
            <a:extLst>
              <a:ext uri="{FF2B5EF4-FFF2-40B4-BE49-F238E27FC236}">
                <a16:creationId xmlns:a16="http://schemas.microsoft.com/office/drawing/2014/main" id="{4AE9CAB4-3268-4336-3279-A425C9E7F712}"/>
              </a:ext>
            </a:extLst>
          </p:cNvPr>
          <p:cNvPicPr>
            <a:picLocks noChangeAspect="1"/>
          </p:cNvPicPr>
          <p:nvPr/>
        </p:nvPicPr>
        <p:blipFill>
          <a:blip r:embed="rId18"/>
          <a:stretch>
            <a:fillRect/>
          </a:stretch>
        </p:blipFill>
        <p:spPr>
          <a:xfrm>
            <a:off x="5333830" y="4271129"/>
            <a:ext cx="148917" cy="274320"/>
          </a:xfrm>
          <a:prstGeom prst="rect">
            <a:avLst/>
          </a:prstGeom>
        </p:spPr>
      </p:pic>
      <p:pic>
        <p:nvPicPr>
          <p:cNvPr id="28" name="Picture 27">
            <a:extLst>
              <a:ext uri="{FF2B5EF4-FFF2-40B4-BE49-F238E27FC236}">
                <a16:creationId xmlns:a16="http://schemas.microsoft.com/office/drawing/2014/main" id="{D55E3A6B-B007-7F8A-79B3-04A6B4B58D20}"/>
              </a:ext>
            </a:extLst>
          </p:cNvPr>
          <p:cNvPicPr>
            <a:picLocks noChangeAspect="1"/>
          </p:cNvPicPr>
          <p:nvPr/>
        </p:nvPicPr>
        <p:blipFill>
          <a:blip r:embed="rId19"/>
          <a:srcRect b="5776"/>
          <a:stretch>
            <a:fillRect/>
          </a:stretch>
        </p:blipFill>
        <p:spPr>
          <a:xfrm>
            <a:off x="110823" y="1252527"/>
            <a:ext cx="6062476" cy="3004468"/>
          </a:xfrm>
          <a:prstGeom prst="rect">
            <a:avLst/>
          </a:prstGeom>
        </p:spPr>
      </p:pic>
      <p:sp>
        <p:nvSpPr>
          <p:cNvPr id="31" name="Shape 45">
            <a:extLst>
              <a:ext uri="{FF2B5EF4-FFF2-40B4-BE49-F238E27FC236}">
                <a16:creationId xmlns:a16="http://schemas.microsoft.com/office/drawing/2014/main" id="{F80224B6-FB94-337B-B185-042C94AA09DF}"/>
              </a:ext>
            </a:extLst>
          </p:cNvPr>
          <p:cNvSpPr/>
          <p:nvPr/>
        </p:nvSpPr>
        <p:spPr>
          <a:xfrm>
            <a:off x="6265810" y="3768209"/>
            <a:ext cx="2692649" cy="1150667"/>
          </a:xfrm>
          <a:prstGeom prst="rect">
            <a:avLst/>
          </a:prstGeom>
          <a:solidFill>
            <a:srgbClr val="E8734A"/>
          </a:solidFill>
          <a:ln/>
        </p:spPr>
        <p:txBody>
          <a:bodyPr/>
          <a:lstStyle/>
          <a:p>
            <a:r>
              <a:rPr lang="en-US" sz="1400" dirty="0">
                <a:solidFill>
                  <a:schemeClr val="bg1"/>
                </a:solidFill>
              </a:rPr>
              <a:t>The merged rare category (</a:t>
            </a:r>
            <a:r>
              <a:rPr lang="en-US" altLang="zh-CN" sz="1400" dirty="0">
                <a:solidFill>
                  <a:schemeClr val="bg1"/>
                </a:solidFill>
              </a:rPr>
              <a:t>28</a:t>
            </a:r>
            <a:r>
              <a:rPr lang="zh-CN" altLang="en-US" sz="1400" dirty="0">
                <a:solidFill>
                  <a:schemeClr val="bg1"/>
                </a:solidFill>
              </a:rPr>
              <a:t> </a:t>
            </a:r>
            <a:r>
              <a:rPr lang="en-US" altLang="zh-CN" sz="1400" dirty="0">
                <a:solidFill>
                  <a:schemeClr val="bg1"/>
                </a:solidFill>
              </a:rPr>
              <a:t>types</a:t>
            </a:r>
            <a:r>
              <a:rPr lang="en-US" sz="1400" dirty="0">
                <a:solidFill>
                  <a:schemeClr val="bg1"/>
                </a:solidFill>
              </a:rPr>
              <a:t>) is</a:t>
            </a:r>
            <a:r>
              <a:rPr lang="zh-CN" altLang="en-US" sz="1400" dirty="0">
                <a:solidFill>
                  <a:schemeClr val="bg1"/>
                </a:solidFill>
              </a:rPr>
              <a:t> </a:t>
            </a:r>
            <a:r>
              <a:rPr lang="en-US" sz="1400" dirty="0">
                <a:solidFill>
                  <a:schemeClr val="bg1"/>
                </a:solidFill>
              </a:rPr>
              <a:t>a low-representativeness group rather than a core mobility pattern.</a:t>
            </a:r>
            <a:br>
              <a:rPr lang="en-US" sz="1400" dirty="0">
                <a:solidFill>
                  <a:schemeClr val="bg1"/>
                </a:solidFill>
              </a:rPr>
            </a:br>
            <a:endParaRPr lang="en-US" sz="1400" dirty="0">
              <a:solidFill>
                <a:schemeClr val="bg1"/>
              </a:solidFill>
            </a:endParaRPr>
          </a:p>
        </p:txBody>
      </p:sp>
    </p:spTree>
    <p:extLst>
      <p:ext uri="{BB962C8B-B14F-4D97-AF65-F5344CB8AC3E}">
        <p14:creationId xmlns:p14="http://schemas.microsoft.com/office/powerpoint/2010/main" val="3434754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3F8"/>
        </a:solidFill>
        <a:effectLst/>
      </p:bgPr>
    </p:bg>
    <p:spTree>
      <p:nvGrpSpPr>
        <p:cNvPr id="1" name=""/>
        <p:cNvGrpSpPr/>
        <p:nvPr/>
      </p:nvGrpSpPr>
      <p:grpSpPr>
        <a:xfrm>
          <a:off x="0" y="0"/>
          <a:ext cx="0" cy="0"/>
          <a:chOff x="0" y="0"/>
          <a:chExt cx="0" cy="0"/>
        </a:xfrm>
      </p:grpSpPr>
      <p:sp>
        <p:nvSpPr>
          <p:cNvPr id="2" name="Text 0"/>
          <p:cNvSpPr/>
          <p:nvPr/>
        </p:nvSpPr>
        <p:spPr>
          <a:xfrm>
            <a:off x="230588" y="165345"/>
            <a:ext cx="8403336" cy="502920"/>
          </a:xfrm>
          <a:prstGeom prst="rect">
            <a:avLst/>
          </a:prstGeom>
          <a:noFill/>
          <a:ln/>
        </p:spPr>
        <p:txBody>
          <a:bodyPr wrap="square" lIns="0" tIns="0" rIns="0" bIns="0" rtlCol="0" anchor="ctr"/>
          <a:lstStyle/>
          <a:p>
            <a:r>
              <a:rPr lang="en-US" sz="2000" b="1" dirty="0">
                <a:solidFill>
                  <a:srgbClr val="1B2A4A"/>
                </a:solidFill>
                <a:latin typeface="Georgia" pitchFamily="34" charset="0"/>
              </a:rPr>
              <a:t>R1: Spatial Distribution of Activity Space Indicator (ASI)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30588" y="489361"/>
            <a:ext cx="1097280" cy="36576"/>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8412480" y="4754880"/>
            <a:ext cx="4572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6</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B9616B2C-7B17-83EC-E777-472150A67CE2}"/>
              </a:ext>
            </a:extLst>
          </p:cNvPr>
          <p:cNvPicPr>
            <a:picLocks noChangeAspect="1"/>
          </p:cNvPicPr>
          <p:nvPr/>
        </p:nvPicPr>
        <p:blipFill>
          <a:blip r:embed="rId3"/>
          <a:stretch>
            <a:fillRect/>
          </a:stretch>
        </p:blipFill>
        <p:spPr>
          <a:xfrm>
            <a:off x="437065" y="1183013"/>
            <a:ext cx="3781546" cy="3846187"/>
          </a:xfrm>
          <a:prstGeom prst="rect">
            <a:avLst/>
          </a:prstGeom>
          <a:solidFill>
            <a:schemeClr val="bg1"/>
          </a:solidFill>
          <a:ln w="6350">
            <a:solidFill>
              <a:schemeClr val="accent6">
                <a:shade val="15000"/>
              </a:schemeClr>
            </a:solidFill>
          </a:ln>
        </p:spPr>
      </p:pic>
      <p:sp>
        <p:nvSpPr>
          <p:cNvPr id="15" name="Shape 12">
            <a:extLst>
              <a:ext uri="{FF2B5EF4-FFF2-40B4-BE49-F238E27FC236}">
                <a16:creationId xmlns:a16="http://schemas.microsoft.com/office/drawing/2014/main" id="{6B8CA649-B131-1754-2E2F-3CB6CB921D53}"/>
              </a:ext>
            </a:extLst>
          </p:cNvPr>
          <p:cNvSpPr/>
          <p:nvPr/>
        </p:nvSpPr>
        <p:spPr>
          <a:xfrm>
            <a:off x="4788309" y="2911424"/>
            <a:ext cx="4061923" cy="2044621"/>
          </a:xfrm>
          <a:prstGeom prst="rect">
            <a:avLst/>
          </a:prstGeom>
          <a:solidFill>
            <a:srgbClr val="FFFFFF"/>
          </a:solidFill>
          <a:ln/>
          <a:effectLst>
            <a:outerShdw blurRad="76200" dist="25400" dir="8100000" algn="bl" rotWithShape="0">
              <a:srgbClr val="000000">
                <a:alpha val="12000"/>
              </a:srgbClr>
            </a:outerShdw>
          </a:effectLst>
        </p:spPr>
        <p:txBody>
          <a:bodyPr/>
          <a:lstStyle/>
          <a:p>
            <a:pPr marL="342900" indent="-342900">
              <a:spcAft>
                <a:spcPts val="200"/>
              </a:spcAft>
              <a:buSzPct val="100000"/>
              <a:buFontTx/>
              <a:buChar char="•"/>
              <a:defRPr/>
            </a:pPr>
            <a:r>
              <a:rPr lang="en-US" sz="1400" b="1" dirty="0"/>
              <a:t>Higher ASI (inland/suburban)</a:t>
            </a:r>
            <a:r>
              <a:rPr lang="en-US" sz="1400" dirty="0"/>
              <a:t>: San Bernardino (8.25 km), San Mateo (9.44 km), and Sierra foothill counties — lower density and job-housing separation push daily activity farther from home.</a:t>
            </a:r>
          </a:p>
          <a:p>
            <a:pPr marL="342900" indent="-342900">
              <a:spcAft>
                <a:spcPts val="200"/>
              </a:spcAft>
              <a:buSzPct val="100000"/>
              <a:buFontTx/>
              <a:buChar char="•"/>
              <a:defRPr/>
            </a:pPr>
            <a:r>
              <a:rPr lang="en-US" sz="1400" b="1" dirty="0"/>
              <a:t>Lower ASI (dense urban cores)</a:t>
            </a:r>
            <a:r>
              <a:rPr lang="en-US" sz="1400" dirty="0"/>
              <a:t>: San Francisco (3.91 km),  Santa Barbara (4.72 km) — compact land use and nearby services keep daily activities close to home.</a:t>
            </a:r>
          </a:p>
          <a:p>
            <a:pPr marL="342900" indent="-342900">
              <a:spcAft>
                <a:spcPts val="200"/>
              </a:spcAft>
              <a:buSzPct val="100000"/>
              <a:buFontTx/>
              <a:buChar char="•"/>
              <a:defRPr/>
            </a:pPr>
            <a:endParaRPr lang="en-US" sz="1400" dirty="0"/>
          </a:p>
        </p:txBody>
      </p:sp>
      <p:sp>
        <p:nvSpPr>
          <p:cNvPr id="16" name="Shape 13">
            <a:extLst>
              <a:ext uri="{FF2B5EF4-FFF2-40B4-BE49-F238E27FC236}">
                <a16:creationId xmlns:a16="http://schemas.microsoft.com/office/drawing/2014/main" id="{C9E2D1DD-8CD3-5459-0DDE-9776E3FE5338}"/>
              </a:ext>
            </a:extLst>
          </p:cNvPr>
          <p:cNvSpPr/>
          <p:nvPr/>
        </p:nvSpPr>
        <p:spPr>
          <a:xfrm>
            <a:off x="4788308" y="2911424"/>
            <a:ext cx="68826" cy="2044622"/>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113DBEC-C22B-397E-199A-1E88D7430614}"/>
              </a:ext>
            </a:extLst>
          </p:cNvPr>
          <p:cNvPicPr>
            <a:picLocks noChangeAspect="1"/>
          </p:cNvPicPr>
          <p:nvPr/>
        </p:nvPicPr>
        <p:blipFill>
          <a:blip r:embed="rId4"/>
          <a:srcRect t="9081" r="50696" b="7666"/>
          <a:stretch>
            <a:fillRect/>
          </a:stretch>
        </p:blipFill>
        <p:spPr>
          <a:xfrm>
            <a:off x="4857134" y="481617"/>
            <a:ext cx="3146324" cy="2212576"/>
          </a:xfrm>
          <a:prstGeom prst="rect">
            <a:avLst/>
          </a:prstGeom>
        </p:spPr>
      </p:pic>
      <p:sp>
        <p:nvSpPr>
          <p:cNvPr id="6" name="TextBox 5">
            <a:extLst>
              <a:ext uri="{FF2B5EF4-FFF2-40B4-BE49-F238E27FC236}">
                <a16:creationId xmlns:a16="http://schemas.microsoft.com/office/drawing/2014/main" id="{35291344-E3AA-BF4E-6AA3-A240643A8545}"/>
              </a:ext>
            </a:extLst>
          </p:cNvPr>
          <p:cNvSpPr txBox="1"/>
          <p:nvPr/>
        </p:nvSpPr>
        <p:spPr>
          <a:xfrm>
            <a:off x="6163302" y="2649813"/>
            <a:ext cx="1066964" cy="261610"/>
          </a:xfrm>
          <a:prstGeom prst="rect">
            <a:avLst/>
          </a:prstGeom>
          <a:noFill/>
        </p:spPr>
        <p:txBody>
          <a:bodyPr wrap="square">
            <a:spAutoFit/>
          </a:bodyPr>
          <a:lstStyle/>
          <a:p>
            <a:r>
              <a:rPr kumimoji="0" lang="en-US" sz="110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ASI (km) </a:t>
            </a:r>
            <a:endParaRPr lang="en-US" sz="1100" dirty="0"/>
          </a:p>
        </p:txBody>
      </p:sp>
      <p:sp>
        <p:nvSpPr>
          <p:cNvPr id="11" name="TextBox 10">
            <a:extLst>
              <a:ext uri="{FF2B5EF4-FFF2-40B4-BE49-F238E27FC236}">
                <a16:creationId xmlns:a16="http://schemas.microsoft.com/office/drawing/2014/main" id="{64C96DED-FE9A-0484-03AB-A3A48864473E}"/>
              </a:ext>
            </a:extLst>
          </p:cNvPr>
          <p:cNvSpPr txBox="1"/>
          <p:nvPr/>
        </p:nvSpPr>
        <p:spPr>
          <a:xfrm>
            <a:off x="41838" y="507649"/>
            <a:ext cx="4530162" cy="646331"/>
          </a:xfrm>
          <a:prstGeom prst="rect">
            <a:avLst/>
          </a:prstGeom>
          <a:noFill/>
        </p:spPr>
        <p:txBody>
          <a:bodyPr wrap="square">
            <a:spAutoFit/>
          </a:bodyPr>
          <a:lstStyle/>
          <a:p>
            <a:pPr marL="342900" indent="-342900">
              <a:spcAft>
                <a:spcPts val="200"/>
              </a:spcAft>
              <a:buSzPct val="100000"/>
              <a:buFontTx/>
              <a:buChar char="•"/>
              <a:defRPr/>
            </a:pPr>
            <a:r>
              <a:rPr lang="en-US" sz="1200" b="1" dirty="0"/>
              <a:t>Statewide</a:t>
            </a:r>
            <a:r>
              <a:rPr lang="en-US" sz="1200" dirty="0"/>
              <a:t>: </a:t>
            </a:r>
            <a:r>
              <a:rPr lang="en-US" sz="1200" dirty="0">
                <a:solidFill>
                  <a:srgbClr val="C00000"/>
                </a:solidFill>
              </a:rPr>
              <a:t>Median ASI = 6.38 km</a:t>
            </a:r>
            <a:r>
              <a:rPr lang="en-US" sz="1200" dirty="0"/>
              <a:t>, with strong right skew (</a:t>
            </a:r>
            <a:r>
              <a:rPr lang="en-US" sz="1200" dirty="0">
                <a:solidFill>
                  <a:srgbClr val="C00000"/>
                </a:solidFill>
              </a:rPr>
              <a:t>mean = 12.03 km</a:t>
            </a:r>
            <a:r>
              <a:rPr lang="en-US" sz="1200" dirty="0"/>
              <a:t>) — most residents' daily activities concentrate within ~6 km of home, but a subset travels extensively.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0022" y="223332"/>
            <a:ext cx="8046720" cy="502920"/>
          </a:xfrm>
          <a:prstGeom prst="rect">
            <a:avLst/>
          </a:prstGeom>
          <a:noFill/>
          <a:ln/>
        </p:spPr>
        <p:txBody>
          <a:bodyPr wrap="square" lIns="0" tIns="0" rIns="0" bIns="0" rtlCol="0" anchor="ctr"/>
          <a:lstStyle/>
          <a:p>
            <a:pPr lvl="0">
              <a:defRPr/>
            </a:pPr>
            <a:r>
              <a:rPr lang="en-US" sz="2000" b="1" dirty="0">
                <a:solidFill>
                  <a:srgbClr val="1B2A4A"/>
                </a:solidFill>
                <a:latin typeface="Georgia" pitchFamily="34" charset="0"/>
                <a:ea typeface="Georgia" pitchFamily="34" charset="-122"/>
                <a:cs typeface="Georgia" pitchFamily="34" charset="-120"/>
              </a:rPr>
              <a:t>Results</a:t>
            </a:r>
            <a:r>
              <a:rPr lang="en-US" altLang="zh-CN" sz="2000" b="1" dirty="0">
                <a:solidFill>
                  <a:srgbClr val="1B2A4A"/>
                </a:solidFill>
                <a:latin typeface="Georgia" pitchFamily="34" charset="0"/>
                <a:ea typeface="Georgia" pitchFamily="34" charset="-122"/>
                <a:cs typeface="Georgia" pitchFamily="34" charset="-120"/>
              </a:rPr>
              <a:t>:</a:t>
            </a:r>
            <a:r>
              <a:rPr lang="zh-CN" altLang="en-US" sz="2000" b="1" dirty="0">
                <a:solidFill>
                  <a:srgbClr val="1B2A4A"/>
                </a:solidFill>
                <a:latin typeface="Georgia" pitchFamily="34" charset="0"/>
                <a:ea typeface="Georgia" pitchFamily="34" charset="-122"/>
                <a:cs typeface="Georgia" pitchFamily="34" charset="-120"/>
              </a:rPr>
              <a:t> </a:t>
            </a:r>
            <a:r>
              <a:rPr lang="en-US" sz="2000" b="1" dirty="0">
                <a:solidFill>
                  <a:srgbClr val="1B2A4A"/>
                </a:solidFill>
                <a:latin typeface="Georgia" pitchFamily="34" charset="0"/>
                <a:ea typeface="Georgia" pitchFamily="34" charset="-122"/>
                <a:cs typeface="Georgia" pitchFamily="34" charset="-120"/>
              </a:rPr>
              <a:t>ASI</a:t>
            </a:r>
            <a:r>
              <a:rPr lang="zh-CN" altLang="en-US" sz="2000" b="1" dirty="0">
                <a:solidFill>
                  <a:srgbClr val="1B2A4A"/>
                </a:solidFill>
                <a:latin typeface="Georgia" pitchFamily="34" charset="0"/>
                <a:ea typeface="Georgia" pitchFamily="34" charset="-122"/>
                <a:cs typeface="Georgia" pitchFamily="34" charset="-120"/>
              </a:rPr>
              <a:t> </a:t>
            </a:r>
            <a:r>
              <a:rPr lang="en-US" altLang="zh-CN" sz="2000" b="1" dirty="0">
                <a:solidFill>
                  <a:srgbClr val="1B2A4A"/>
                </a:solidFill>
                <a:latin typeface="Georgia" pitchFamily="34" charset="0"/>
                <a:ea typeface="Georgia" pitchFamily="34" charset="-122"/>
                <a:cs typeface="Georgia" pitchFamily="34" charset="-120"/>
              </a:rPr>
              <a:t>Distribution</a:t>
            </a:r>
            <a:r>
              <a:rPr lang="zh-CN" altLang="en-US" sz="2000" b="1" dirty="0">
                <a:solidFill>
                  <a:srgbClr val="1B2A4A"/>
                </a:solidFill>
                <a:latin typeface="Georgia" pitchFamily="34" charset="0"/>
                <a:ea typeface="Georgia" pitchFamily="34" charset="-122"/>
                <a:cs typeface="Georgia" pitchFamily="34" charset="-120"/>
              </a:rPr>
              <a:t> </a:t>
            </a:r>
            <a:r>
              <a:rPr lang="en-US" sz="2000" b="1" dirty="0">
                <a:solidFill>
                  <a:srgbClr val="1B2A4A"/>
                </a:solidFill>
                <a:latin typeface="Georgia" pitchFamily="34" charset="0"/>
                <a:ea typeface="Georgia" pitchFamily="34" charset="-122"/>
                <a:cs typeface="Georgia" pitchFamily="34" charset="-120"/>
              </a:rPr>
              <a:t>by Motif</a:t>
            </a:r>
            <a:endParaRPr lang="en-US" sz="2000" dirty="0">
              <a:solidFill>
                <a:prstClr val="black"/>
              </a:solidFill>
            </a:endParaRPr>
          </a:p>
        </p:txBody>
      </p:sp>
      <p:sp>
        <p:nvSpPr>
          <p:cNvPr id="3" name="Shape 1"/>
          <p:cNvSpPr/>
          <p:nvPr/>
        </p:nvSpPr>
        <p:spPr>
          <a:xfrm>
            <a:off x="548640" y="777240"/>
            <a:ext cx="1097280" cy="36576"/>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5">
            <a:extLst>
              <a:ext uri="{FF2B5EF4-FFF2-40B4-BE49-F238E27FC236}">
                <a16:creationId xmlns:a16="http://schemas.microsoft.com/office/drawing/2014/main" id="{0F5F3388-E8D0-11D2-F746-B648B1521441}"/>
              </a:ext>
            </a:extLst>
          </p:cNvPr>
          <p:cNvSpPr/>
          <p:nvPr/>
        </p:nvSpPr>
        <p:spPr>
          <a:xfrm>
            <a:off x="6314494" y="795528"/>
            <a:ext cx="2687408" cy="3911343"/>
          </a:xfrm>
          <a:prstGeom prst="rect">
            <a:avLst/>
          </a:prstGeom>
          <a:solidFill>
            <a:srgbClr val="FFFFFF"/>
          </a:solidFill>
          <a:ln/>
          <a:effectLst>
            <a:outerShdw blurRad="76200" dist="25400" dir="8100000" algn="bl" rotWithShape="0">
              <a:srgbClr val="000000">
                <a:alpha val="12000"/>
              </a:srgbClr>
            </a:outerShdw>
          </a:effectLst>
        </p:spPr>
        <p:txBody>
          <a:bodyPr/>
          <a:lstStyle/>
          <a:p>
            <a:r>
              <a:rPr lang="en-US" sz="1200" b="1" dirty="0">
                <a:solidFill>
                  <a:schemeClr val="accent1"/>
                </a:solidFill>
              </a:rPr>
              <a:t>Overall pattern</a:t>
            </a:r>
            <a:r>
              <a:rPr lang="en-US" sz="1200" dirty="0"/>
              <a:t>: Medians range from 3.89 km (Motif 4) to 10.29 km (Motif 14), but IQRs heavily overlap across all motifs (IQR = 6–16 km) — motif type alone does not sharply separate ASI distributions.</a:t>
            </a:r>
          </a:p>
          <a:p>
            <a:r>
              <a:rPr lang="en-US" sz="1200" b="1" dirty="0">
                <a:solidFill>
                  <a:srgbClr val="0070C0"/>
                </a:solidFill>
              </a:rPr>
              <a:t>No monotonic increase with complexity</a:t>
            </a:r>
            <a:r>
              <a:rPr lang="en-US" sz="1200" dirty="0"/>
              <a:t>: Motif 4 (median 3.89 km) and Motif 7 (median 4.61 km) have lower ASI than the simpler Motif 1 (median 4.96 km). More complex chains do not automatically produce larger activity spaces.</a:t>
            </a:r>
          </a:p>
          <a:p>
            <a:r>
              <a:rPr lang="en-US" sz="1200" b="1" dirty="0">
                <a:solidFill>
                  <a:srgbClr val="0070C0"/>
                </a:solidFill>
              </a:rPr>
              <a:t>Substantial within-motif variance</a:t>
            </a:r>
            <a:r>
              <a:rPr lang="en-US" sz="1200" dirty="0"/>
              <a:t>: Every motif shows wide dispersion (e.g., Motif 10: median 8.46 km but IQR = 3.83–20.31 km), indicating that individual and spatial factors drive most of the ASI variation beyond trip chain structure.</a:t>
            </a:r>
          </a:p>
          <a:p>
            <a:pPr>
              <a:spcAft>
                <a:spcPts val="400"/>
              </a:spcAft>
              <a:defRPr sz="1300">
                <a:solidFill>
                  <a:srgbClr val="333333"/>
                </a:solidFill>
              </a:defRPr>
            </a:pPr>
            <a:endParaRPr lang="en-US" sz="1200" dirty="0">
              <a:solidFill>
                <a:srgbClr val="333333"/>
              </a:solidFill>
            </a:endParaRPr>
          </a:p>
          <a:p>
            <a:pPr>
              <a:spcAft>
                <a:spcPts val="400"/>
              </a:spcAft>
              <a:defRPr sz="1300">
                <a:solidFill>
                  <a:srgbClr val="333333"/>
                </a:solidFill>
              </a:defRPr>
            </a:pPr>
            <a:endParaRPr lang="en-US" sz="1200" dirty="0">
              <a:solidFill>
                <a:srgbClr val="333333"/>
              </a:solidFill>
            </a:endParaRPr>
          </a:p>
        </p:txBody>
      </p:sp>
      <p:grpSp>
        <p:nvGrpSpPr>
          <p:cNvPr id="43" name="Group 42">
            <a:extLst>
              <a:ext uri="{FF2B5EF4-FFF2-40B4-BE49-F238E27FC236}">
                <a16:creationId xmlns:a16="http://schemas.microsoft.com/office/drawing/2014/main" id="{3A6A202A-2D96-00A6-591D-6E7AFFF181C6}"/>
              </a:ext>
            </a:extLst>
          </p:cNvPr>
          <p:cNvGrpSpPr/>
          <p:nvPr/>
        </p:nvGrpSpPr>
        <p:grpSpPr>
          <a:xfrm>
            <a:off x="111851" y="1077271"/>
            <a:ext cx="6094957" cy="3189588"/>
            <a:chOff x="111851" y="1808791"/>
            <a:chExt cx="6094957" cy="3189588"/>
          </a:xfrm>
        </p:grpSpPr>
        <p:pic>
          <p:nvPicPr>
            <p:cNvPr id="20" name="Picture 19">
              <a:extLst>
                <a:ext uri="{FF2B5EF4-FFF2-40B4-BE49-F238E27FC236}">
                  <a16:creationId xmlns:a16="http://schemas.microsoft.com/office/drawing/2014/main" id="{8E3D6C4C-1651-A144-FABA-44D7F6E20A23}"/>
                </a:ext>
              </a:extLst>
            </p:cNvPr>
            <p:cNvPicPr>
              <a:picLocks noChangeAspect="1"/>
            </p:cNvPicPr>
            <p:nvPr/>
          </p:nvPicPr>
          <p:blipFill>
            <a:blip r:embed="rId3"/>
            <a:stretch>
              <a:fillRect/>
            </a:stretch>
          </p:blipFill>
          <p:spPr>
            <a:xfrm flipV="1">
              <a:off x="497655" y="4724059"/>
              <a:ext cx="139749" cy="274320"/>
            </a:xfrm>
            <a:prstGeom prst="rect">
              <a:avLst/>
            </a:prstGeom>
          </p:spPr>
        </p:pic>
        <p:pic>
          <p:nvPicPr>
            <p:cNvPr id="22" name="Picture 21">
              <a:extLst>
                <a:ext uri="{FF2B5EF4-FFF2-40B4-BE49-F238E27FC236}">
                  <a16:creationId xmlns:a16="http://schemas.microsoft.com/office/drawing/2014/main" id="{79AE260C-4662-8F4F-6DB3-51B41EB0140A}"/>
                </a:ext>
              </a:extLst>
            </p:cNvPr>
            <p:cNvPicPr>
              <a:picLocks noChangeAspect="1"/>
            </p:cNvPicPr>
            <p:nvPr/>
          </p:nvPicPr>
          <p:blipFill>
            <a:blip r:embed="rId4"/>
            <a:stretch>
              <a:fillRect/>
            </a:stretch>
          </p:blipFill>
          <p:spPr>
            <a:xfrm>
              <a:off x="848666" y="4724059"/>
              <a:ext cx="216567" cy="274320"/>
            </a:xfrm>
            <a:prstGeom prst="rect">
              <a:avLst/>
            </a:prstGeom>
          </p:spPr>
        </p:pic>
        <p:pic>
          <p:nvPicPr>
            <p:cNvPr id="23" name="Picture 22">
              <a:extLst>
                <a:ext uri="{FF2B5EF4-FFF2-40B4-BE49-F238E27FC236}">
                  <a16:creationId xmlns:a16="http://schemas.microsoft.com/office/drawing/2014/main" id="{61AFA692-2F8D-5A97-CE56-DF4725F8CB6A}"/>
                </a:ext>
              </a:extLst>
            </p:cNvPr>
            <p:cNvPicPr>
              <a:picLocks noChangeAspect="1"/>
            </p:cNvPicPr>
            <p:nvPr/>
          </p:nvPicPr>
          <p:blipFill>
            <a:blip r:embed="rId5"/>
            <a:stretch>
              <a:fillRect/>
            </a:stretch>
          </p:blipFill>
          <p:spPr>
            <a:xfrm>
              <a:off x="1241144" y="4724059"/>
              <a:ext cx="231006" cy="274320"/>
            </a:xfrm>
            <a:prstGeom prst="rect">
              <a:avLst/>
            </a:prstGeom>
          </p:spPr>
        </p:pic>
        <p:pic>
          <p:nvPicPr>
            <p:cNvPr id="24" name="Picture 23">
              <a:extLst>
                <a:ext uri="{FF2B5EF4-FFF2-40B4-BE49-F238E27FC236}">
                  <a16:creationId xmlns:a16="http://schemas.microsoft.com/office/drawing/2014/main" id="{88690B03-870A-B017-2B87-DE9C1A603112}"/>
                </a:ext>
              </a:extLst>
            </p:cNvPr>
            <p:cNvPicPr>
              <a:picLocks noChangeAspect="1"/>
            </p:cNvPicPr>
            <p:nvPr/>
          </p:nvPicPr>
          <p:blipFill>
            <a:blip r:embed="rId6"/>
            <a:stretch>
              <a:fillRect/>
            </a:stretch>
          </p:blipFill>
          <p:spPr>
            <a:xfrm>
              <a:off x="1579836" y="4724059"/>
              <a:ext cx="231753" cy="274320"/>
            </a:xfrm>
            <a:prstGeom prst="rect">
              <a:avLst/>
            </a:prstGeom>
          </p:spPr>
        </p:pic>
        <p:pic>
          <p:nvPicPr>
            <p:cNvPr id="25" name="Picture 24">
              <a:extLst>
                <a:ext uri="{FF2B5EF4-FFF2-40B4-BE49-F238E27FC236}">
                  <a16:creationId xmlns:a16="http://schemas.microsoft.com/office/drawing/2014/main" id="{6DF879A3-96FC-7DE9-2D5C-20D60D4325AB}"/>
                </a:ext>
              </a:extLst>
            </p:cNvPr>
            <p:cNvPicPr>
              <a:picLocks noChangeAspect="1"/>
            </p:cNvPicPr>
            <p:nvPr/>
          </p:nvPicPr>
          <p:blipFill>
            <a:blip r:embed="rId7"/>
            <a:stretch>
              <a:fillRect/>
            </a:stretch>
          </p:blipFill>
          <p:spPr>
            <a:xfrm>
              <a:off x="1976542" y="4746919"/>
              <a:ext cx="218485" cy="228600"/>
            </a:xfrm>
            <a:prstGeom prst="rect">
              <a:avLst/>
            </a:prstGeom>
          </p:spPr>
        </p:pic>
        <p:pic>
          <p:nvPicPr>
            <p:cNvPr id="26" name="Picture 25">
              <a:extLst>
                <a:ext uri="{FF2B5EF4-FFF2-40B4-BE49-F238E27FC236}">
                  <a16:creationId xmlns:a16="http://schemas.microsoft.com/office/drawing/2014/main" id="{CB8071C4-486E-E500-FF66-555F86CFE434}"/>
                </a:ext>
              </a:extLst>
            </p:cNvPr>
            <p:cNvPicPr>
              <a:picLocks noChangeAspect="1"/>
            </p:cNvPicPr>
            <p:nvPr/>
          </p:nvPicPr>
          <p:blipFill>
            <a:blip r:embed="rId8"/>
            <a:stretch>
              <a:fillRect/>
            </a:stretch>
          </p:blipFill>
          <p:spPr>
            <a:xfrm>
              <a:off x="2403677" y="4746919"/>
              <a:ext cx="245378" cy="228600"/>
            </a:xfrm>
            <a:prstGeom prst="rect">
              <a:avLst/>
            </a:prstGeom>
          </p:spPr>
        </p:pic>
        <p:pic>
          <p:nvPicPr>
            <p:cNvPr id="27" name="Picture 26">
              <a:extLst>
                <a:ext uri="{FF2B5EF4-FFF2-40B4-BE49-F238E27FC236}">
                  <a16:creationId xmlns:a16="http://schemas.microsoft.com/office/drawing/2014/main" id="{0D149102-3E70-ED3A-327A-770937DF33B1}"/>
                </a:ext>
              </a:extLst>
            </p:cNvPr>
            <p:cNvPicPr>
              <a:picLocks noChangeAspect="1"/>
            </p:cNvPicPr>
            <p:nvPr/>
          </p:nvPicPr>
          <p:blipFill>
            <a:blip r:embed="rId9"/>
            <a:stretch>
              <a:fillRect/>
            </a:stretch>
          </p:blipFill>
          <p:spPr>
            <a:xfrm>
              <a:off x="2781678" y="4746919"/>
              <a:ext cx="252100" cy="228600"/>
            </a:xfrm>
            <a:prstGeom prst="rect">
              <a:avLst/>
            </a:prstGeom>
          </p:spPr>
        </p:pic>
        <p:pic>
          <p:nvPicPr>
            <p:cNvPr id="28" name="Picture 27">
              <a:extLst>
                <a:ext uri="{FF2B5EF4-FFF2-40B4-BE49-F238E27FC236}">
                  <a16:creationId xmlns:a16="http://schemas.microsoft.com/office/drawing/2014/main" id="{E97B7128-E625-3EA0-86BF-5ABE8F267C28}"/>
                </a:ext>
              </a:extLst>
            </p:cNvPr>
            <p:cNvPicPr>
              <a:picLocks noChangeAspect="1"/>
            </p:cNvPicPr>
            <p:nvPr/>
          </p:nvPicPr>
          <p:blipFill>
            <a:blip r:embed="rId10"/>
            <a:stretch>
              <a:fillRect/>
            </a:stretch>
          </p:blipFill>
          <p:spPr>
            <a:xfrm>
              <a:off x="3166389" y="4746919"/>
              <a:ext cx="250658" cy="228600"/>
            </a:xfrm>
            <a:prstGeom prst="rect">
              <a:avLst/>
            </a:prstGeom>
          </p:spPr>
        </p:pic>
        <p:pic>
          <p:nvPicPr>
            <p:cNvPr id="29" name="Picture 28">
              <a:extLst>
                <a:ext uri="{FF2B5EF4-FFF2-40B4-BE49-F238E27FC236}">
                  <a16:creationId xmlns:a16="http://schemas.microsoft.com/office/drawing/2014/main" id="{B4B6ED07-B5C8-9039-2C58-2602A1A8064B}"/>
                </a:ext>
              </a:extLst>
            </p:cNvPr>
            <p:cNvPicPr>
              <a:picLocks noChangeAspect="1"/>
            </p:cNvPicPr>
            <p:nvPr/>
          </p:nvPicPr>
          <p:blipFill>
            <a:blip r:embed="rId11"/>
            <a:stretch>
              <a:fillRect/>
            </a:stretch>
          </p:blipFill>
          <p:spPr>
            <a:xfrm>
              <a:off x="3576528" y="4724059"/>
              <a:ext cx="180609" cy="274320"/>
            </a:xfrm>
            <a:prstGeom prst="rect">
              <a:avLst/>
            </a:prstGeom>
          </p:spPr>
        </p:pic>
        <p:pic>
          <p:nvPicPr>
            <p:cNvPr id="30" name="Picture 29">
              <a:extLst>
                <a:ext uri="{FF2B5EF4-FFF2-40B4-BE49-F238E27FC236}">
                  <a16:creationId xmlns:a16="http://schemas.microsoft.com/office/drawing/2014/main" id="{1C0397A9-94BC-1788-2615-BEEA7184000C}"/>
                </a:ext>
              </a:extLst>
            </p:cNvPr>
            <p:cNvPicPr>
              <a:picLocks noChangeAspect="1"/>
            </p:cNvPicPr>
            <p:nvPr/>
          </p:nvPicPr>
          <p:blipFill>
            <a:blip r:embed="rId12"/>
            <a:stretch>
              <a:fillRect/>
            </a:stretch>
          </p:blipFill>
          <p:spPr>
            <a:xfrm>
              <a:off x="3937512" y="4724059"/>
              <a:ext cx="198882" cy="274320"/>
            </a:xfrm>
            <a:prstGeom prst="rect">
              <a:avLst/>
            </a:prstGeom>
          </p:spPr>
        </p:pic>
        <p:pic>
          <p:nvPicPr>
            <p:cNvPr id="31" name="Picture 30">
              <a:extLst>
                <a:ext uri="{FF2B5EF4-FFF2-40B4-BE49-F238E27FC236}">
                  <a16:creationId xmlns:a16="http://schemas.microsoft.com/office/drawing/2014/main" id="{6FB76CFB-8A58-1486-CA81-2364627C2C9F}"/>
                </a:ext>
              </a:extLst>
            </p:cNvPr>
            <p:cNvPicPr>
              <a:picLocks noChangeAspect="1"/>
            </p:cNvPicPr>
            <p:nvPr/>
          </p:nvPicPr>
          <p:blipFill>
            <a:blip r:embed="rId13"/>
            <a:stretch>
              <a:fillRect/>
            </a:stretch>
          </p:blipFill>
          <p:spPr>
            <a:xfrm>
              <a:off x="4301084" y="4724059"/>
              <a:ext cx="204873" cy="274320"/>
            </a:xfrm>
            <a:prstGeom prst="rect">
              <a:avLst/>
            </a:prstGeom>
          </p:spPr>
        </p:pic>
        <p:pic>
          <p:nvPicPr>
            <p:cNvPr id="32" name="Picture 31">
              <a:extLst>
                <a:ext uri="{FF2B5EF4-FFF2-40B4-BE49-F238E27FC236}">
                  <a16:creationId xmlns:a16="http://schemas.microsoft.com/office/drawing/2014/main" id="{58B955C6-BBBC-B1DD-24C0-D727BF394B93}"/>
                </a:ext>
              </a:extLst>
            </p:cNvPr>
            <p:cNvPicPr>
              <a:picLocks noChangeAspect="1"/>
            </p:cNvPicPr>
            <p:nvPr/>
          </p:nvPicPr>
          <p:blipFill>
            <a:blip r:embed="rId14"/>
            <a:stretch>
              <a:fillRect/>
            </a:stretch>
          </p:blipFill>
          <p:spPr>
            <a:xfrm>
              <a:off x="4746236" y="4724059"/>
              <a:ext cx="187509" cy="274320"/>
            </a:xfrm>
            <a:prstGeom prst="rect">
              <a:avLst/>
            </a:prstGeom>
          </p:spPr>
        </p:pic>
        <p:pic>
          <p:nvPicPr>
            <p:cNvPr id="33" name="Picture 32">
              <a:extLst>
                <a:ext uri="{FF2B5EF4-FFF2-40B4-BE49-F238E27FC236}">
                  <a16:creationId xmlns:a16="http://schemas.microsoft.com/office/drawing/2014/main" id="{09F0E868-C597-9309-5B19-A4A65E65613A}"/>
                </a:ext>
              </a:extLst>
            </p:cNvPr>
            <p:cNvPicPr>
              <a:picLocks noChangeAspect="1"/>
            </p:cNvPicPr>
            <p:nvPr/>
          </p:nvPicPr>
          <p:blipFill>
            <a:blip r:embed="rId15"/>
            <a:stretch>
              <a:fillRect/>
            </a:stretch>
          </p:blipFill>
          <p:spPr>
            <a:xfrm>
              <a:off x="5117877" y="4724059"/>
              <a:ext cx="147612" cy="274320"/>
            </a:xfrm>
            <a:prstGeom prst="rect">
              <a:avLst/>
            </a:prstGeom>
          </p:spPr>
        </p:pic>
        <p:pic>
          <p:nvPicPr>
            <p:cNvPr id="34" name="Picture 33">
              <a:extLst>
                <a:ext uri="{FF2B5EF4-FFF2-40B4-BE49-F238E27FC236}">
                  <a16:creationId xmlns:a16="http://schemas.microsoft.com/office/drawing/2014/main" id="{BCCDC528-A604-1722-489E-169E9DEA0C5A}"/>
                </a:ext>
              </a:extLst>
            </p:cNvPr>
            <p:cNvPicPr>
              <a:picLocks noChangeAspect="1"/>
            </p:cNvPicPr>
            <p:nvPr/>
          </p:nvPicPr>
          <p:blipFill>
            <a:blip r:embed="rId16"/>
            <a:stretch>
              <a:fillRect/>
            </a:stretch>
          </p:blipFill>
          <p:spPr>
            <a:xfrm>
              <a:off x="5540544" y="4724059"/>
              <a:ext cx="148917" cy="274320"/>
            </a:xfrm>
            <a:prstGeom prst="rect">
              <a:avLst/>
            </a:prstGeom>
          </p:spPr>
        </p:pic>
        <p:pic>
          <p:nvPicPr>
            <p:cNvPr id="42" name="Picture 41">
              <a:extLst>
                <a:ext uri="{FF2B5EF4-FFF2-40B4-BE49-F238E27FC236}">
                  <a16:creationId xmlns:a16="http://schemas.microsoft.com/office/drawing/2014/main" id="{100E684D-5890-8A8E-C129-9E4943F77D9A}"/>
                </a:ext>
              </a:extLst>
            </p:cNvPr>
            <p:cNvPicPr>
              <a:picLocks noChangeAspect="1"/>
            </p:cNvPicPr>
            <p:nvPr/>
          </p:nvPicPr>
          <p:blipFill>
            <a:blip r:embed="rId17"/>
            <a:stretch>
              <a:fillRect/>
            </a:stretch>
          </p:blipFill>
          <p:spPr>
            <a:xfrm>
              <a:off x="111851" y="1808791"/>
              <a:ext cx="6094957" cy="2928745"/>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3F8"/>
        </a:solidFill>
        <a:effectLst/>
      </p:bgPr>
    </p:bg>
    <p:spTree>
      <p:nvGrpSpPr>
        <p:cNvPr id="1" name=""/>
        <p:cNvGrpSpPr/>
        <p:nvPr/>
      </p:nvGrpSpPr>
      <p:grpSpPr>
        <a:xfrm>
          <a:off x="0" y="0"/>
          <a:ext cx="0" cy="0"/>
          <a:chOff x="0" y="0"/>
          <a:chExt cx="0" cy="0"/>
        </a:xfrm>
      </p:grpSpPr>
      <p:sp>
        <p:nvSpPr>
          <p:cNvPr id="2" name="Text 0"/>
          <p:cNvSpPr/>
          <p:nvPr/>
        </p:nvSpPr>
        <p:spPr>
          <a:xfrm>
            <a:off x="514349" y="118872"/>
            <a:ext cx="80467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1B2A4A"/>
                </a:solidFill>
                <a:latin typeface="Georgia" pitchFamily="34" charset="0"/>
                <a:ea typeface="Georgia" pitchFamily="34" charset="-122"/>
                <a:cs typeface="Georgia" pitchFamily="34" charset="-120"/>
              </a:rPr>
              <a:t>RQ</a:t>
            </a:r>
            <a:r>
              <a:rPr lang="zh-CN" altLang="en-US" sz="2000" b="1" dirty="0">
                <a:solidFill>
                  <a:srgbClr val="1B2A4A"/>
                </a:solidFill>
                <a:latin typeface="Georgia" pitchFamily="34" charset="0"/>
                <a:ea typeface="Georgia" pitchFamily="34" charset="-122"/>
                <a:cs typeface="Georgia" pitchFamily="34" charset="-120"/>
              </a:rPr>
              <a:t> </a:t>
            </a:r>
            <a:r>
              <a:rPr lang="en-US" altLang="zh-CN" sz="2000" b="1" dirty="0">
                <a:solidFill>
                  <a:srgbClr val="1B2A4A"/>
                </a:solidFill>
                <a:latin typeface="Georgia" pitchFamily="34" charset="0"/>
                <a:ea typeface="Georgia" pitchFamily="34" charset="-122"/>
                <a:cs typeface="Georgia" pitchFamily="34" charset="-120"/>
              </a:rPr>
              <a:t>2:</a:t>
            </a:r>
            <a:r>
              <a:rPr lang="zh-CN" altLang="en-US" sz="2000" b="1" dirty="0">
                <a:solidFill>
                  <a:srgbClr val="1B2A4A"/>
                </a:solidFill>
                <a:latin typeface="Georgia" pitchFamily="34" charset="0"/>
                <a:ea typeface="Georgia" pitchFamily="34" charset="-122"/>
                <a:cs typeface="Georgia" pitchFamily="34" charset="-120"/>
              </a:rPr>
              <a:t> </a:t>
            </a:r>
            <a:r>
              <a:rPr kumimoji="0" lang="en-US" sz="20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SEM Results</a:t>
            </a:r>
            <a:r>
              <a:rPr lang="zh-CN" altLang="en-US" sz="2000" b="1" dirty="0">
                <a:solidFill>
                  <a:srgbClr val="1B2A4A"/>
                </a:solidFill>
                <a:latin typeface="Georgia" pitchFamily="34" charset="0"/>
                <a:ea typeface="Georgia" pitchFamily="34" charset="-122"/>
                <a:cs typeface="Georgia" pitchFamily="34" charset="-120"/>
              </a:rPr>
              <a:t> </a:t>
            </a:r>
            <a:r>
              <a:rPr lang="en-US" altLang="zh-CN" sz="2000" b="1" dirty="0">
                <a:solidFill>
                  <a:srgbClr val="1B2A4A"/>
                </a:solidFill>
                <a:latin typeface="Georgia" pitchFamily="34" charset="0"/>
                <a:ea typeface="Georgia" pitchFamily="34" charset="-122"/>
                <a:cs typeface="Georgia" pitchFamily="34" charset="-120"/>
              </a:rPr>
              <a:t>-</a:t>
            </a:r>
            <a:r>
              <a:rPr lang="zh-CN" altLang="en-US" sz="2000" b="1" dirty="0">
                <a:solidFill>
                  <a:srgbClr val="1B2A4A"/>
                </a:solidFill>
                <a:latin typeface="Georgia" pitchFamily="34" charset="0"/>
                <a:ea typeface="Georgia" pitchFamily="34" charset="-122"/>
                <a:cs typeface="Georgia" pitchFamily="34" charset="-120"/>
              </a:rPr>
              <a:t> </a:t>
            </a:r>
            <a:r>
              <a:rPr kumimoji="0" lang="en-US" sz="20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What Shapes Activity Space?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94360" y="733784"/>
            <a:ext cx="1097280" cy="36576"/>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91440" y="854310"/>
            <a:ext cx="6050871" cy="4133743"/>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515100" y="1298448"/>
            <a:ext cx="2363724" cy="3383280"/>
          </a:xfrm>
          <a:prstGeom prst="rect">
            <a:avLst/>
          </a:prstGeom>
          <a:noFill/>
          <a:ln/>
        </p:spPr>
        <p:txBody>
          <a:bodyPr wrap="square" lIns="0" tIns="0" rIns="0" bIns="0" rtlCol="0" anchor="ctr"/>
          <a:lstStyle/>
          <a:p>
            <a:pPr marL="171450" indent="-171450">
              <a:buFont typeface="Arial" panose="020B0604020202020204" pitchFamily="34" charset="0"/>
              <a:buChar char="•"/>
            </a:pPr>
            <a:endParaRPr lang="en-US" sz="1400" b="1">
              <a:solidFill>
                <a:srgbClr val="5A6C7E"/>
              </a:solidFill>
              <a:latin typeface="Calibri" pitchFamily="34" charset="0"/>
              <a:cs typeface="Calibri" pitchFamily="34" charset="-120"/>
            </a:endParaRPr>
          </a:p>
        </p:txBody>
      </p:sp>
      <p:sp>
        <p:nvSpPr>
          <p:cNvPr id="8" name="Shape 6"/>
          <p:cNvSpPr/>
          <p:nvPr/>
        </p:nvSpPr>
        <p:spPr>
          <a:xfrm>
            <a:off x="6453207" y="1298448"/>
            <a:ext cx="45720" cy="3383280"/>
          </a:xfrm>
          <a:prstGeom prst="rect">
            <a:avLst/>
          </a:prstGeom>
          <a:solidFill>
            <a:srgbClr val="E87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6681807" y="1389888"/>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Key Findings</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6595075" y="1801368"/>
            <a:ext cx="2286000" cy="182880"/>
          </a:xfrm>
          <a:prstGeom prst="rect">
            <a:avLst/>
          </a:prstGeom>
          <a:noFill/>
          <a:ln/>
        </p:spPr>
        <p:txBody>
          <a:bodyPr wrap="square" lIns="0" tIns="0" rIns="0" bIns="0"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Worker status</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681807" y="1984248"/>
            <a:ext cx="22860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onsolas" pitchFamily="34" charset="0"/>
                <a:ea typeface="Consolas" pitchFamily="34" charset="-122"/>
                <a:cs typeface="Consolas" pitchFamily="34" charset="-120"/>
              </a:rPr>
              <a:t>+0.445 ***</a:t>
            </a:r>
            <a:endParaRPr kumimoji="0" lang="en-US" sz="14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2" name="Text 10"/>
          <p:cNvSpPr/>
          <p:nvPr/>
        </p:nvSpPr>
        <p:spPr>
          <a:xfrm>
            <a:off x="6681807" y="2212848"/>
            <a:ext cx="22860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Workers travel farther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595075" y="4190418"/>
            <a:ext cx="2286000" cy="182880"/>
          </a:xfrm>
          <a:prstGeom prst="rect">
            <a:avLst/>
          </a:prstGeom>
          <a:noFill/>
          <a:ln/>
        </p:spPr>
        <p:txBody>
          <a:bodyPr wrap="square" lIns="0" tIns="0" rIns="0" bIns="0"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Accessibility</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690951" y="4373298"/>
            <a:ext cx="22860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B050"/>
                </a:solidFill>
                <a:effectLst/>
                <a:uLnTx/>
                <a:uFillTx/>
                <a:latin typeface="Consolas" pitchFamily="34" charset="0"/>
                <a:ea typeface="Consolas" pitchFamily="34" charset="-122"/>
                <a:cs typeface="Consolas" pitchFamily="34" charset="-120"/>
              </a:rPr>
              <a:t>−0.011 </a:t>
            </a:r>
            <a:r>
              <a:rPr kumimoji="0" lang="en-US" sz="1200" b="1" i="0" u="none" strike="noStrike" kern="1200" cap="none" spc="0" normalizeH="0" baseline="0" noProof="0" dirty="0">
                <a:ln>
                  <a:noFill/>
                </a:ln>
                <a:solidFill>
                  <a:srgbClr val="00B050"/>
                </a:solidFill>
                <a:effectLst/>
                <a:uLnTx/>
                <a:uFillTx/>
                <a:latin typeface="Consolas" pitchFamily="34" charset="0"/>
                <a:ea typeface="Consolas" pitchFamily="34" charset="-122"/>
                <a:cs typeface="Consolas" pitchFamily="34" charset="-120"/>
              </a:rPr>
              <a:t>(p=.067)</a:t>
            </a:r>
            <a:endParaRPr kumimoji="0" lang="en-US" sz="14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
        <p:nvSpPr>
          <p:cNvPr id="15" name="Text 13"/>
          <p:cNvSpPr/>
          <p:nvPr/>
        </p:nvSpPr>
        <p:spPr>
          <a:xfrm>
            <a:off x="6690951" y="4601898"/>
            <a:ext cx="22860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Marginal →GWR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595074" y="2534544"/>
            <a:ext cx="2671755" cy="173832"/>
          </a:xfrm>
          <a:prstGeom prst="rect">
            <a:avLst/>
          </a:prstGeom>
          <a:noFill/>
          <a:ln/>
        </p:spPr>
        <p:txBody>
          <a:bodyPr wrap="square" lIns="0" tIns="0" rIns="0" bIns="0"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Mobility resources</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5" name="TextBox 124">
            <a:extLst>
              <a:ext uri="{FF2B5EF4-FFF2-40B4-BE49-F238E27FC236}">
                <a16:creationId xmlns:a16="http://schemas.microsoft.com/office/drawing/2014/main" id="{9EF0B1FD-980D-0A87-FC37-AB0533146A15}"/>
              </a:ext>
            </a:extLst>
          </p:cNvPr>
          <p:cNvSpPr txBox="1"/>
          <p:nvPr/>
        </p:nvSpPr>
        <p:spPr>
          <a:xfrm>
            <a:off x="489204" y="492155"/>
            <a:ext cx="6858000" cy="230832"/>
          </a:xfrm>
          <a:prstGeom prst="rect">
            <a:avLst/>
          </a:prstGeom>
          <a:noFill/>
        </p:spPr>
        <p:txBody>
          <a:bodyPr wrap="square">
            <a:spAutoFit/>
          </a:bodyPr>
          <a:lstStyle/>
          <a:p>
            <a:pPr algn="l"/>
            <a:r>
              <a:rPr sz="900" dirty="0">
                <a:solidFill>
                  <a:srgbClr val="666666"/>
                </a:solidFill>
              </a:rPr>
              <a:t>log(ASI)  |  N = 2</a:t>
            </a:r>
            <a:r>
              <a:rPr lang="en-US" altLang="zh-CN" sz="900" dirty="0">
                <a:solidFill>
                  <a:srgbClr val="666666"/>
                </a:solidFill>
              </a:rPr>
              <a:t>8,404</a:t>
            </a:r>
            <a:r>
              <a:rPr sz="900" dirty="0">
                <a:solidFill>
                  <a:srgbClr val="666666"/>
                </a:solidFill>
              </a:rPr>
              <a:t>  |  </a:t>
            </a:r>
            <a:r>
              <a:rPr sz="900" dirty="0" err="1">
                <a:solidFill>
                  <a:srgbClr val="666666"/>
                </a:solidFill>
              </a:rPr>
              <a:t>λ</a:t>
            </a:r>
            <a:r>
              <a:rPr sz="900" dirty="0">
                <a:solidFill>
                  <a:srgbClr val="666666"/>
                </a:solidFill>
              </a:rPr>
              <a:t> = 0.204***  |  Only significant coefficients shown</a:t>
            </a:r>
          </a:p>
        </p:txBody>
      </p:sp>
      <p:sp>
        <p:nvSpPr>
          <p:cNvPr id="126" name="Rectangle 125">
            <a:extLst>
              <a:ext uri="{FF2B5EF4-FFF2-40B4-BE49-F238E27FC236}">
                <a16:creationId xmlns:a16="http://schemas.microsoft.com/office/drawing/2014/main" id="{F0303690-50C3-20E2-B709-942A70930E55}"/>
              </a:ext>
            </a:extLst>
          </p:cNvPr>
          <p:cNvSpPr/>
          <p:nvPr/>
        </p:nvSpPr>
        <p:spPr>
          <a:xfrm>
            <a:off x="2939796" y="918972"/>
            <a:ext cx="13716" cy="3977640"/>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7" name="TextBox 126">
            <a:extLst>
              <a:ext uri="{FF2B5EF4-FFF2-40B4-BE49-F238E27FC236}">
                <a16:creationId xmlns:a16="http://schemas.microsoft.com/office/drawing/2014/main" id="{B7658700-DE70-BDCE-F081-06BE7A404FB2}"/>
              </a:ext>
            </a:extLst>
          </p:cNvPr>
          <p:cNvSpPr txBox="1"/>
          <p:nvPr/>
        </p:nvSpPr>
        <p:spPr>
          <a:xfrm>
            <a:off x="2718054" y="884682"/>
            <a:ext cx="342900" cy="207749"/>
          </a:xfrm>
          <a:prstGeom prst="rect">
            <a:avLst/>
          </a:prstGeom>
          <a:noFill/>
        </p:spPr>
        <p:txBody>
          <a:bodyPr wrap="square">
            <a:spAutoFit/>
          </a:bodyPr>
          <a:lstStyle/>
          <a:p>
            <a:pPr algn="ctr"/>
            <a:r>
              <a:rPr sz="750" dirty="0">
                <a:solidFill>
                  <a:srgbClr val="666666"/>
                </a:solidFill>
              </a:rPr>
              <a:t>0</a:t>
            </a:r>
          </a:p>
        </p:txBody>
      </p:sp>
      <p:sp>
        <p:nvSpPr>
          <p:cNvPr id="128" name="Rectangle 127">
            <a:extLst>
              <a:ext uri="{FF2B5EF4-FFF2-40B4-BE49-F238E27FC236}">
                <a16:creationId xmlns:a16="http://schemas.microsoft.com/office/drawing/2014/main" id="{0364EF26-FE5A-0D01-2524-C370555B5A0F}"/>
              </a:ext>
            </a:extLst>
          </p:cNvPr>
          <p:cNvSpPr/>
          <p:nvPr/>
        </p:nvSpPr>
        <p:spPr>
          <a:xfrm>
            <a:off x="2939796" y="918972"/>
            <a:ext cx="3051810" cy="171450"/>
          </a:xfrm>
          <a:prstGeom prst="rect">
            <a:avLst/>
          </a:prstGeom>
          <a:solidFill>
            <a:srgbClr val="E86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9" name="TextBox 128">
            <a:extLst>
              <a:ext uri="{FF2B5EF4-FFF2-40B4-BE49-F238E27FC236}">
                <a16:creationId xmlns:a16="http://schemas.microsoft.com/office/drawing/2014/main" id="{4117FE80-DCE3-DF95-9DF9-EBE94157B799}"/>
              </a:ext>
            </a:extLst>
          </p:cNvPr>
          <p:cNvSpPr txBox="1"/>
          <p:nvPr/>
        </p:nvSpPr>
        <p:spPr>
          <a:xfrm>
            <a:off x="5562749" y="1074143"/>
            <a:ext cx="1028700" cy="196208"/>
          </a:xfrm>
          <a:prstGeom prst="rect">
            <a:avLst/>
          </a:prstGeom>
          <a:noFill/>
        </p:spPr>
        <p:txBody>
          <a:bodyPr wrap="square">
            <a:spAutoFit/>
          </a:bodyPr>
          <a:lstStyle/>
          <a:p>
            <a:pPr algn="l"/>
            <a:r>
              <a:rPr sz="675" b="1" dirty="0">
                <a:solidFill>
                  <a:srgbClr val="E86C56"/>
                </a:solidFill>
              </a:rPr>
              <a:t>+0.445***</a:t>
            </a:r>
          </a:p>
        </p:txBody>
      </p:sp>
      <p:sp>
        <p:nvSpPr>
          <p:cNvPr id="130" name="TextBox 129">
            <a:extLst>
              <a:ext uri="{FF2B5EF4-FFF2-40B4-BE49-F238E27FC236}">
                <a16:creationId xmlns:a16="http://schemas.microsoft.com/office/drawing/2014/main" id="{8CF43510-05E2-7EE1-45A8-BA24A53CB085}"/>
              </a:ext>
            </a:extLst>
          </p:cNvPr>
          <p:cNvSpPr txBox="1"/>
          <p:nvPr/>
        </p:nvSpPr>
        <p:spPr>
          <a:xfrm>
            <a:off x="-1300734" y="896388"/>
            <a:ext cx="4114800" cy="207749"/>
          </a:xfrm>
          <a:prstGeom prst="rect">
            <a:avLst/>
          </a:prstGeom>
          <a:noFill/>
        </p:spPr>
        <p:txBody>
          <a:bodyPr wrap="square">
            <a:spAutoFit/>
          </a:bodyPr>
          <a:lstStyle/>
          <a:p>
            <a:pPr algn="r"/>
            <a:r>
              <a:rPr sz="750" dirty="0">
                <a:solidFill>
                  <a:srgbClr val="333333"/>
                </a:solidFill>
              </a:rPr>
              <a:t>Worker (vs non-worker)</a:t>
            </a:r>
          </a:p>
        </p:txBody>
      </p:sp>
      <p:sp>
        <p:nvSpPr>
          <p:cNvPr id="131" name="Rectangle 130">
            <a:extLst>
              <a:ext uri="{FF2B5EF4-FFF2-40B4-BE49-F238E27FC236}">
                <a16:creationId xmlns:a16="http://schemas.microsoft.com/office/drawing/2014/main" id="{B6929767-513B-FCC1-C851-15712BC779DC}"/>
              </a:ext>
            </a:extLst>
          </p:cNvPr>
          <p:cNvSpPr/>
          <p:nvPr/>
        </p:nvSpPr>
        <p:spPr>
          <a:xfrm>
            <a:off x="628650" y="1159002"/>
            <a:ext cx="2311146" cy="17145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2" name="TextBox 131">
            <a:extLst>
              <a:ext uri="{FF2B5EF4-FFF2-40B4-BE49-F238E27FC236}">
                <a16:creationId xmlns:a16="http://schemas.microsoft.com/office/drawing/2014/main" id="{739C034F-14C5-9F11-F278-CC1C5CC9F816}"/>
              </a:ext>
            </a:extLst>
          </p:cNvPr>
          <p:cNvSpPr txBox="1"/>
          <p:nvPr/>
        </p:nvSpPr>
        <p:spPr>
          <a:xfrm>
            <a:off x="-164568" y="1145286"/>
            <a:ext cx="822960" cy="196208"/>
          </a:xfrm>
          <a:prstGeom prst="rect">
            <a:avLst/>
          </a:prstGeom>
          <a:noFill/>
        </p:spPr>
        <p:txBody>
          <a:bodyPr wrap="square">
            <a:spAutoFit/>
          </a:bodyPr>
          <a:lstStyle/>
          <a:p>
            <a:pPr algn="r"/>
            <a:r>
              <a:rPr sz="675" b="1" dirty="0">
                <a:solidFill>
                  <a:srgbClr val="009688"/>
                </a:solidFill>
              </a:rPr>
              <a:t>-0.337***</a:t>
            </a:r>
          </a:p>
        </p:txBody>
      </p:sp>
      <p:sp>
        <p:nvSpPr>
          <p:cNvPr id="133" name="TextBox 132">
            <a:extLst>
              <a:ext uri="{FF2B5EF4-FFF2-40B4-BE49-F238E27FC236}">
                <a16:creationId xmlns:a16="http://schemas.microsoft.com/office/drawing/2014/main" id="{25994E4A-0C4A-F523-FFB3-5A1ED0D12E98}"/>
              </a:ext>
            </a:extLst>
          </p:cNvPr>
          <p:cNvSpPr txBox="1"/>
          <p:nvPr/>
        </p:nvSpPr>
        <p:spPr>
          <a:xfrm>
            <a:off x="3145536" y="1145286"/>
            <a:ext cx="3771900" cy="207749"/>
          </a:xfrm>
          <a:prstGeom prst="rect">
            <a:avLst/>
          </a:prstGeom>
          <a:noFill/>
        </p:spPr>
        <p:txBody>
          <a:bodyPr wrap="square">
            <a:spAutoFit/>
          </a:bodyPr>
          <a:lstStyle/>
          <a:p>
            <a:pPr algn="l"/>
            <a:r>
              <a:rPr sz="750">
                <a:solidFill>
                  <a:srgbClr val="333333"/>
                </a:solidFill>
              </a:rPr>
              <a:t>Works from Home</a:t>
            </a:r>
          </a:p>
        </p:txBody>
      </p:sp>
      <p:sp>
        <p:nvSpPr>
          <p:cNvPr id="134" name="Rectangle 133">
            <a:extLst>
              <a:ext uri="{FF2B5EF4-FFF2-40B4-BE49-F238E27FC236}">
                <a16:creationId xmlns:a16="http://schemas.microsoft.com/office/drawing/2014/main" id="{F141ED2E-8817-19A5-57C3-A0892CB18D9F}"/>
              </a:ext>
            </a:extLst>
          </p:cNvPr>
          <p:cNvSpPr/>
          <p:nvPr/>
        </p:nvSpPr>
        <p:spPr>
          <a:xfrm>
            <a:off x="1122425" y="1399032"/>
            <a:ext cx="1817370" cy="17145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5" name="TextBox 134">
            <a:extLst>
              <a:ext uri="{FF2B5EF4-FFF2-40B4-BE49-F238E27FC236}">
                <a16:creationId xmlns:a16="http://schemas.microsoft.com/office/drawing/2014/main" id="{EC4E10BB-4930-9174-9938-8F8AD3FFE561}"/>
              </a:ext>
            </a:extLst>
          </p:cNvPr>
          <p:cNvSpPr txBox="1"/>
          <p:nvPr/>
        </p:nvSpPr>
        <p:spPr>
          <a:xfrm>
            <a:off x="230886" y="1385316"/>
            <a:ext cx="822960" cy="196208"/>
          </a:xfrm>
          <a:prstGeom prst="rect">
            <a:avLst/>
          </a:prstGeom>
          <a:noFill/>
        </p:spPr>
        <p:txBody>
          <a:bodyPr wrap="square">
            <a:spAutoFit/>
          </a:bodyPr>
          <a:lstStyle/>
          <a:p>
            <a:pPr algn="r"/>
            <a:r>
              <a:rPr sz="675" b="1">
                <a:solidFill>
                  <a:srgbClr val="009688"/>
                </a:solidFill>
              </a:rPr>
              <a:t>-0.265***</a:t>
            </a:r>
          </a:p>
        </p:txBody>
      </p:sp>
      <p:sp>
        <p:nvSpPr>
          <p:cNvPr id="136" name="TextBox 135">
            <a:extLst>
              <a:ext uri="{FF2B5EF4-FFF2-40B4-BE49-F238E27FC236}">
                <a16:creationId xmlns:a16="http://schemas.microsoft.com/office/drawing/2014/main" id="{AFD7A34E-3464-C554-EEFF-70378FEC87AF}"/>
              </a:ext>
            </a:extLst>
          </p:cNvPr>
          <p:cNvSpPr txBox="1"/>
          <p:nvPr/>
        </p:nvSpPr>
        <p:spPr>
          <a:xfrm>
            <a:off x="3145536" y="1385316"/>
            <a:ext cx="3771900" cy="207749"/>
          </a:xfrm>
          <a:prstGeom prst="rect">
            <a:avLst/>
          </a:prstGeom>
          <a:noFill/>
        </p:spPr>
        <p:txBody>
          <a:bodyPr wrap="square">
            <a:spAutoFit/>
          </a:bodyPr>
          <a:lstStyle/>
          <a:p>
            <a:pPr algn="l"/>
            <a:r>
              <a:rPr sz="750">
                <a:solidFill>
                  <a:srgbClr val="333333"/>
                </a:solidFill>
              </a:rPr>
              <a:t>Homemaker</a:t>
            </a:r>
          </a:p>
        </p:txBody>
      </p:sp>
      <p:sp>
        <p:nvSpPr>
          <p:cNvPr id="137" name="Rectangle 136">
            <a:extLst>
              <a:ext uri="{FF2B5EF4-FFF2-40B4-BE49-F238E27FC236}">
                <a16:creationId xmlns:a16="http://schemas.microsoft.com/office/drawing/2014/main" id="{62DCBD95-608C-A1CE-0AD2-1BF3E020D4D5}"/>
              </a:ext>
            </a:extLst>
          </p:cNvPr>
          <p:cNvSpPr/>
          <p:nvPr/>
        </p:nvSpPr>
        <p:spPr>
          <a:xfrm>
            <a:off x="2939796" y="1639062"/>
            <a:ext cx="1597914" cy="171450"/>
          </a:xfrm>
          <a:prstGeom prst="rect">
            <a:avLst/>
          </a:prstGeom>
          <a:solidFill>
            <a:srgbClr val="E86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8" name="TextBox 137">
            <a:extLst>
              <a:ext uri="{FF2B5EF4-FFF2-40B4-BE49-F238E27FC236}">
                <a16:creationId xmlns:a16="http://schemas.microsoft.com/office/drawing/2014/main" id="{AC69F986-6FFC-CE99-4841-7E96847207C9}"/>
              </a:ext>
            </a:extLst>
          </p:cNvPr>
          <p:cNvSpPr txBox="1"/>
          <p:nvPr/>
        </p:nvSpPr>
        <p:spPr>
          <a:xfrm>
            <a:off x="4572000" y="1625346"/>
            <a:ext cx="1028700" cy="196208"/>
          </a:xfrm>
          <a:prstGeom prst="rect">
            <a:avLst/>
          </a:prstGeom>
          <a:noFill/>
        </p:spPr>
        <p:txBody>
          <a:bodyPr wrap="square">
            <a:spAutoFit/>
          </a:bodyPr>
          <a:lstStyle/>
          <a:p>
            <a:pPr algn="l"/>
            <a:r>
              <a:rPr sz="675" b="1">
                <a:solidFill>
                  <a:srgbClr val="E86C56"/>
                </a:solidFill>
              </a:rPr>
              <a:t>+0.233***</a:t>
            </a:r>
          </a:p>
        </p:txBody>
      </p:sp>
      <p:sp>
        <p:nvSpPr>
          <p:cNvPr id="139" name="TextBox 138">
            <a:extLst>
              <a:ext uri="{FF2B5EF4-FFF2-40B4-BE49-F238E27FC236}">
                <a16:creationId xmlns:a16="http://schemas.microsoft.com/office/drawing/2014/main" id="{573C7704-9B6F-E39A-F398-FB2E6482FA5B}"/>
              </a:ext>
            </a:extLst>
          </p:cNvPr>
          <p:cNvSpPr txBox="1"/>
          <p:nvPr/>
        </p:nvSpPr>
        <p:spPr>
          <a:xfrm>
            <a:off x="-1426464" y="1570482"/>
            <a:ext cx="4114800" cy="207749"/>
          </a:xfrm>
          <a:prstGeom prst="rect">
            <a:avLst/>
          </a:prstGeom>
          <a:noFill/>
        </p:spPr>
        <p:txBody>
          <a:bodyPr wrap="square">
            <a:spAutoFit/>
          </a:bodyPr>
          <a:lstStyle/>
          <a:p>
            <a:pPr algn="r"/>
            <a:r>
              <a:rPr sz="750">
                <a:solidFill>
                  <a:srgbClr val="333333"/>
                </a:solidFill>
              </a:rPr>
              <a:t>Has Driver License</a:t>
            </a:r>
          </a:p>
        </p:txBody>
      </p:sp>
      <p:sp>
        <p:nvSpPr>
          <p:cNvPr id="140" name="Rectangle 139">
            <a:extLst>
              <a:ext uri="{FF2B5EF4-FFF2-40B4-BE49-F238E27FC236}">
                <a16:creationId xmlns:a16="http://schemas.microsoft.com/office/drawing/2014/main" id="{B10ECFED-360E-1CC8-E5CA-235EC42BFD6D}"/>
              </a:ext>
            </a:extLst>
          </p:cNvPr>
          <p:cNvSpPr/>
          <p:nvPr/>
        </p:nvSpPr>
        <p:spPr>
          <a:xfrm>
            <a:off x="2939796" y="1879092"/>
            <a:ext cx="1152144" cy="171450"/>
          </a:xfrm>
          <a:prstGeom prst="rect">
            <a:avLst/>
          </a:prstGeom>
          <a:solidFill>
            <a:srgbClr val="E86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1" name="TextBox 140">
            <a:extLst>
              <a:ext uri="{FF2B5EF4-FFF2-40B4-BE49-F238E27FC236}">
                <a16:creationId xmlns:a16="http://schemas.microsoft.com/office/drawing/2014/main" id="{2508FD33-0C27-8B85-9CB9-4E67107B5707}"/>
              </a:ext>
            </a:extLst>
          </p:cNvPr>
          <p:cNvSpPr txBox="1"/>
          <p:nvPr/>
        </p:nvSpPr>
        <p:spPr>
          <a:xfrm>
            <a:off x="4126230" y="1865376"/>
            <a:ext cx="1028700" cy="196208"/>
          </a:xfrm>
          <a:prstGeom prst="rect">
            <a:avLst/>
          </a:prstGeom>
          <a:noFill/>
        </p:spPr>
        <p:txBody>
          <a:bodyPr wrap="square">
            <a:spAutoFit/>
          </a:bodyPr>
          <a:lstStyle/>
          <a:p>
            <a:pPr algn="l"/>
            <a:r>
              <a:rPr sz="675" b="1">
                <a:solidFill>
                  <a:srgbClr val="E86C56"/>
                </a:solidFill>
              </a:rPr>
              <a:t>+0.168***</a:t>
            </a:r>
          </a:p>
        </p:txBody>
      </p:sp>
      <p:sp>
        <p:nvSpPr>
          <p:cNvPr id="142" name="TextBox 141">
            <a:extLst>
              <a:ext uri="{FF2B5EF4-FFF2-40B4-BE49-F238E27FC236}">
                <a16:creationId xmlns:a16="http://schemas.microsoft.com/office/drawing/2014/main" id="{19A597BA-28B6-5EAD-963C-D5775D2C6169}"/>
              </a:ext>
            </a:extLst>
          </p:cNvPr>
          <p:cNvSpPr txBox="1"/>
          <p:nvPr/>
        </p:nvSpPr>
        <p:spPr>
          <a:xfrm>
            <a:off x="-1426464" y="1810512"/>
            <a:ext cx="4114800" cy="207749"/>
          </a:xfrm>
          <a:prstGeom prst="rect">
            <a:avLst/>
          </a:prstGeom>
          <a:noFill/>
        </p:spPr>
        <p:txBody>
          <a:bodyPr wrap="square">
            <a:spAutoFit/>
          </a:bodyPr>
          <a:lstStyle/>
          <a:p>
            <a:pPr algn="r"/>
            <a:r>
              <a:rPr sz="750">
                <a:solidFill>
                  <a:srgbClr val="333333"/>
                </a:solidFill>
              </a:rPr>
              <a:t>Non-Urban (vs Suburban)</a:t>
            </a:r>
          </a:p>
        </p:txBody>
      </p:sp>
      <p:sp>
        <p:nvSpPr>
          <p:cNvPr id="143" name="Rectangle 142">
            <a:extLst>
              <a:ext uri="{FF2B5EF4-FFF2-40B4-BE49-F238E27FC236}">
                <a16:creationId xmlns:a16="http://schemas.microsoft.com/office/drawing/2014/main" id="{E56FF809-90B5-8990-1096-C385090AB4D0}"/>
              </a:ext>
            </a:extLst>
          </p:cNvPr>
          <p:cNvSpPr/>
          <p:nvPr/>
        </p:nvSpPr>
        <p:spPr>
          <a:xfrm>
            <a:off x="1760221" y="2119122"/>
            <a:ext cx="1179575" cy="17145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4" name="TextBox 143">
            <a:extLst>
              <a:ext uri="{FF2B5EF4-FFF2-40B4-BE49-F238E27FC236}">
                <a16:creationId xmlns:a16="http://schemas.microsoft.com/office/drawing/2014/main" id="{B4D24544-F86B-C778-D9F7-36D65D2E1874}"/>
              </a:ext>
            </a:extLst>
          </p:cNvPr>
          <p:cNvSpPr txBox="1"/>
          <p:nvPr/>
        </p:nvSpPr>
        <p:spPr>
          <a:xfrm>
            <a:off x="868680" y="2105406"/>
            <a:ext cx="822960" cy="196208"/>
          </a:xfrm>
          <a:prstGeom prst="rect">
            <a:avLst/>
          </a:prstGeom>
          <a:noFill/>
        </p:spPr>
        <p:txBody>
          <a:bodyPr wrap="square">
            <a:spAutoFit/>
          </a:bodyPr>
          <a:lstStyle/>
          <a:p>
            <a:pPr algn="r"/>
            <a:r>
              <a:rPr sz="675" b="1">
                <a:solidFill>
                  <a:srgbClr val="009688"/>
                </a:solidFill>
              </a:rPr>
              <a:t>-0.172***</a:t>
            </a:r>
          </a:p>
        </p:txBody>
      </p:sp>
      <p:sp>
        <p:nvSpPr>
          <p:cNvPr id="145" name="TextBox 144">
            <a:extLst>
              <a:ext uri="{FF2B5EF4-FFF2-40B4-BE49-F238E27FC236}">
                <a16:creationId xmlns:a16="http://schemas.microsoft.com/office/drawing/2014/main" id="{5AA6F130-DCA8-454D-F49C-4E6074F04620}"/>
              </a:ext>
            </a:extLst>
          </p:cNvPr>
          <p:cNvSpPr txBox="1"/>
          <p:nvPr/>
        </p:nvSpPr>
        <p:spPr>
          <a:xfrm>
            <a:off x="3145536" y="2105406"/>
            <a:ext cx="3771900" cy="207749"/>
          </a:xfrm>
          <a:prstGeom prst="rect">
            <a:avLst/>
          </a:prstGeom>
          <a:noFill/>
        </p:spPr>
        <p:txBody>
          <a:bodyPr wrap="square">
            <a:spAutoFit/>
          </a:bodyPr>
          <a:lstStyle/>
          <a:p>
            <a:pPr algn="l"/>
            <a:r>
              <a:rPr sz="750">
                <a:solidFill>
                  <a:srgbClr val="333333"/>
                </a:solidFill>
              </a:rPr>
              <a:t>Student</a:t>
            </a:r>
          </a:p>
        </p:txBody>
      </p:sp>
      <p:sp>
        <p:nvSpPr>
          <p:cNvPr id="146" name="Rectangle 145">
            <a:extLst>
              <a:ext uri="{FF2B5EF4-FFF2-40B4-BE49-F238E27FC236}">
                <a16:creationId xmlns:a16="http://schemas.microsoft.com/office/drawing/2014/main" id="{C3B2D686-5AD9-6062-2284-335EFC172176}"/>
              </a:ext>
            </a:extLst>
          </p:cNvPr>
          <p:cNvSpPr/>
          <p:nvPr/>
        </p:nvSpPr>
        <p:spPr>
          <a:xfrm>
            <a:off x="1808226" y="2359151"/>
            <a:ext cx="1131570" cy="17145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7" name="TextBox 146">
            <a:extLst>
              <a:ext uri="{FF2B5EF4-FFF2-40B4-BE49-F238E27FC236}">
                <a16:creationId xmlns:a16="http://schemas.microsoft.com/office/drawing/2014/main" id="{B7905531-724E-6B0F-FF59-BE8D728C3AAA}"/>
              </a:ext>
            </a:extLst>
          </p:cNvPr>
          <p:cNvSpPr txBox="1"/>
          <p:nvPr/>
        </p:nvSpPr>
        <p:spPr>
          <a:xfrm>
            <a:off x="916686" y="2345435"/>
            <a:ext cx="822960" cy="196208"/>
          </a:xfrm>
          <a:prstGeom prst="rect">
            <a:avLst/>
          </a:prstGeom>
          <a:noFill/>
        </p:spPr>
        <p:txBody>
          <a:bodyPr wrap="square">
            <a:spAutoFit/>
          </a:bodyPr>
          <a:lstStyle/>
          <a:p>
            <a:pPr algn="r"/>
            <a:r>
              <a:rPr sz="675" b="1">
                <a:solidFill>
                  <a:srgbClr val="009688"/>
                </a:solidFill>
              </a:rPr>
              <a:t>-0.165***</a:t>
            </a:r>
          </a:p>
        </p:txBody>
      </p:sp>
      <p:sp>
        <p:nvSpPr>
          <p:cNvPr id="148" name="TextBox 147">
            <a:extLst>
              <a:ext uri="{FF2B5EF4-FFF2-40B4-BE49-F238E27FC236}">
                <a16:creationId xmlns:a16="http://schemas.microsoft.com/office/drawing/2014/main" id="{AC407460-F398-CB64-F113-7B85F2AE2869}"/>
              </a:ext>
            </a:extLst>
          </p:cNvPr>
          <p:cNvSpPr txBox="1"/>
          <p:nvPr/>
        </p:nvSpPr>
        <p:spPr>
          <a:xfrm>
            <a:off x="3145536" y="2345436"/>
            <a:ext cx="2403497" cy="207749"/>
          </a:xfrm>
          <a:prstGeom prst="rect">
            <a:avLst/>
          </a:prstGeom>
          <a:noFill/>
        </p:spPr>
        <p:txBody>
          <a:bodyPr wrap="square">
            <a:spAutoFit/>
          </a:bodyPr>
          <a:lstStyle/>
          <a:p>
            <a:pPr algn="l"/>
            <a:r>
              <a:rPr sz="750">
                <a:solidFill>
                  <a:srgbClr val="333333"/>
                </a:solidFill>
              </a:rPr>
              <a:t>Retired</a:t>
            </a:r>
          </a:p>
        </p:txBody>
      </p:sp>
      <p:sp>
        <p:nvSpPr>
          <p:cNvPr id="149" name="Rectangle 148">
            <a:extLst>
              <a:ext uri="{FF2B5EF4-FFF2-40B4-BE49-F238E27FC236}">
                <a16:creationId xmlns:a16="http://schemas.microsoft.com/office/drawing/2014/main" id="{7D7793DA-B038-358E-37B1-D01DEAFDB860}"/>
              </a:ext>
            </a:extLst>
          </p:cNvPr>
          <p:cNvSpPr/>
          <p:nvPr/>
        </p:nvSpPr>
        <p:spPr>
          <a:xfrm>
            <a:off x="2939796" y="2599182"/>
            <a:ext cx="768096" cy="171450"/>
          </a:xfrm>
          <a:prstGeom prst="rect">
            <a:avLst/>
          </a:prstGeom>
          <a:solidFill>
            <a:srgbClr val="E86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0" name="TextBox 149">
            <a:extLst>
              <a:ext uri="{FF2B5EF4-FFF2-40B4-BE49-F238E27FC236}">
                <a16:creationId xmlns:a16="http://schemas.microsoft.com/office/drawing/2014/main" id="{FB1F1FC7-3B52-D3F3-F404-77C30F3E1669}"/>
              </a:ext>
            </a:extLst>
          </p:cNvPr>
          <p:cNvSpPr txBox="1"/>
          <p:nvPr/>
        </p:nvSpPr>
        <p:spPr>
          <a:xfrm>
            <a:off x="3742182" y="2585466"/>
            <a:ext cx="1028700" cy="196208"/>
          </a:xfrm>
          <a:prstGeom prst="rect">
            <a:avLst/>
          </a:prstGeom>
          <a:noFill/>
        </p:spPr>
        <p:txBody>
          <a:bodyPr wrap="square">
            <a:spAutoFit/>
          </a:bodyPr>
          <a:lstStyle/>
          <a:p>
            <a:pPr algn="l"/>
            <a:r>
              <a:rPr sz="675" b="1">
                <a:solidFill>
                  <a:srgbClr val="E86C56"/>
                </a:solidFill>
              </a:rPr>
              <a:t>+0.112***</a:t>
            </a:r>
          </a:p>
        </p:txBody>
      </p:sp>
      <p:sp>
        <p:nvSpPr>
          <p:cNvPr id="151" name="TextBox 150">
            <a:extLst>
              <a:ext uri="{FF2B5EF4-FFF2-40B4-BE49-F238E27FC236}">
                <a16:creationId xmlns:a16="http://schemas.microsoft.com/office/drawing/2014/main" id="{C7F84F19-DBF1-752B-07C5-3FE6A3738BE6}"/>
              </a:ext>
            </a:extLst>
          </p:cNvPr>
          <p:cNvSpPr txBox="1"/>
          <p:nvPr/>
        </p:nvSpPr>
        <p:spPr>
          <a:xfrm>
            <a:off x="-1426464" y="2530602"/>
            <a:ext cx="4114800" cy="207749"/>
          </a:xfrm>
          <a:prstGeom prst="rect">
            <a:avLst/>
          </a:prstGeom>
          <a:noFill/>
        </p:spPr>
        <p:txBody>
          <a:bodyPr wrap="square">
            <a:spAutoFit/>
          </a:bodyPr>
          <a:lstStyle/>
          <a:p>
            <a:pPr algn="r"/>
            <a:r>
              <a:rPr sz="750">
                <a:solidFill>
                  <a:srgbClr val="333333"/>
                </a:solidFill>
              </a:rPr>
              <a:t>Male</a:t>
            </a:r>
          </a:p>
        </p:txBody>
      </p:sp>
      <p:sp>
        <p:nvSpPr>
          <p:cNvPr id="152" name="Rectangle 151">
            <a:extLst>
              <a:ext uri="{FF2B5EF4-FFF2-40B4-BE49-F238E27FC236}">
                <a16:creationId xmlns:a16="http://schemas.microsoft.com/office/drawing/2014/main" id="{1276FC1D-39A5-AEEA-313A-25CBBCA1C024}"/>
              </a:ext>
            </a:extLst>
          </p:cNvPr>
          <p:cNvSpPr/>
          <p:nvPr/>
        </p:nvSpPr>
        <p:spPr>
          <a:xfrm>
            <a:off x="2939796" y="2839212"/>
            <a:ext cx="740664" cy="171450"/>
          </a:xfrm>
          <a:prstGeom prst="rect">
            <a:avLst/>
          </a:prstGeom>
          <a:solidFill>
            <a:srgbClr val="E86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3" name="TextBox 152">
            <a:extLst>
              <a:ext uri="{FF2B5EF4-FFF2-40B4-BE49-F238E27FC236}">
                <a16:creationId xmlns:a16="http://schemas.microsoft.com/office/drawing/2014/main" id="{2062EC7C-2FD4-AD29-9E73-D9F37AFA8B92}"/>
              </a:ext>
            </a:extLst>
          </p:cNvPr>
          <p:cNvSpPr txBox="1"/>
          <p:nvPr/>
        </p:nvSpPr>
        <p:spPr>
          <a:xfrm>
            <a:off x="3714750" y="2825496"/>
            <a:ext cx="1028700" cy="196208"/>
          </a:xfrm>
          <a:prstGeom prst="rect">
            <a:avLst/>
          </a:prstGeom>
          <a:noFill/>
        </p:spPr>
        <p:txBody>
          <a:bodyPr wrap="square">
            <a:spAutoFit/>
          </a:bodyPr>
          <a:lstStyle/>
          <a:p>
            <a:pPr algn="l"/>
            <a:r>
              <a:rPr sz="675" b="1">
                <a:solidFill>
                  <a:srgbClr val="E86C56"/>
                </a:solidFill>
              </a:rPr>
              <a:t>+0.108***</a:t>
            </a:r>
          </a:p>
        </p:txBody>
      </p:sp>
      <p:sp>
        <p:nvSpPr>
          <p:cNvPr id="154" name="TextBox 153">
            <a:extLst>
              <a:ext uri="{FF2B5EF4-FFF2-40B4-BE49-F238E27FC236}">
                <a16:creationId xmlns:a16="http://schemas.microsoft.com/office/drawing/2014/main" id="{40585432-80B1-D3B9-0073-A66E701AC127}"/>
              </a:ext>
            </a:extLst>
          </p:cNvPr>
          <p:cNvSpPr txBox="1"/>
          <p:nvPr/>
        </p:nvSpPr>
        <p:spPr>
          <a:xfrm>
            <a:off x="-1426464" y="2770632"/>
            <a:ext cx="4114800" cy="207749"/>
          </a:xfrm>
          <a:prstGeom prst="rect">
            <a:avLst/>
          </a:prstGeom>
          <a:noFill/>
        </p:spPr>
        <p:txBody>
          <a:bodyPr wrap="square">
            <a:spAutoFit/>
          </a:bodyPr>
          <a:lstStyle/>
          <a:p>
            <a:pPr algn="r"/>
            <a:r>
              <a:rPr sz="750" dirty="0">
                <a:solidFill>
                  <a:srgbClr val="333333"/>
                </a:solidFill>
              </a:rPr>
              <a:t>Near Rail Station</a:t>
            </a:r>
          </a:p>
        </p:txBody>
      </p:sp>
      <p:sp>
        <p:nvSpPr>
          <p:cNvPr id="155" name="Rectangle 154">
            <a:extLst>
              <a:ext uri="{FF2B5EF4-FFF2-40B4-BE49-F238E27FC236}">
                <a16:creationId xmlns:a16="http://schemas.microsoft.com/office/drawing/2014/main" id="{76CC1349-49B0-27F9-050C-76E831FE05BC}"/>
              </a:ext>
            </a:extLst>
          </p:cNvPr>
          <p:cNvSpPr/>
          <p:nvPr/>
        </p:nvSpPr>
        <p:spPr>
          <a:xfrm>
            <a:off x="2939796" y="3079242"/>
            <a:ext cx="740664" cy="171450"/>
          </a:xfrm>
          <a:prstGeom prst="rect">
            <a:avLst/>
          </a:prstGeom>
          <a:solidFill>
            <a:srgbClr val="E86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6" name="TextBox 155">
            <a:extLst>
              <a:ext uri="{FF2B5EF4-FFF2-40B4-BE49-F238E27FC236}">
                <a16:creationId xmlns:a16="http://schemas.microsoft.com/office/drawing/2014/main" id="{2EFCEE1E-D80B-D60E-C730-7CD27AF31C13}"/>
              </a:ext>
            </a:extLst>
          </p:cNvPr>
          <p:cNvSpPr txBox="1"/>
          <p:nvPr/>
        </p:nvSpPr>
        <p:spPr>
          <a:xfrm>
            <a:off x="3714750" y="3065526"/>
            <a:ext cx="1028700" cy="196208"/>
          </a:xfrm>
          <a:prstGeom prst="rect">
            <a:avLst/>
          </a:prstGeom>
          <a:noFill/>
        </p:spPr>
        <p:txBody>
          <a:bodyPr wrap="square">
            <a:spAutoFit/>
          </a:bodyPr>
          <a:lstStyle/>
          <a:p>
            <a:pPr algn="l"/>
            <a:r>
              <a:rPr sz="675" b="1">
                <a:solidFill>
                  <a:srgbClr val="E86C56"/>
                </a:solidFill>
              </a:rPr>
              <a:t>+0.108**</a:t>
            </a:r>
          </a:p>
        </p:txBody>
      </p:sp>
      <p:sp>
        <p:nvSpPr>
          <p:cNvPr id="157" name="TextBox 156">
            <a:extLst>
              <a:ext uri="{FF2B5EF4-FFF2-40B4-BE49-F238E27FC236}">
                <a16:creationId xmlns:a16="http://schemas.microsoft.com/office/drawing/2014/main" id="{4E8BA6A5-E681-0AE1-9A6B-9D4AB98ACA0C}"/>
              </a:ext>
            </a:extLst>
          </p:cNvPr>
          <p:cNvSpPr txBox="1"/>
          <p:nvPr/>
        </p:nvSpPr>
        <p:spPr>
          <a:xfrm>
            <a:off x="-1426464" y="3010662"/>
            <a:ext cx="4114800" cy="207749"/>
          </a:xfrm>
          <a:prstGeom prst="rect">
            <a:avLst/>
          </a:prstGeom>
          <a:noFill/>
        </p:spPr>
        <p:txBody>
          <a:bodyPr wrap="square">
            <a:spAutoFit/>
          </a:bodyPr>
          <a:lstStyle/>
          <a:p>
            <a:pPr algn="r"/>
            <a:r>
              <a:rPr sz="750">
                <a:solidFill>
                  <a:srgbClr val="333333"/>
                </a:solidFill>
              </a:rPr>
              <a:t>Black NH (vs White)</a:t>
            </a:r>
          </a:p>
        </p:txBody>
      </p:sp>
      <p:sp>
        <p:nvSpPr>
          <p:cNvPr id="158" name="Rectangle 157">
            <a:extLst>
              <a:ext uri="{FF2B5EF4-FFF2-40B4-BE49-F238E27FC236}">
                <a16:creationId xmlns:a16="http://schemas.microsoft.com/office/drawing/2014/main" id="{05F778CD-E3DF-8BA5-0F74-70437B97836C}"/>
              </a:ext>
            </a:extLst>
          </p:cNvPr>
          <p:cNvSpPr/>
          <p:nvPr/>
        </p:nvSpPr>
        <p:spPr>
          <a:xfrm>
            <a:off x="2939796" y="3319272"/>
            <a:ext cx="692658" cy="171450"/>
          </a:xfrm>
          <a:prstGeom prst="rect">
            <a:avLst/>
          </a:prstGeom>
          <a:solidFill>
            <a:srgbClr val="E86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9" name="TextBox 158">
            <a:extLst>
              <a:ext uri="{FF2B5EF4-FFF2-40B4-BE49-F238E27FC236}">
                <a16:creationId xmlns:a16="http://schemas.microsoft.com/office/drawing/2014/main" id="{72BBD32F-8136-6550-D973-BB6332C63FB6}"/>
              </a:ext>
            </a:extLst>
          </p:cNvPr>
          <p:cNvSpPr txBox="1"/>
          <p:nvPr/>
        </p:nvSpPr>
        <p:spPr>
          <a:xfrm>
            <a:off x="3666744" y="3305556"/>
            <a:ext cx="1028700" cy="196208"/>
          </a:xfrm>
          <a:prstGeom prst="rect">
            <a:avLst/>
          </a:prstGeom>
          <a:noFill/>
        </p:spPr>
        <p:txBody>
          <a:bodyPr wrap="square">
            <a:spAutoFit/>
          </a:bodyPr>
          <a:lstStyle/>
          <a:p>
            <a:pPr algn="l"/>
            <a:r>
              <a:rPr sz="675" b="1">
                <a:solidFill>
                  <a:srgbClr val="E86C56"/>
                </a:solidFill>
              </a:rPr>
              <a:t>+0.101***</a:t>
            </a:r>
          </a:p>
        </p:txBody>
      </p:sp>
      <p:sp>
        <p:nvSpPr>
          <p:cNvPr id="160" name="TextBox 159">
            <a:extLst>
              <a:ext uri="{FF2B5EF4-FFF2-40B4-BE49-F238E27FC236}">
                <a16:creationId xmlns:a16="http://schemas.microsoft.com/office/drawing/2014/main" id="{A6BB6070-1C53-1E01-9796-B31BE29F56BB}"/>
              </a:ext>
            </a:extLst>
          </p:cNvPr>
          <p:cNvSpPr txBox="1"/>
          <p:nvPr/>
        </p:nvSpPr>
        <p:spPr>
          <a:xfrm>
            <a:off x="-1426464" y="3250692"/>
            <a:ext cx="4114800" cy="207749"/>
          </a:xfrm>
          <a:prstGeom prst="rect">
            <a:avLst/>
          </a:prstGeom>
          <a:noFill/>
        </p:spPr>
        <p:txBody>
          <a:bodyPr wrap="square">
            <a:spAutoFit/>
          </a:bodyPr>
          <a:lstStyle/>
          <a:p>
            <a:pPr algn="r"/>
            <a:r>
              <a:rPr sz="750">
                <a:solidFill>
                  <a:srgbClr val="333333"/>
                </a:solidFill>
              </a:rPr>
              <a:t>Vehicles per Driver</a:t>
            </a:r>
          </a:p>
        </p:txBody>
      </p:sp>
      <p:sp>
        <p:nvSpPr>
          <p:cNvPr id="161" name="Rectangle 160">
            <a:extLst>
              <a:ext uri="{FF2B5EF4-FFF2-40B4-BE49-F238E27FC236}">
                <a16:creationId xmlns:a16="http://schemas.microsoft.com/office/drawing/2014/main" id="{1A85515C-80B7-42F0-5606-BD1380F6B3F7}"/>
              </a:ext>
            </a:extLst>
          </p:cNvPr>
          <p:cNvSpPr/>
          <p:nvPr/>
        </p:nvSpPr>
        <p:spPr>
          <a:xfrm>
            <a:off x="2939796" y="3559301"/>
            <a:ext cx="665226" cy="171450"/>
          </a:xfrm>
          <a:prstGeom prst="rect">
            <a:avLst/>
          </a:prstGeom>
          <a:solidFill>
            <a:srgbClr val="E86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2" name="TextBox 161">
            <a:extLst>
              <a:ext uri="{FF2B5EF4-FFF2-40B4-BE49-F238E27FC236}">
                <a16:creationId xmlns:a16="http://schemas.microsoft.com/office/drawing/2014/main" id="{FAF64A04-686C-F2EB-0D5C-20B733F8C0D3}"/>
              </a:ext>
            </a:extLst>
          </p:cNvPr>
          <p:cNvSpPr txBox="1"/>
          <p:nvPr/>
        </p:nvSpPr>
        <p:spPr>
          <a:xfrm>
            <a:off x="3639312" y="3545586"/>
            <a:ext cx="1028700" cy="196208"/>
          </a:xfrm>
          <a:prstGeom prst="rect">
            <a:avLst/>
          </a:prstGeom>
          <a:noFill/>
        </p:spPr>
        <p:txBody>
          <a:bodyPr wrap="square">
            <a:spAutoFit/>
          </a:bodyPr>
          <a:lstStyle/>
          <a:p>
            <a:pPr algn="l"/>
            <a:r>
              <a:rPr sz="675" b="1">
                <a:solidFill>
                  <a:srgbClr val="E86C56"/>
                </a:solidFill>
              </a:rPr>
              <a:t>+0.097***</a:t>
            </a:r>
          </a:p>
        </p:txBody>
      </p:sp>
      <p:sp>
        <p:nvSpPr>
          <p:cNvPr id="163" name="TextBox 162">
            <a:extLst>
              <a:ext uri="{FF2B5EF4-FFF2-40B4-BE49-F238E27FC236}">
                <a16:creationId xmlns:a16="http://schemas.microsoft.com/office/drawing/2014/main" id="{F9D1E317-0EF0-65F3-CA44-24B99A80FE51}"/>
              </a:ext>
            </a:extLst>
          </p:cNvPr>
          <p:cNvSpPr txBox="1"/>
          <p:nvPr/>
        </p:nvSpPr>
        <p:spPr>
          <a:xfrm>
            <a:off x="-1426464" y="3490722"/>
            <a:ext cx="4114800" cy="207749"/>
          </a:xfrm>
          <a:prstGeom prst="rect">
            <a:avLst/>
          </a:prstGeom>
          <a:noFill/>
        </p:spPr>
        <p:txBody>
          <a:bodyPr wrap="square">
            <a:spAutoFit/>
          </a:bodyPr>
          <a:lstStyle/>
          <a:p>
            <a:pPr algn="r"/>
            <a:r>
              <a:rPr sz="750">
                <a:solidFill>
                  <a:srgbClr val="333333"/>
                </a:solidFill>
              </a:rPr>
              <a:t>Hispanic (vs White)</a:t>
            </a:r>
          </a:p>
        </p:txBody>
      </p:sp>
      <p:sp>
        <p:nvSpPr>
          <p:cNvPr id="164" name="Rectangle 163">
            <a:extLst>
              <a:ext uri="{FF2B5EF4-FFF2-40B4-BE49-F238E27FC236}">
                <a16:creationId xmlns:a16="http://schemas.microsoft.com/office/drawing/2014/main" id="{93416BF3-D721-1ECA-1877-55DFB921D89C}"/>
              </a:ext>
            </a:extLst>
          </p:cNvPr>
          <p:cNvSpPr/>
          <p:nvPr/>
        </p:nvSpPr>
        <p:spPr>
          <a:xfrm>
            <a:off x="2459736" y="3799331"/>
            <a:ext cx="480060" cy="17145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5" name="TextBox 164">
            <a:extLst>
              <a:ext uri="{FF2B5EF4-FFF2-40B4-BE49-F238E27FC236}">
                <a16:creationId xmlns:a16="http://schemas.microsoft.com/office/drawing/2014/main" id="{1841FC08-5DAD-ACA0-A50D-F0E9CED8291A}"/>
              </a:ext>
            </a:extLst>
          </p:cNvPr>
          <p:cNvSpPr txBox="1"/>
          <p:nvPr/>
        </p:nvSpPr>
        <p:spPr>
          <a:xfrm>
            <a:off x="1568196" y="3785615"/>
            <a:ext cx="822960" cy="196208"/>
          </a:xfrm>
          <a:prstGeom prst="rect">
            <a:avLst/>
          </a:prstGeom>
          <a:noFill/>
        </p:spPr>
        <p:txBody>
          <a:bodyPr wrap="square">
            <a:spAutoFit/>
          </a:bodyPr>
          <a:lstStyle/>
          <a:p>
            <a:pPr algn="r"/>
            <a:r>
              <a:rPr sz="675" b="1">
                <a:solidFill>
                  <a:srgbClr val="009688"/>
                </a:solidFill>
              </a:rPr>
              <a:t>-0.070***</a:t>
            </a:r>
          </a:p>
        </p:txBody>
      </p:sp>
      <p:sp>
        <p:nvSpPr>
          <p:cNvPr id="166" name="TextBox 165">
            <a:extLst>
              <a:ext uri="{FF2B5EF4-FFF2-40B4-BE49-F238E27FC236}">
                <a16:creationId xmlns:a16="http://schemas.microsoft.com/office/drawing/2014/main" id="{3D371A76-F3FA-BA4E-4B67-D54227A734D5}"/>
              </a:ext>
            </a:extLst>
          </p:cNvPr>
          <p:cNvSpPr txBox="1"/>
          <p:nvPr/>
        </p:nvSpPr>
        <p:spPr>
          <a:xfrm>
            <a:off x="3200400" y="3825842"/>
            <a:ext cx="3771900" cy="207749"/>
          </a:xfrm>
          <a:prstGeom prst="rect">
            <a:avLst/>
          </a:prstGeom>
          <a:noFill/>
        </p:spPr>
        <p:txBody>
          <a:bodyPr wrap="square">
            <a:spAutoFit/>
          </a:bodyPr>
          <a:lstStyle/>
          <a:p>
            <a:pPr algn="l"/>
            <a:r>
              <a:rPr sz="750">
                <a:solidFill>
                  <a:srgbClr val="333333"/>
                </a:solidFill>
              </a:rPr>
              <a:t># Children</a:t>
            </a:r>
          </a:p>
        </p:txBody>
      </p:sp>
      <p:sp>
        <p:nvSpPr>
          <p:cNvPr id="167" name="Rectangle 166">
            <a:extLst>
              <a:ext uri="{FF2B5EF4-FFF2-40B4-BE49-F238E27FC236}">
                <a16:creationId xmlns:a16="http://schemas.microsoft.com/office/drawing/2014/main" id="{FD084DCF-8434-98CF-B64E-EB2E05CDE124}"/>
              </a:ext>
            </a:extLst>
          </p:cNvPr>
          <p:cNvSpPr/>
          <p:nvPr/>
        </p:nvSpPr>
        <p:spPr>
          <a:xfrm>
            <a:off x="2631187" y="4039362"/>
            <a:ext cx="308609" cy="17145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8" name="TextBox 167">
            <a:extLst>
              <a:ext uri="{FF2B5EF4-FFF2-40B4-BE49-F238E27FC236}">
                <a16:creationId xmlns:a16="http://schemas.microsoft.com/office/drawing/2014/main" id="{AAD7F93B-4FEC-EADF-937A-20FA48CAC8CF}"/>
              </a:ext>
            </a:extLst>
          </p:cNvPr>
          <p:cNvSpPr txBox="1"/>
          <p:nvPr/>
        </p:nvSpPr>
        <p:spPr>
          <a:xfrm>
            <a:off x="1739646" y="4025646"/>
            <a:ext cx="822960" cy="196208"/>
          </a:xfrm>
          <a:prstGeom prst="rect">
            <a:avLst/>
          </a:prstGeom>
          <a:noFill/>
        </p:spPr>
        <p:txBody>
          <a:bodyPr wrap="square">
            <a:spAutoFit/>
          </a:bodyPr>
          <a:lstStyle/>
          <a:p>
            <a:pPr algn="r"/>
            <a:r>
              <a:rPr sz="675" b="1">
                <a:solidFill>
                  <a:srgbClr val="009688"/>
                </a:solidFill>
              </a:rPr>
              <a:t>-0.045***</a:t>
            </a:r>
          </a:p>
        </p:txBody>
      </p:sp>
      <p:sp>
        <p:nvSpPr>
          <p:cNvPr id="169" name="TextBox 168">
            <a:extLst>
              <a:ext uri="{FF2B5EF4-FFF2-40B4-BE49-F238E27FC236}">
                <a16:creationId xmlns:a16="http://schemas.microsoft.com/office/drawing/2014/main" id="{A0BC3CFF-C56E-A5E2-5EEB-4DD4EE32E19E}"/>
              </a:ext>
            </a:extLst>
          </p:cNvPr>
          <p:cNvSpPr txBox="1"/>
          <p:nvPr/>
        </p:nvSpPr>
        <p:spPr>
          <a:xfrm>
            <a:off x="3145536" y="4025646"/>
            <a:ext cx="3771900" cy="207749"/>
          </a:xfrm>
          <a:prstGeom prst="rect">
            <a:avLst/>
          </a:prstGeom>
          <a:noFill/>
        </p:spPr>
        <p:txBody>
          <a:bodyPr wrap="square">
            <a:spAutoFit/>
          </a:bodyPr>
          <a:lstStyle/>
          <a:p>
            <a:pPr algn="l"/>
            <a:r>
              <a:rPr sz="750">
                <a:solidFill>
                  <a:srgbClr val="333333"/>
                </a:solidFill>
              </a:rPr>
              <a:t>Log(Pop Density)</a:t>
            </a:r>
          </a:p>
        </p:txBody>
      </p:sp>
      <p:sp>
        <p:nvSpPr>
          <p:cNvPr id="170" name="Rectangle 169">
            <a:extLst>
              <a:ext uri="{FF2B5EF4-FFF2-40B4-BE49-F238E27FC236}">
                <a16:creationId xmlns:a16="http://schemas.microsoft.com/office/drawing/2014/main" id="{20D71486-1F29-C5DA-C5F6-D571B1CCD674}"/>
              </a:ext>
            </a:extLst>
          </p:cNvPr>
          <p:cNvSpPr/>
          <p:nvPr/>
        </p:nvSpPr>
        <p:spPr>
          <a:xfrm>
            <a:off x="2939796" y="4279392"/>
            <a:ext cx="205740" cy="171450"/>
          </a:xfrm>
          <a:prstGeom prst="rect">
            <a:avLst/>
          </a:prstGeom>
          <a:solidFill>
            <a:srgbClr val="E86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1" name="TextBox 170">
            <a:extLst>
              <a:ext uri="{FF2B5EF4-FFF2-40B4-BE49-F238E27FC236}">
                <a16:creationId xmlns:a16="http://schemas.microsoft.com/office/drawing/2014/main" id="{99AEFAE1-D55B-5ACE-486F-27E62DA5049C}"/>
              </a:ext>
            </a:extLst>
          </p:cNvPr>
          <p:cNvSpPr txBox="1"/>
          <p:nvPr/>
        </p:nvSpPr>
        <p:spPr>
          <a:xfrm>
            <a:off x="3179826" y="4265676"/>
            <a:ext cx="1028700" cy="196208"/>
          </a:xfrm>
          <a:prstGeom prst="rect">
            <a:avLst/>
          </a:prstGeom>
          <a:noFill/>
        </p:spPr>
        <p:txBody>
          <a:bodyPr wrap="square">
            <a:spAutoFit/>
          </a:bodyPr>
          <a:lstStyle/>
          <a:p>
            <a:pPr algn="l"/>
            <a:r>
              <a:rPr sz="675" b="1">
                <a:solidFill>
                  <a:srgbClr val="E86C56"/>
                </a:solidFill>
              </a:rPr>
              <a:t>+0.030***</a:t>
            </a:r>
          </a:p>
        </p:txBody>
      </p:sp>
      <p:sp>
        <p:nvSpPr>
          <p:cNvPr id="172" name="TextBox 171">
            <a:extLst>
              <a:ext uri="{FF2B5EF4-FFF2-40B4-BE49-F238E27FC236}">
                <a16:creationId xmlns:a16="http://schemas.microsoft.com/office/drawing/2014/main" id="{4912B324-6BCE-9D03-8D10-DA5413297721}"/>
              </a:ext>
            </a:extLst>
          </p:cNvPr>
          <p:cNvSpPr txBox="1"/>
          <p:nvPr/>
        </p:nvSpPr>
        <p:spPr>
          <a:xfrm>
            <a:off x="-1254155" y="4249895"/>
            <a:ext cx="4114800" cy="207749"/>
          </a:xfrm>
          <a:prstGeom prst="rect">
            <a:avLst/>
          </a:prstGeom>
          <a:noFill/>
        </p:spPr>
        <p:txBody>
          <a:bodyPr wrap="square">
            <a:spAutoFit/>
          </a:bodyPr>
          <a:lstStyle/>
          <a:p>
            <a:pPr algn="r"/>
            <a:r>
              <a:rPr sz="750" dirty="0">
                <a:solidFill>
                  <a:srgbClr val="333333"/>
                </a:solidFill>
              </a:rPr>
              <a:t>HH Income</a:t>
            </a:r>
          </a:p>
        </p:txBody>
      </p:sp>
      <p:sp>
        <p:nvSpPr>
          <p:cNvPr id="173" name="Rectangle 172">
            <a:extLst>
              <a:ext uri="{FF2B5EF4-FFF2-40B4-BE49-F238E27FC236}">
                <a16:creationId xmlns:a16="http://schemas.microsoft.com/office/drawing/2014/main" id="{71F26DB8-212E-0013-B0CE-4753DD98D421}"/>
              </a:ext>
            </a:extLst>
          </p:cNvPr>
          <p:cNvSpPr/>
          <p:nvPr/>
        </p:nvSpPr>
        <p:spPr>
          <a:xfrm>
            <a:off x="2864359" y="4519422"/>
            <a:ext cx="75437" cy="171450"/>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4" name="TextBox 173">
            <a:extLst>
              <a:ext uri="{FF2B5EF4-FFF2-40B4-BE49-F238E27FC236}">
                <a16:creationId xmlns:a16="http://schemas.microsoft.com/office/drawing/2014/main" id="{BDF08CCF-A990-7EEE-64D5-425B8B57DFCC}"/>
              </a:ext>
            </a:extLst>
          </p:cNvPr>
          <p:cNvSpPr txBox="1"/>
          <p:nvPr/>
        </p:nvSpPr>
        <p:spPr>
          <a:xfrm>
            <a:off x="1972818" y="4505706"/>
            <a:ext cx="822960" cy="196208"/>
          </a:xfrm>
          <a:prstGeom prst="rect">
            <a:avLst/>
          </a:prstGeom>
          <a:noFill/>
        </p:spPr>
        <p:txBody>
          <a:bodyPr wrap="square">
            <a:spAutoFit/>
          </a:bodyPr>
          <a:lstStyle/>
          <a:p>
            <a:pPr algn="r"/>
            <a:r>
              <a:rPr sz="675" b="1">
                <a:solidFill>
                  <a:srgbClr val="BBBBBB"/>
                </a:solidFill>
              </a:rPr>
              <a:t>-0.011n.s.</a:t>
            </a:r>
          </a:p>
        </p:txBody>
      </p:sp>
      <p:sp>
        <p:nvSpPr>
          <p:cNvPr id="175" name="TextBox 174">
            <a:extLst>
              <a:ext uri="{FF2B5EF4-FFF2-40B4-BE49-F238E27FC236}">
                <a16:creationId xmlns:a16="http://schemas.microsoft.com/office/drawing/2014/main" id="{79D8A99C-7A5E-FB55-DEF8-F076719E88A3}"/>
              </a:ext>
            </a:extLst>
          </p:cNvPr>
          <p:cNvSpPr txBox="1"/>
          <p:nvPr/>
        </p:nvSpPr>
        <p:spPr>
          <a:xfrm>
            <a:off x="3145536" y="4505706"/>
            <a:ext cx="3771900" cy="207749"/>
          </a:xfrm>
          <a:prstGeom prst="rect">
            <a:avLst/>
          </a:prstGeom>
          <a:noFill/>
        </p:spPr>
        <p:txBody>
          <a:bodyPr wrap="square">
            <a:spAutoFit/>
          </a:bodyPr>
          <a:lstStyle/>
          <a:p>
            <a:pPr algn="l"/>
            <a:r>
              <a:rPr sz="750" b="1">
                <a:solidFill>
                  <a:srgbClr val="BBBBBB"/>
                </a:solidFill>
              </a:rPr>
              <a:t>Log(Accessibility)</a:t>
            </a:r>
          </a:p>
        </p:txBody>
      </p:sp>
      <p:sp>
        <p:nvSpPr>
          <p:cNvPr id="22" name="TextBox 21">
            <a:extLst>
              <a:ext uri="{FF2B5EF4-FFF2-40B4-BE49-F238E27FC236}">
                <a16:creationId xmlns:a16="http://schemas.microsoft.com/office/drawing/2014/main" id="{C78B7005-A1D1-1DC5-4876-E97EE2E7E200}"/>
              </a:ext>
            </a:extLst>
          </p:cNvPr>
          <p:cNvSpPr txBox="1"/>
          <p:nvPr/>
        </p:nvSpPr>
        <p:spPr>
          <a:xfrm>
            <a:off x="6528816" y="3299311"/>
            <a:ext cx="1947335" cy="338554"/>
          </a:xfrm>
          <a:prstGeom prst="rect">
            <a:avLst/>
          </a:prstGeom>
          <a:noFill/>
        </p:spPr>
        <p:txBody>
          <a:bodyPr wrap="square">
            <a:spAutoFit/>
          </a:bodyPr>
          <a:lstStyle/>
          <a:p>
            <a:pPr marL="171450" indent="-171450">
              <a:buFont typeface="Arial" panose="020B0604020202020204" pitchFamily="34" charset="0"/>
              <a:buChar char="•"/>
              <a:defRPr/>
            </a:pPr>
            <a:r>
              <a:rPr lang="en-US" sz="1600" b="1" dirty="0">
                <a:solidFill>
                  <a:srgbClr val="5A6C7E"/>
                </a:solidFill>
                <a:latin typeface="Calibri" pitchFamily="34" charset="0"/>
                <a:cs typeface="Calibri" pitchFamily="34" charset="-120"/>
              </a:rPr>
              <a:t>Race and ethnicity</a:t>
            </a:r>
          </a:p>
        </p:txBody>
      </p:sp>
      <p:sp>
        <p:nvSpPr>
          <p:cNvPr id="24" name="TextBox 23">
            <a:extLst>
              <a:ext uri="{FF2B5EF4-FFF2-40B4-BE49-F238E27FC236}">
                <a16:creationId xmlns:a16="http://schemas.microsoft.com/office/drawing/2014/main" id="{DE4AD54B-7968-03A0-B6B4-8F925CB87EC5}"/>
              </a:ext>
            </a:extLst>
          </p:cNvPr>
          <p:cNvSpPr txBox="1"/>
          <p:nvPr/>
        </p:nvSpPr>
        <p:spPr>
          <a:xfrm>
            <a:off x="6528816" y="2905893"/>
            <a:ext cx="2534525" cy="338554"/>
          </a:xfrm>
          <a:prstGeom prst="rect">
            <a:avLst/>
          </a:prstGeom>
          <a:noFill/>
        </p:spPr>
        <p:txBody>
          <a:bodyPr wrap="square">
            <a:spAutoFit/>
          </a:bodyPr>
          <a:lstStyle/>
          <a:p>
            <a:pPr marL="171450" indent="-171450">
              <a:buFont typeface="Arial" panose="020B0604020202020204" pitchFamily="34" charset="0"/>
              <a:buChar char="•"/>
              <a:defRPr/>
            </a:pPr>
            <a:r>
              <a:rPr lang="en-US" sz="1600" b="1" dirty="0">
                <a:solidFill>
                  <a:srgbClr val="5A6C7E"/>
                </a:solidFill>
                <a:latin typeface="Calibri" pitchFamily="34" charset="0"/>
                <a:cs typeface="Calibri" pitchFamily="34" charset="-120"/>
              </a:rPr>
              <a:t>Built environment</a:t>
            </a:r>
          </a:p>
        </p:txBody>
      </p:sp>
      <p:sp>
        <p:nvSpPr>
          <p:cNvPr id="25" name="Text 14">
            <a:extLst>
              <a:ext uri="{FF2B5EF4-FFF2-40B4-BE49-F238E27FC236}">
                <a16:creationId xmlns:a16="http://schemas.microsoft.com/office/drawing/2014/main" id="{72B8B347-8ED8-37C3-AD83-E3204CEB0337}"/>
              </a:ext>
            </a:extLst>
          </p:cNvPr>
          <p:cNvSpPr/>
          <p:nvPr/>
        </p:nvSpPr>
        <p:spPr>
          <a:xfrm>
            <a:off x="6794161" y="3521160"/>
            <a:ext cx="22860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Black (NH)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15">
            <a:extLst>
              <a:ext uri="{FF2B5EF4-FFF2-40B4-BE49-F238E27FC236}">
                <a16:creationId xmlns:a16="http://schemas.microsoft.com/office/drawing/2014/main" id="{74060773-DBB9-ACD3-76EF-C2CF05C375D2}"/>
              </a:ext>
            </a:extLst>
          </p:cNvPr>
          <p:cNvSpPr/>
          <p:nvPr/>
        </p:nvSpPr>
        <p:spPr>
          <a:xfrm>
            <a:off x="6794161" y="3704040"/>
            <a:ext cx="22860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E8575"/>
                </a:solidFill>
                <a:effectLst/>
                <a:uLnTx/>
                <a:uFillTx/>
                <a:latin typeface="Consolas" pitchFamily="34" charset="0"/>
                <a:ea typeface="Consolas" pitchFamily="34" charset="-122"/>
                <a:cs typeface="Consolas" pitchFamily="34" charset="-120"/>
              </a:rPr>
              <a:t>+0.108 **</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16">
            <a:extLst>
              <a:ext uri="{FF2B5EF4-FFF2-40B4-BE49-F238E27FC236}">
                <a16:creationId xmlns:a16="http://schemas.microsoft.com/office/drawing/2014/main" id="{5FD1E63E-E3BB-9FF4-3381-1C99DEC0B4C9}"/>
              </a:ext>
            </a:extLst>
          </p:cNvPr>
          <p:cNvSpPr/>
          <p:nvPr/>
        </p:nvSpPr>
        <p:spPr>
          <a:xfrm>
            <a:off x="6794161" y="3932640"/>
            <a:ext cx="22860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A6C7E"/>
                </a:solidFill>
                <a:effectLst/>
                <a:uLnTx/>
                <a:uFillTx/>
                <a:latin typeface="Calibri" pitchFamily="34" charset="0"/>
                <a:ea typeface="Calibri" pitchFamily="34" charset="-122"/>
                <a:cs typeface="Calibri" pitchFamily="34" charset="-120"/>
              </a:rPr>
              <a:t>~11% larger ASI</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3F8"/>
        </a:solidFill>
        <a:effectLst/>
      </p:bgPr>
    </p:bg>
    <p:spTree>
      <p:nvGrpSpPr>
        <p:cNvPr id="1" name=""/>
        <p:cNvGrpSpPr/>
        <p:nvPr/>
      </p:nvGrpSpPr>
      <p:grpSpPr>
        <a:xfrm>
          <a:off x="0" y="0"/>
          <a:ext cx="0" cy="0"/>
          <a:chOff x="0" y="0"/>
          <a:chExt cx="0" cy="0"/>
        </a:xfrm>
      </p:grpSpPr>
      <p:sp>
        <p:nvSpPr>
          <p:cNvPr id="2" name="Text 0"/>
          <p:cNvSpPr/>
          <p:nvPr/>
        </p:nvSpPr>
        <p:spPr>
          <a:xfrm>
            <a:off x="548640" y="215327"/>
            <a:ext cx="80467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RQ</a:t>
            </a:r>
            <a:r>
              <a:rPr kumimoji="0" lang="zh-CN" altLang="en-US" sz="2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 </a:t>
            </a:r>
            <a:r>
              <a:rPr kumimoji="0" lang="en-US" altLang="zh-CN" sz="2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3:</a:t>
            </a:r>
            <a:r>
              <a:rPr kumimoji="0" lang="zh-CN" altLang="en-US" sz="2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 </a:t>
            </a:r>
            <a:r>
              <a:rPr kumimoji="0" lang="en-US" sz="2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GWR</a:t>
            </a:r>
            <a:r>
              <a:rPr kumimoji="0" lang="zh-CN" altLang="en-US" sz="2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 </a:t>
            </a:r>
            <a:r>
              <a:rPr kumimoji="0" lang="en-US" altLang="zh-CN" sz="2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a:t>
            </a:r>
            <a:r>
              <a:rPr kumimoji="0" lang="zh-CN" altLang="en-US" sz="2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 </a:t>
            </a:r>
            <a:r>
              <a:rPr kumimoji="0" lang="en-US" sz="24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The Accessibility Paradox Resolved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777240"/>
            <a:ext cx="1097280" cy="36576"/>
          </a:xfrm>
          <a:prstGeom prst="rect">
            <a:avLst/>
          </a:prstGeom>
          <a:solidFill>
            <a:srgbClr val="E87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823460" y="835797"/>
            <a:ext cx="3771900" cy="627244"/>
          </a:xfrm>
          <a:prstGeom prst="rect">
            <a:avLst/>
          </a:prstGeom>
          <a:solidFill>
            <a:srgbClr val="E87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823460" y="1580591"/>
            <a:ext cx="3771900" cy="344861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823460" y="1580590"/>
            <a:ext cx="45719" cy="3448610"/>
          </a:xfrm>
          <a:prstGeom prst="rect">
            <a:avLst/>
          </a:prstGeom>
          <a:solidFill>
            <a:srgbClr val="E87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F1C9A567-70E1-201C-BDAF-6A0DCCC0F9B4}"/>
              </a:ext>
            </a:extLst>
          </p:cNvPr>
          <p:cNvSpPr txBox="1"/>
          <p:nvPr/>
        </p:nvSpPr>
        <p:spPr>
          <a:xfrm>
            <a:off x="4901761" y="845628"/>
            <a:ext cx="3615297" cy="523220"/>
          </a:xfrm>
          <a:prstGeom prst="rect">
            <a:avLst/>
          </a:prstGeom>
          <a:noFill/>
        </p:spPr>
        <p:txBody>
          <a:bodyPr wrap="square">
            <a:spAutoFit/>
          </a:bodyPr>
          <a:lstStyle/>
          <a:p>
            <a:r>
              <a:rPr lang="en-US" sz="1400" b="1" dirty="0">
                <a:solidFill>
                  <a:schemeClr val="bg1"/>
                </a:solidFill>
              </a:rPr>
              <a:t>GWR reveals what SEM hides: </a:t>
            </a:r>
            <a:r>
              <a:rPr lang="en-US" sz="1400" dirty="0">
                <a:solidFill>
                  <a:schemeClr val="bg1"/>
                </a:solidFill>
              </a:rPr>
              <a:t>the effect is real but spatially varying</a:t>
            </a:r>
          </a:p>
        </p:txBody>
      </p:sp>
      <p:pic>
        <p:nvPicPr>
          <p:cNvPr id="18" name="Picture 17">
            <a:extLst>
              <a:ext uri="{FF2B5EF4-FFF2-40B4-BE49-F238E27FC236}">
                <a16:creationId xmlns:a16="http://schemas.microsoft.com/office/drawing/2014/main" id="{991C67D3-41F9-0C5E-D781-FAD3AFD995C2}"/>
              </a:ext>
            </a:extLst>
          </p:cNvPr>
          <p:cNvPicPr>
            <a:picLocks noChangeAspect="1"/>
          </p:cNvPicPr>
          <p:nvPr/>
        </p:nvPicPr>
        <p:blipFill>
          <a:blip r:embed="rId3"/>
          <a:stretch>
            <a:fillRect/>
          </a:stretch>
        </p:blipFill>
        <p:spPr>
          <a:xfrm>
            <a:off x="427733" y="837955"/>
            <a:ext cx="4007107" cy="4248395"/>
          </a:xfrm>
          <a:prstGeom prst="rect">
            <a:avLst/>
          </a:prstGeom>
        </p:spPr>
      </p:pic>
      <p:sp>
        <p:nvSpPr>
          <p:cNvPr id="20" name="TextBox 19">
            <a:extLst>
              <a:ext uri="{FF2B5EF4-FFF2-40B4-BE49-F238E27FC236}">
                <a16:creationId xmlns:a16="http://schemas.microsoft.com/office/drawing/2014/main" id="{2A89B3A1-9D00-2DED-3D66-D0048952D692}"/>
              </a:ext>
            </a:extLst>
          </p:cNvPr>
          <p:cNvSpPr txBox="1"/>
          <p:nvPr/>
        </p:nvSpPr>
        <p:spPr>
          <a:xfrm>
            <a:off x="4901760" y="1752945"/>
            <a:ext cx="3693599" cy="3344505"/>
          </a:xfrm>
          <a:prstGeom prst="rect">
            <a:avLst/>
          </a:prstGeom>
          <a:noFill/>
        </p:spPr>
        <p:txBody>
          <a:bodyPr wrap="square">
            <a:spAutoFit/>
          </a:bodyPr>
          <a:lstStyle/>
          <a:p>
            <a:pPr marL="171450" indent="-171450">
              <a:spcAft>
                <a:spcPts val="400"/>
              </a:spcAft>
              <a:buFont typeface="Arial" panose="020B0604020202020204" pitchFamily="34" charset="0"/>
              <a:buChar char="•"/>
              <a:defRPr sz="1300">
                <a:solidFill>
                  <a:srgbClr val="333333"/>
                </a:solidFill>
              </a:defRPr>
            </a:pPr>
            <a:r>
              <a:rPr lang="en-US" sz="1100" dirty="0">
                <a:solidFill>
                  <a:srgbClr val="2C3E50"/>
                </a:solidFill>
                <a:latin typeface="Calibri" pitchFamily="34" charset="0"/>
                <a:ea typeface="Calibri" pitchFamily="34" charset="-122"/>
                <a:cs typeface="Calibri" pitchFamily="34" charset="-120"/>
              </a:rPr>
              <a:t>83% of locations: negative effect (more access = smaller ASI)</a:t>
            </a:r>
            <a:r>
              <a:rPr lang="en-US" altLang="zh-CN" sz="1100" dirty="0">
                <a:solidFill>
                  <a:prstClr val="black"/>
                </a:solidFill>
                <a:ea typeface="Calibri" pitchFamily="34" charset="-122"/>
                <a:cs typeface="Calibri" pitchFamily="34" charset="-120"/>
              </a:rPr>
              <a:t>;</a:t>
            </a:r>
            <a:r>
              <a:rPr lang="zh-CN" altLang="en-US" sz="1100" dirty="0">
                <a:solidFill>
                  <a:prstClr val="black"/>
                </a:solidFill>
                <a:ea typeface="Calibri" pitchFamily="34" charset="-122"/>
                <a:cs typeface="Calibri" pitchFamily="34" charset="-120"/>
              </a:rPr>
              <a:t> </a:t>
            </a:r>
            <a:r>
              <a:rPr lang="en-US" sz="1100" dirty="0">
                <a:solidFill>
                  <a:srgbClr val="2C3E50"/>
                </a:solidFill>
                <a:latin typeface="Calibri" pitchFamily="34" charset="0"/>
                <a:ea typeface="Calibri" pitchFamily="34" charset="-122"/>
                <a:cs typeface="Calibri" pitchFamily="34" charset="-120"/>
              </a:rPr>
              <a:t>17% of locations: positive or null effect</a:t>
            </a:r>
            <a:endParaRPr lang="en-US" sz="1100" dirty="0">
              <a:solidFill>
                <a:prstClr val="black"/>
              </a:solidFill>
            </a:endParaRPr>
          </a:p>
          <a:p>
            <a:pPr marL="171450" indent="-171450">
              <a:spcAft>
                <a:spcPts val="400"/>
              </a:spcAft>
              <a:buFont typeface="Arial" panose="020B0604020202020204" pitchFamily="34" charset="0"/>
              <a:buChar char="•"/>
              <a:defRPr sz="1300">
                <a:solidFill>
                  <a:srgbClr val="333333"/>
                </a:solidFill>
              </a:defRPr>
            </a:pPr>
            <a:r>
              <a:rPr lang="en-US" sz="1100" b="1" dirty="0">
                <a:solidFill>
                  <a:srgbClr val="333333"/>
                </a:solidFill>
              </a:rPr>
              <a:t>Strong negative effect (blue): </a:t>
            </a:r>
            <a:r>
              <a:rPr lang="en-US" sz="1100" dirty="0">
                <a:solidFill>
                  <a:srgbClr val="333333"/>
                </a:solidFill>
              </a:rPr>
              <a:t>LA Basin, Inland Empire, Central Valley — higher accessibility is associated with smaller ASI, suggesting compact urban form constrains travel</a:t>
            </a:r>
          </a:p>
          <a:p>
            <a:pPr marL="171450" indent="-171450">
              <a:spcAft>
                <a:spcPts val="400"/>
              </a:spcAft>
              <a:buFont typeface="Arial" panose="020B0604020202020204" pitchFamily="34" charset="0"/>
              <a:buChar char="•"/>
              <a:defRPr sz="1300">
                <a:solidFill>
                  <a:srgbClr val="333333"/>
                </a:solidFill>
              </a:defRPr>
            </a:pPr>
            <a:r>
              <a:rPr lang="en-US" sz="1100" b="1" dirty="0">
                <a:solidFill>
                  <a:srgbClr val="333333"/>
                </a:solidFill>
              </a:rPr>
              <a:t>Weak/positive effect (red): </a:t>
            </a:r>
            <a:r>
              <a:rPr lang="en-US" sz="1100" dirty="0">
                <a:solidFill>
                  <a:srgbClr val="333333"/>
                </a:solidFill>
              </a:rPr>
              <a:t>Rural Northern CA, Sierra Nevada foothills — accessibility has little constraining power where land use is sparse and destinations are distant</a:t>
            </a:r>
          </a:p>
          <a:p>
            <a:pPr marL="171450" indent="-171450">
              <a:spcAft>
                <a:spcPts val="400"/>
              </a:spcAft>
              <a:buFont typeface="Arial" panose="020B0604020202020204" pitchFamily="34" charset="0"/>
              <a:buChar char="•"/>
              <a:defRPr sz="1300">
                <a:solidFill>
                  <a:srgbClr val="333333"/>
                </a:solidFill>
              </a:defRPr>
            </a:pPr>
            <a:r>
              <a:rPr lang="en-US" sz="1100" b="1" dirty="0">
                <a:solidFill>
                  <a:srgbClr val="333333"/>
                </a:solidFill>
              </a:rPr>
              <a:t>Bay Area pattern: </a:t>
            </a:r>
            <a:r>
              <a:rPr lang="en-US" sz="1100" dirty="0">
                <a:solidFill>
                  <a:srgbClr val="333333"/>
                </a:solidFill>
              </a:rPr>
              <a:t>Negative in urban core (SF, Oakland) but weaker in suburban East Bay and South Bay — accessibility compresses ASI only where dense, mixed-use environments exist</a:t>
            </a:r>
          </a:p>
          <a:p>
            <a:pPr marL="171450" indent="-171450">
              <a:spcAft>
                <a:spcPts val="400"/>
              </a:spcAft>
              <a:buFont typeface="Arial" panose="020B0604020202020204" pitchFamily="34" charset="0"/>
              <a:buChar char="•"/>
              <a:defRPr sz="1300">
                <a:solidFill>
                  <a:srgbClr val="333333"/>
                </a:solidFill>
              </a:defRPr>
            </a:pPr>
            <a:r>
              <a:rPr lang="en-US" sz="1100" b="1" dirty="0">
                <a:solidFill>
                  <a:srgbClr val="333333"/>
                </a:solidFill>
              </a:rPr>
              <a:t>Policy implication: </a:t>
            </a:r>
            <a:r>
              <a:rPr lang="en-US" sz="1100" dirty="0">
                <a:solidFill>
                  <a:srgbClr val="333333"/>
                </a:solidFill>
              </a:rPr>
              <a:t>Accessibility improvements reduce travel burden most in dense urban areas; rural areas need complementary strategies beyond proximity-based accessibility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3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Conclusions &amp; Looking Forward</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777240"/>
            <a:ext cx="1097280" cy="36576"/>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1051560"/>
            <a:ext cx="2560320" cy="173736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554480" y="1143000"/>
            <a:ext cx="411480" cy="411480"/>
          </a:xfrm>
          <a:prstGeom prst="ellipse">
            <a:avLst/>
          </a:prstGeom>
          <a:solidFill>
            <a:srgbClr val="2D6A8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554480" y="1143000"/>
            <a:ext cx="411480" cy="4114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85800" y="1600200"/>
            <a:ext cx="2286000" cy="274320"/>
          </a:xfrm>
          <a:prstGeom prst="rect">
            <a:avLst/>
          </a:prstGeom>
          <a:noFill/>
          <a:ln/>
        </p:spPr>
        <p:txBody>
          <a:bodyPr wrap="square" lIns="0" tIns="0" rIns="0" bIns="0" rtlCol="0" anchor="ctr"/>
          <a:lstStyle/>
          <a:p>
            <a:pPr algn="ctr">
              <a:defRPr/>
            </a:pPr>
            <a:r>
              <a:rPr kumimoji="0" lang="en-US" sz="1300" b="1" i="0" u="none" strike="noStrike" kern="1200" cap="none" spc="0" normalizeH="0" baseline="0" noProof="0" dirty="0">
                <a:ln>
                  <a:noFill/>
                </a:ln>
                <a:solidFill>
                  <a:srgbClr val="2D6A8F"/>
                </a:solidFill>
                <a:effectLst/>
                <a:uLnTx/>
                <a:uFillTx/>
                <a:latin typeface="Georgia" pitchFamily="34" charset="0"/>
                <a:ea typeface="Georgia" pitchFamily="34" charset="-122"/>
                <a:cs typeface="Georgia" pitchFamily="34" charset="-120"/>
              </a:rPr>
              <a:t> ASI</a:t>
            </a:r>
            <a:r>
              <a:rPr kumimoji="0" lang="zh-CN" altLang="en-US" sz="1300" b="1" i="0" u="none" strike="noStrike" kern="1200" cap="none" spc="0" normalizeH="0" baseline="0" noProof="0" dirty="0">
                <a:ln>
                  <a:noFill/>
                </a:ln>
                <a:solidFill>
                  <a:srgbClr val="2D6A8F"/>
                </a:solidFill>
                <a:effectLst/>
                <a:uLnTx/>
                <a:uFillTx/>
                <a:latin typeface="Georgia" pitchFamily="34" charset="0"/>
                <a:ea typeface="Georgia" pitchFamily="34" charset="-122"/>
                <a:cs typeface="Georgia" pitchFamily="34" charset="-120"/>
              </a:rPr>
              <a:t> </a:t>
            </a:r>
            <a:r>
              <a:rPr lang="en-US" altLang="zh-CN" sz="1300" b="1" dirty="0">
                <a:solidFill>
                  <a:srgbClr val="2D6A8F"/>
                </a:solidFill>
                <a:latin typeface="Georgia" pitchFamily="34" charset="0"/>
                <a:ea typeface="Georgia" pitchFamily="34" charset="-122"/>
                <a:cs typeface="Georgia" pitchFamily="34" charset="-120"/>
              </a:rPr>
              <a:t>V</a:t>
            </a:r>
            <a:r>
              <a:rPr kumimoji="0" lang="en-US" altLang="zh-CN" sz="1300" b="1" i="0" u="none" strike="noStrike" kern="1200" cap="none" spc="0" normalizeH="0" baseline="0" noProof="0" dirty="0" err="1">
                <a:ln>
                  <a:noFill/>
                </a:ln>
                <a:solidFill>
                  <a:srgbClr val="2D6A8F"/>
                </a:solidFill>
                <a:effectLst/>
                <a:uLnTx/>
                <a:uFillTx/>
                <a:latin typeface="Georgia" pitchFamily="34" charset="0"/>
                <a:ea typeface="Georgia" pitchFamily="34" charset="-122"/>
                <a:cs typeface="Georgia" pitchFamily="34" charset="-120"/>
              </a:rPr>
              <a:t>aries</a:t>
            </a:r>
            <a:r>
              <a:rPr kumimoji="0" lang="zh-CN" altLang="en-US" sz="1300" b="1" i="0" u="none" strike="noStrike" kern="1200" cap="none" spc="0" normalizeH="0" baseline="0" noProof="0" dirty="0">
                <a:ln>
                  <a:noFill/>
                </a:ln>
                <a:solidFill>
                  <a:srgbClr val="2D6A8F"/>
                </a:solidFill>
                <a:effectLst/>
                <a:uLnTx/>
                <a:uFillTx/>
                <a:latin typeface="Georgia" pitchFamily="34" charset="0"/>
                <a:ea typeface="Georgia" pitchFamily="34" charset="-122"/>
                <a:cs typeface="Georgia" pitchFamily="34" charset="-120"/>
              </a:rPr>
              <a:t> </a:t>
            </a:r>
            <a:r>
              <a:rPr kumimoji="0" lang="en-US" altLang="zh-CN" sz="1300" b="1" i="0" u="none" strike="noStrike" kern="1200" cap="none" spc="0" normalizeH="0" baseline="0" noProof="0" dirty="0">
                <a:ln>
                  <a:noFill/>
                </a:ln>
                <a:solidFill>
                  <a:srgbClr val="2D6A8F"/>
                </a:solidFill>
                <a:effectLst/>
                <a:uLnTx/>
                <a:uFillTx/>
                <a:latin typeface="Georgia" pitchFamily="34" charset="0"/>
                <a:ea typeface="Georgia" pitchFamily="34" charset="-122"/>
                <a:cs typeface="Georgia" pitchFamily="34" charset="-120"/>
              </a:rPr>
              <a:t>Spatially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85800" y="1920240"/>
            <a:ext cx="2286000" cy="777240"/>
          </a:xfrm>
          <a:prstGeom prst="rect">
            <a:avLst/>
          </a:prstGeom>
          <a:noFill/>
          <a:ln/>
        </p:spPr>
        <p:txBody>
          <a:bodyPr wrap="square" rtlCol="0" anchor="t"/>
          <a:lstStyle/>
          <a:p>
            <a:pPr lvl="0" algn="ctr">
              <a:defRPr/>
            </a:pPr>
            <a:r>
              <a:rPr lang="en-US" sz="1050" dirty="0">
                <a:solidFill>
                  <a:srgbClr val="2C3E50"/>
                </a:solidFill>
                <a:latin typeface="Calibri" pitchFamily="34" charset="0"/>
                <a:cs typeface="Calibri" pitchFamily="34" charset="-120"/>
              </a:rPr>
              <a:t>ASI varies substantially across California — inland and suburban residents travel twice as far as urban core residents</a:t>
            </a:r>
          </a:p>
        </p:txBody>
      </p:sp>
      <p:sp>
        <p:nvSpPr>
          <p:cNvPr id="9" name="Shape 7"/>
          <p:cNvSpPr/>
          <p:nvPr/>
        </p:nvSpPr>
        <p:spPr>
          <a:xfrm>
            <a:off x="3383280" y="1051560"/>
            <a:ext cx="2560320" cy="173736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4389120" y="1143000"/>
            <a:ext cx="411480" cy="411480"/>
          </a:xfrm>
          <a:prstGeom prst="ellipse">
            <a:avLst/>
          </a:prstGeom>
          <a:solidFill>
            <a:srgbClr val="E873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4389120" y="1143000"/>
            <a:ext cx="411480" cy="4114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520440" y="1600200"/>
            <a:ext cx="22860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8734A"/>
                </a:solidFill>
                <a:effectLst/>
                <a:uLnTx/>
                <a:uFillTx/>
                <a:latin typeface="Georgia" pitchFamily="34" charset="0"/>
                <a:ea typeface="Georgia" pitchFamily="34" charset="-122"/>
                <a:cs typeface="Georgia" pitchFamily="34" charset="-120"/>
              </a:rPr>
              <a:t>Capability Dominates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520440" y="1920240"/>
            <a:ext cx="2286000" cy="77724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Commuting, driver license, and vehicle access are the strongest predictors -- individual capability matters more than built environment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6217920" y="1051560"/>
            <a:ext cx="2560320" cy="173736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7223760" y="1143000"/>
            <a:ext cx="411480" cy="411480"/>
          </a:xfrm>
          <a:prstGeom prst="ellipse">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7223760" y="1143000"/>
            <a:ext cx="411480" cy="4114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55080" y="1600200"/>
            <a:ext cx="22860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8575"/>
                </a:solidFill>
                <a:effectLst/>
                <a:uLnTx/>
                <a:uFillTx/>
                <a:latin typeface="Georgia" pitchFamily="34" charset="0"/>
                <a:ea typeface="Georgia" pitchFamily="34" charset="-122"/>
                <a:cs typeface="Georgia" pitchFamily="34" charset="-120"/>
              </a:rPr>
              <a:t>Spatial Heterogeneity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55080" y="1920240"/>
            <a:ext cx="2286000" cy="77724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Accessibility effect is spatially variable (83% neg / 17% pos), masked by global averaging in the SEM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548640" y="3017520"/>
            <a:ext cx="4023360" cy="155448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548640" y="3017520"/>
            <a:ext cx="45720" cy="1554480"/>
          </a:xfrm>
          <a:prstGeom prst="rect">
            <a:avLst/>
          </a:prstGeom>
          <a:solidFill>
            <a:srgbClr val="C039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777240" y="3063240"/>
            <a:ext cx="35661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Limitations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777240" y="3383280"/>
            <a:ext cx="3566160" cy="1097280"/>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Single-day travel diary -- day-to-day variability not captured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Some motif types have small sample sizes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4846320" y="3017520"/>
            <a:ext cx="3931920" cy="155448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4846320" y="3017520"/>
            <a:ext cx="45720" cy="1554480"/>
          </a:xfrm>
          <a:prstGeom prst="rect">
            <a:avLst/>
          </a:prstGeom>
          <a:solidFill>
            <a:srgbClr val="27AE6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5074920" y="3063240"/>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Future Directions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5074920" y="3383280"/>
            <a:ext cx="3474720" cy="1097280"/>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GPS trajectory data for longitudinal validation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Split-sample analysis: workers vs non-workers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Refined motif classification (purpose-aware)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Multi-scale accessibility measures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0366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EBC11"/>
          </a:solidFill>
          <a:ln/>
        </p:spPr>
        <p:txBody>
          <a:bodyPr/>
          <a:lstStyle/>
          <a:p>
            <a:endParaRPr lang="en-US"/>
          </a:p>
        </p:txBody>
      </p:sp>
      <p:sp>
        <p:nvSpPr>
          <p:cNvPr id="4" name="Shape 2"/>
          <p:cNvSpPr/>
          <p:nvPr/>
        </p:nvSpPr>
        <p:spPr>
          <a:xfrm>
            <a:off x="6400800" y="2743200"/>
            <a:ext cx="3657600" cy="3657600"/>
          </a:xfrm>
          <a:prstGeom prst="ellipse">
            <a:avLst/>
          </a:prstGeom>
          <a:solidFill>
            <a:srgbClr val="009CA6">
              <a:alpha val="8000"/>
            </a:srgbClr>
          </a:solidFill>
          <a:ln/>
        </p:spPr>
        <p:txBody>
          <a:bodyPr/>
          <a:lstStyle/>
          <a:p>
            <a:endParaRPr lang="en-US"/>
          </a:p>
        </p:txBody>
      </p:sp>
      <p:sp>
        <p:nvSpPr>
          <p:cNvPr id="5" name="Text 3"/>
          <p:cNvSpPr/>
          <p:nvPr/>
        </p:nvSpPr>
        <p:spPr>
          <a:xfrm>
            <a:off x="914400" y="1097280"/>
            <a:ext cx="7315200" cy="914400"/>
          </a:xfrm>
          <a:prstGeom prst="rect">
            <a:avLst/>
          </a:prstGeom>
          <a:noFill/>
          <a:ln/>
        </p:spPr>
        <p:txBody>
          <a:bodyPr wrap="square"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6" name="Shape 4"/>
          <p:cNvSpPr/>
          <p:nvPr/>
        </p:nvSpPr>
        <p:spPr>
          <a:xfrm>
            <a:off x="3657600" y="2103120"/>
            <a:ext cx="1828800" cy="36576"/>
          </a:xfrm>
          <a:prstGeom prst="rect">
            <a:avLst/>
          </a:prstGeom>
          <a:solidFill>
            <a:srgbClr val="FEBC11"/>
          </a:solidFill>
          <a:ln/>
        </p:spPr>
        <p:txBody>
          <a:bodyPr/>
          <a:lstStyle/>
          <a:p>
            <a:endParaRPr lang="en-US"/>
          </a:p>
        </p:txBody>
      </p:sp>
      <p:sp>
        <p:nvSpPr>
          <p:cNvPr id="10" name="Text 8"/>
          <p:cNvSpPr/>
          <p:nvPr/>
        </p:nvSpPr>
        <p:spPr>
          <a:xfrm>
            <a:off x="914400" y="4828032"/>
            <a:ext cx="7315200" cy="274320"/>
          </a:xfrm>
          <a:prstGeom prst="rect">
            <a:avLst/>
          </a:prstGeom>
          <a:noFill/>
          <a:ln/>
        </p:spPr>
        <p:txBody>
          <a:bodyPr wrap="square" rtlCol="0" anchor="ctr"/>
          <a:lstStyle/>
          <a:p>
            <a:pPr algn="ctr"/>
            <a:r>
              <a:rPr lang="en-US" sz="900" dirty="0">
                <a:solidFill>
                  <a:srgbClr val="8899AA"/>
                </a:solidFill>
                <a:latin typeface="Calibri" pitchFamily="34" charset="0"/>
                <a:ea typeface="Calibri" pitchFamily="34" charset="-122"/>
                <a:cs typeface="Calibri" pitchFamily="34" charset="-120"/>
              </a:rPr>
              <a:t>Department of Geography, UC Santa Barbara</a:t>
            </a:r>
          </a:p>
          <a:p>
            <a:pPr marL="0" indent="0" algn="ctr">
              <a:buNone/>
            </a:pPr>
            <a:r>
              <a:rPr lang="zh-CN" altLang="en-US" sz="900" dirty="0">
                <a:solidFill>
                  <a:srgbClr val="8C96A0"/>
                </a:solidFill>
                <a:latin typeface="Calibri" pitchFamily="34" charset="0"/>
                <a:ea typeface="Calibri" pitchFamily="34" charset="-122"/>
                <a:cs typeface="Calibri" pitchFamily="34" charset="-120"/>
              </a:rPr>
              <a:t>｜ </a:t>
            </a:r>
            <a:r>
              <a:rPr lang="en-US" sz="900" dirty="0">
                <a:solidFill>
                  <a:srgbClr val="8C96A0"/>
                </a:solidFill>
                <a:latin typeface="Calibri" pitchFamily="34" charset="0"/>
                <a:ea typeface="Calibri" pitchFamily="34" charset="-122"/>
                <a:cs typeface="Calibri" pitchFamily="34" charset="-120"/>
              </a:rPr>
              <a:t>AAG Annual Meeting 2026</a:t>
            </a:r>
            <a:endParaRPr lang="en-US" sz="900" dirty="0"/>
          </a:p>
        </p:txBody>
      </p:sp>
      <p:sp>
        <p:nvSpPr>
          <p:cNvPr id="18" name="Text 4">
            <a:extLst>
              <a:ext uri="{FF2B5EF4-FFF2-40B4-BE49-F238E27FC236}">
                <a16:creationId xmlns:a16="http://schemas.microsoft.com/office/drawing/2014/main" id="{46471A2F-CE5D-C708-99D8-41EA4EF5946A}"/>
              </a:ext>
            </a:extLst>
          </p:cNvPr>
          <p:cNvSpPr/>
          <p:nvPr/>
        </p:nvSpPr>
        <p:spPr>
          <a:xfrm>
            <a:off x="1371600" y="3559246"/>
            <a:ext cx="6400800" cy="14055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Die Hu</a:t>
            </a:r>
            <a:endParaRPr lang="en-US" sz="1600" dirty="0"/>
          </a:p>
          <a:p>
            <a:pPr marL="0" indent="0" algn="ctr">
              <a:buNone/>
            </a:pPr>
            <a:r>
              <a:rPr lang="en-US" sz="1300" dirty="0" err="1">
                <a:solidFill>
                  <a:srgbClr val="2A7F8E"/>
                </a:solidFill>
                <a:latin typeface="Calibri" pitchFamily="34" charset="0"/>
                <a:ea typeface="Calibri" pitchFamily="34" charset="-122"/>
                <a:cs typeface="Calibri" pitchFamily="34" charset="-120"/>
              </a:rPr>
              <a:t>diehu@ucsb.edu</a:t>
            </a:r>
            <a:endParaRPr lang="en-US" sz="1600" dirty="0"/>
          </a:p>
          <a:p>
            <a:pPr marL="0" indent="0" algn="ctr">
              <a:buNone/>
            </a:pPr>
            <a:endParaRPr lang="en-US" sz="1600" dirty="0"/>
          </a:p>
          <a:p>
            <a:pPr algn="ctr"/>
            <a:r>
              <a:rPr lang="en-US" sz="1400" dirty="0">
                <a:solidFill>
                  <a:schemeClr val="bg1"/>
                </a:solidFill>
                <a:latin typeface="Calibri" pitchFamily="34" charset="0"/>
                <a:ea typeface="Calibri" pitchFamily="34" charset="-122"/>
                <a:cs typeface="Calibri" pitchFamily="34" charset="-120"/>
              </a:rPr>
              <a:t>Advisor: </a:t>
            </a:r>
            <a:r>
              <a:rPr lang="en-US" sz="1400" dirty="0" err="1">
                <a:solidFill>
                  <a:schemeClr val="bg1"/>
                </a:solidFill>
                <a:latin typeface="Calibri" pitchFamily="34" charset="0"/>
                <a:ea typeface="Calibri" pitchFamily="34" charset="-122"/>
                <a:cs typeface="Calibri" pitchFamily="34" charset="-120"/>
              </a:rPr>
              <a:t>Konstadinos</a:t>
            </a:r>
            <a:r>
              <a:rPr lang="en-US" sz="1400" dirty="0">
                <a:solidFill>
                  <a:schemeClr val="bg1"/>
                </a:solidFill>
                <a:latin typeface="Calibri" pitchFamily="34" charset="0"/>
                <a:ea typeface="Calibri" pitchFamily="34" charset="-122"/>
                <a:cs typeface="Calibri" pitchFamily="34" charset="-120"/>
              </a:rPr>
              <a:t> G. </a:t>
            </a:r>
            <a:r>
              <a:rPr lang="en-US" sz="1400" dirty="0" err="1">
                <a:solidFill>
                  <a:schemeClr val="bg1"/>
                </a:solidFill>
                <a:latin typeface="Calibri" pitchFamily="34" charset="0"/>
                <a:ea typeface="Calibri" pitchFamily="34" charset="-122"/>
                <a:cs typeface="Calibri" pitchFamily="34" charset="-120"/>
              </a:rPr>
              <a:t>Goulias</a:t>
            </a:r>
            <a:endParaRPr lang="en-US" dirty="0">
              <a:solidFill>
                <a:schemeClr val="bg1"/>
              </a:solidFill>
            </a:endParaRPr>
          </a:p>
        </p:txBody>
      </p:sp>
      <p:sp>
        <p:nvSpPr>
          <p:cNvPr id="19" name="Text 2">
            <a:extLst>
              <a:ext uri="{FF2B5EF4-FFF2-40B4-BE49-F238E27FC236}">
                <a16:creationId xmlns:a16="http://schemas.microsoft.com/office/drawing/2014/main" id="{5DBA5672-F391-9A6B-5CA5-51681D9A3AA4}"/>
              </a:ext>
            </a:extLst>
          </p:cNvPr>
          <p:cNvSpPr/>
          <p:nvPr/>
        </p:nvSpPr>
        <p:spPr>
          <a:xfrm>
            <a:off x="903249" y="2511143"/>
            <a:ext cx="7315200" cy="548640"/>
          </a:xfrm>
          <a:prstGeom prst="rect">
            <a:avLst/>
          </a:prstGeom>
          <a:noFill/>
          <a:ln/>
        </p:spPr>
        <p:txBody>
          <a:bodyPr wrap="square" rtlCol="0" anchor="ctr"/>
          <a:lstStyle/>
          <a:p>
            <a:pPr marL="0" indent="0" algn="ctr">
              <a:buNone/>
            </a:pPr>
            <a:r>
              <a:rPr lang="en-US" sz="3600" dirty="0">
                <a:solidFill>
                  <a:srgbClr val="5EC4B6"/>
                </a:solidFill>
                <a:latin typeface="Calibri" pitchFamily="34" charset="0"/>
                <a:ea typeface="Calibri" pitchFamily="34" charset="-122"/>
                <a:cs typeface="Calibri" pitchFamily="34" charset="-120"/>
              </a:rPr>
              <a:t>Questions &amp; Discussion</a:t>
            </a:r>
            <a:endParaRPr lang="en-US" sz="3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3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A</a:t>
            </a:r>
            <a:r>
              <a:rPr kumimoji="0" lang="en-US" altLang="zh-CN" sz="2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1</a:t>
            </a:r>
            <a:r>
              <a:rPr kumimoji="0" lang="en-US" sz="2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 Accessibility Measure Construction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685800"/>
            <a:ext cx="914400" cy="36576"/>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914400"/>
            <a:ext cx="3931920" cy="137160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914400"/>
            <a:ext cx="45719" cy="1371600"/>
          </a:xfrm>
          <a:prstGeom prst="rect">
            <a:avLst/>
          </a:prstGeom>
          <a:solidFill>
            <a:srgbClr val="2D6A8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777240" y="960120"/>
            <a:ext cx="35661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Network Data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77240" y="1280160"/>
            <a:ext cx="3566160" cy="1371600"/>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OpenStreetMap California road network</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1.16M nodes, 2.89M edges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Edge weights = travel time (minutes)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Pandana library for network analysis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Contraction hierarchies for speed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754880" y="914400"/>
            <a:ext cx="3931920" cy="1371600"/>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754880" y="914400"/>
            <a:ext cx="45719" cy="1371600"/>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4983480" y="960120"/>
            <a:ext cx="35661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Cumulative Opportunity Measure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983480" y="1280160"/>
            <a:ext cx="3566160" cy="816997"/>
          </a:xfrm>
          <a:prstGeom prst="rect">
            <a:avLst/>
          </a:prstGeom>
          <a:noFill/>
          <a:ln/>
        </p:spPr>
        <p:txBody>
          <a:bodyPr wrap="square" rtlCol="0" anchor="t"/>
          <a:lstStyle/>
          <a:p>
            <a:pPr marL="342900" indent="-342900">
              <a:spcAft>
                <a:spcPts val="200"/>
              </a:spcAft>
              <a:buSzPct val="100000"/>
              <a:buFontTx/>
              <a:buChar char="•"/>
              <a:defRPr/>
            </a:pPr>
            <a:r>
              <a:rPr lang="en-US" altLang="zh-CN" sz="1050" dirty="0">
                <a:solidFill>
                  <a:srgbClr val="2C3E50"/>
                </a:solidFill>
                <a:latin typeface="Calibri" pitchFamily="34" charset="0"/>
                <a:ea typeface="Calibri" pitchFamily="34" charset="-122"/>
                <a:cs typeface="Calibri" pitchFamily="34" charset="-120"/>
              </a:rPr>
              <a:t>Home</a:t>
            </a:r>
            <a:r>
              <a:rPr lang="zh-CN" altLang="en-US" sz="1050" dirty="0">
                <a:solidFill>
                  <a:srgbClr val="2C3E50"/>
                </a:solidFill>
                <a:latin typeface="Calibri" pitchFamily="34" charset="0"/>
                <a:ea typeface="Calibri" pitchFamily="34" charset="-122"/>
                <a:cs typeface="Calibri" pitchFamily="34" charset="-120"/>
              </a:rPr>
              <a:t> </a:t>
            </a:r>
            <a:r>
              <a:rPr lang="en-US" altLang="zh-CN" sz="1050" dirty="0">
                <a:solidFill>
                  <a:srgbClr val="2C3E50"/>
                </a:solidFill>
                <a:latin typeface="Calibri" pitchFamily="34" charset="0"/>
                <a:ea typeface="Calibri" pitchFamily="34" charset="-122"/>
                <a:cs typeface="Calibri" pitchFamily="34" charset="-120"/>
              </a:rPr>
              <a:t>location</a:t>
            </a:r>
            <a:r>
              <a:rPr lang="zh-CN" altLang="en-US" sz="1050" dirty="0">
                <a:solidFill>
                  <a:srgbClr val="2C3E50"/>
                </a:solidFill>
                <a:latin typeface="Calibri" pitchFamily="34" charset="0"/>
                <a:ea typeface="Calibri" pitchFamily="34" charset="-122"/>
                <a:cs typeface="Calibri" pitchFamily="34" charset="-120"/>
              </a:rPr>
              <a:t> </a:t>
            </a:r>
            <a:r>
              <a:rPr lang="en-US" altLang="zh-CN" sz="1050" dirty="0">
                <a:solidFill>
                  <a:srgbClr val="2C3E50"/>
                </a:solidFill>
                <a:latin typeface="Calibri" pitchFamily="34" charset="0"/>
                <a:ea typeface="Calibri" pitchFamily="34" charset="-122"/>
                <a:cs typeface="Calibri" pitchFamily="34" charset="-120"/>
              </a:rPr>
              <a:t>based</a:t>
            </a:r>
            <a:endParaRPr lang="en-US" sz="1050" dirty="0">
              <a:solidFill>
                <a:prstClr val="black"/>
              </a:solidFill>
            </a:endParaRPr>
          </a:p>
          <a:p>
            <a:pPr marL="342900" marR="0" lvl="0" indent="-3429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Count of jobs reachable within threshold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dirty="0">
                <a:ln>
                  <a:noFill/>
                </a:ln>
                <a:solidFill>
                  <a:srgbClr val="2C3E50"/>
                </a:solidFill>
                <a:effectLst/>
                <a:uLnTx/>
                <a:uFillTx/>
                <a:latin typeface="Calibri" pitchFamily="34" charset="0"/>
                <a:ea typeface="Calibri" pitchFamily="34" charset="-122"/>
                <a:cs typeface="Calibri" pitchFamily="34" charset="-120"/>
              </a:rPr>
              <a:t>Drive-time based (not Euclidean)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4AD64C76-195B-87C0-7614-E3A431E01EBD}"/>
              </a:ext>
            </a:extLst>
          </p:cNvPr>
          <p:cNvPicPr>
            <a:picLocks noChangeAspect="1"/>
          </p:cNvPicPr>
          <p:nvPr/>
        </p:nvPicPr>
        <p:blipFill>
          <a:blip r:embed="rId3"/>
          <a:stretch>
            <a:fillRect/>
          </a:stretch>
        </p:blipFill>
        <p:spPr>
          <a:xfrm>
            <a:off x="555898" y="2439549"/>
            <a:ext cx="5162414" cy="2316310"/>
          </a:xfrm>
          <a:prstGeom prst="rect">
            <a:avLst/>
          </a:prstGeom>
          <a:ln>
            <a:solidFill>
              <a:schemeClr val="tx1"/>
            </a:solidFill>
          </a:ln>
        </p:spPr>
      </p:pic>
      <p:pic>
        <p:nvPicPr>
          <p:cNvPr id="20" name="Picture 19">
            <a:extLst>
              <a:ext uri="{FF2B5EF4-FFF2-40B4-BE49-F238E27FC236}">
                <a16:creationId xmlns:a16="http://schemas.microsoft.com/office/drawing/2014/main" id="{599F98AA-5110-BBFD-19A8-D7D34A9F1D0F}"/>
              </a:ext>
            </a:extLst>
          </p:cNvPr>
          <p:cNvPicPr>
            <a:picLocks noChangeAspect="1"/>
          </p:cNvPicPr>
          <p:nvPr/>
        </p:nvPicPr>
        <p:blipFill>
          <a:blip r:embed="rId4"/>
          <a:stretch>
            <a:fillRect/>
          </a:stretch>
        </p:blipFill>
        <p:spPr>
          <a:xfrm>
            <a:off x="3222762" y="2439549"/>
            <a:ext cx="2495550" cy="400050"/>
          </a:xfrm>
          <a:prstGeom prst="rect">
            <a:avLst/>
          </a:prstGeom>
        </p:spPr>
      </p:pic>
      <p:pic>
        <p:nvPicPr>
          <p:cNvPr id="21" name="Picture 20">
            <a:extLst>
              <a:ext uri="{FF2B5EF4-FFF2-40B4-BE49-F238E27FC236}">
                <a16:creationId xmlns:a16="http://schemas.microsoft.com/office/drawing/2014/main" id="{CD7C0218-A551-48B1-F9F9-8FBA098E795E}"/>
              </a:ext>
            </a:extLst>
          </p:cNvPr>
          <p:cNvPicPr>
            <a:picLocks noChangeAspect="1"/>
          </p:cNvPicPr>
          <p:nvPr/>
        </p:nvPicPr>
        <p:blipFill>
          <a:blip r:embed="rId5"/>
          <a:stretch>
            <a:fillRect/>
          </a:stretch>
        </p:blipFill>
        <p:spPr>
          <a:xfrm>
            <a:off x="6444383" y="2413304"/>
            <a:ext cx="1539323" cy="2375498"/>
          </a:xfrm>
          <a:prstGeom prst="rect">
            <a:avLst/>
          </a:prstGeom>
        </p:spPr>
      </p:pic>
      <p:sp>
        <p:nvSpPr>
          <p:cNvPr id="22" name="TextBox 21">
            <a:extLst>
              <a:ext uri="{FF2B5EF4-FFF2-40B4-BE49-F238E27FC236}">
                <a16:creationId xmlns:a16="http://schemas.microsoft.com/office/drawing/2014/main" id="{75A187F6-58F1-6B02-E9FB-40E4DA9F2AB8}"/>
              </a:ext>
            </a:extLst>
          </p:cNvPr>
          <p:cNvSpPr txBox="1"/>
          <p:nvPr/>
        </p:nvSpPr>
        <p:spPr>
          <a:xfrm>
            <a:off x="1452451" y="4788802"/>
            <a:ext cx="3018086" cy="323165"/>
          </a:xfrm>
          <a:prstGeom prst="rect">
            <a:avLst/>
          </a:prstGeom>
          <a:solidFill>
            <a:schemeClr val="accent1">
              <a:alpha val="23000"/>
            </a:schemeClr>
          </a:solidFill>
        </p:spPr>
        <p:txBody>
          <a:bodyPr wrap="square">
            <a:spAutoFit/>
          </a:bodyPr>
          <a:lstStyle/>
          <a:p>
            <a:pPr defTabSz="685800"/>
            <a:r>
              <a:rPr lang="en-US" altLang="zh-CN" sz="1500" dirty="0">
                <a:solidFill>
                  <a:srgbClr val="000000"/>
                </a:solidFill>
                <a:latin typeface="Calibri" panose="020F0502020204030204"/>
                <a:ea typeface="DengXian" panose="02010600030101010101" pitchFamily="2" charset="-122"/>
              </a:rPr>
              <a:t>Person</a:t>
            </a:r>
            <a:r>
              <a:rPr lang="zh-CN" altLang="en-US" sz="1500" dirty="0">
                <a:solidFill>
                  <a:srgbClr val="000000"/>
                </a:solidFill>
                <a:latin typeface="Calibri" panose="020F0502020204030204"/>
                <a:ea typeface="DengXian" panose="02010600030101010101" pitchFamily="2" charset="-122"/>
              </a:rPr>
              <a:t> </a:t>
            </a:r>
            <a:r>
              <a:rPr lang="en-US" altLang="zh-CN" sz="1500" dirty="0">
                <a:solidFill>
                  <a:srgbClr val="000000"/>
                </a:solidFill>
                <a:latin typeface="Calibri" panose="020F0502020204030204"/>
                <a:ea typeface="DengXian" panose="02010600030101010101" pitchFamily="2" charset="-122"/>
              </a:rPr>
              <a:t>1:</a:t>
            </a:r>
            <a:r>
              <a:rPr lang="zh-CN" altLang="en-US" sz="1500" dirty="0">
                <a:solidFill>
                  <a:srgbClr val="000000"/>
                </a:solidFill>
                <a:latin typeface="Calibri" panose="020F0502020204030204"/>
                <a:ea typeface="DengXian" panose="02010600030101010101" pitchFamily="2" charset="-122"/>
              </a:rPr>
              <a:t> </a:t>
            </a:r>
            <a:r>
              <a:rPr lang="en-US" sz="1500" dirty="0">
                <a:solidFill>
                  <a:srgbClr val="000000"/>
                </a:solidFill>
                <a:latin typeface="Calibri" panose="020F0502020204030204"/>
              </a:rPr>
              <a:t>Downtown Santa</a:t>
            </a:r>
            <a:r>
              <a:rPr lang="zh-CN" altLang="en-US" sz="1500" dirty="0">
                <a:solidFill>
                  <a:srgbClr val="000000"/>
                </a:solidFill>
                <a:latin typeface="Calibri" panose="020F0502020204030204"/>
              </a:rPr>
              <a:t> </a:t>
            </a:r>
            <a:r>
              <a:rPr lang="en-US" altLang="zh-CN" sz="1500" dirty="0">
                <a:solidFill>
                  <a:srgbClr val="000000"/>
                </a:solidFill>
                <a:latin typeface="Calibri" panose="020F0502020204030204"/>
              </a:rPr>
              <a:t>Barbar</a:t>
            </a:r>
            <a:endParaRPr lang="en-US" sz="1500" dirty="0">
              <a:solidFill>
                <a:srgbClr val="000000"/>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3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A</a:t>
            </a:r>
            <a:r>
              <a:rPr kumimoji="0" lang="en-US" altLang="zh-CN" sz="2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2</a:t>
            </a:r>
            <a:r>
              <a:rPr kumimoji="0" lang="en-US" sz="2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 Spatial Diagnostics &amp; Model Selection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685800"/>
            <a:ext cx="914400" cy="36576"/>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792648" y="1576344"/>
            <a:ext cx="43891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E8575"/>
                </a:solidFill>
                <a:effectLst/>
                <a:uLnTx/>
                <a:uFillTx/>
                <a:latin typeface="Calibri" pitchFamily="34" charset="0"/>
                <a:ea typeface="Calibri" pitchFamily="34" charset="-122"/>
                <a:cs typeface="Calibri" pitchFamily="34" charset="-120"/>
              </a:rPr>
              <a:t>Lagrange Multiplier Tests (Anselin Decision Rule)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7" name="Table 0"/>
          <p:cNvGraphicFramePr>
            <a:graphicFrameLocks noGrp="1"/>
          </p:cNvGraphicFramePr>
          <p:nvPr>
            <p:extLst>
              <p:ext uri="{D42A27DB-BD31-4B8C-83A1-F6EECF244321}">
                <p14:modId xmlns:p14="http://schemas.microsoft.com/office/powerpoint/2010/main" val="3513366523"/>
              </p:ext>
            </p:extLst>
          </p:nvPr>
        </p:nvGraphicFramePr>
        <p:xfrm>
          <a:off x="4792648" y="1896384"/>
          <a:ext cx="3931920" cy="128016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256032">
                <a:tc>
                  <a:txBody>
                    <a:bodyPr/>
                    <a:lstStyle/>
                    <a:p>
                      <a:pPr marL="0" indent="0" algn="l">
                        <a:buNone/>
                      </a:pPr>
                      <a:r>
                        <a:rPr lang="en-US" sz="1000" b="1" dirty="0">
                          <a:solidFill>
                            <a:srgbClr val="FFFFFF"/>
                          </a:solidFill>
                        </a:rPr>
                        <a:t>Test</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Statistic</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p-value</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Sig.</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56032">
                <a:tc>
                  <a:txBody>
                    <a:bodyPr/>
                    <a:lstStyle/>
                    <a:p>
                      <a:pPr marL="0" indent="0" algn="l">
                        <a:buNone/>
                      </a:pPr>
                      <a:r>
                        <a:rPr lang="en-US" sz="1000" dirty="0">
                          <a:solidFill>
                            <a:srgbClr val="000000"/>
                          </a:solidFill>
                        </a:rPr>
                        <a:t>LM-Error</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tc>
                  <a:txBody>
                    <a:bodyPr/>
                    <a:lstStyle/>
                    <a:p>
                      <a:pPr marL="0" indent="0" algn="ctr">
                        <a:buNone/>
                      </a:pPr>
                      <a:r>
                        <a:rPr lang="en-US" sz="1000" dirty="0">
                          <a:solidFill>
                            <a:srgbClr val="000000"/>
                          </a:solidFill>
                        </a:rPr>
                        <a:t>1,033.2</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tc>
                  <a:txBody>
                    <a:bodyPr/>
                    <a:lstStyle/>
                    <a:p>
                      <a:pPr marL="0" indent="0" algn="ctr">
                        <a:buNone/>
                      </a:pPr>
                      <a:r>
                        <a:rPr lang="en-US" sz="1000" dirty="0">
                          <a:solidFill>
                            <a:srgbClr val="000000"/>
                          </a:solidFill>
                        </a:rPr>
                        <a:t>&lt; 2.2e-16</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tc>
                  <a:txBody>
                    <a:bodyPr/>
                    <a:lstStyle/>
                    <a:p>
                      <a:pPr marL="0" indent="0" algn="ctr">
                        <a:buNone/>
                      </a:pPr>
                      <a:r>
                        <a:rPr lang="en-US" sz="1000" b="1" dirty="0">
                          <a:solidFill>
                            <a:srgbClr val="C0392B"/>
                          </a:solidFill>
                        </a:rPr>
                        <a:t>***</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lgn="l">
                        <a:buNone/>
                      </a:pPr>
                      <a:r>
                        <a:rPr lang="en-US" sz="1000" b="1" dirty="0">
                          <a:solidFill>
                            <a:srgbClr val="0E8575"/>
                          </a:solidFill>
                        </a:rPr>
                        <a:t>Robust LM-Error</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tc>
                  <a:txBody>
                    <a:bodyPr/>
                    <a:lstStyle/>
                    <a:p>
                      <a:pPr marL="0" indent="0" algn="ctr">
                        <a:buNone/>
                      </a:pPr>
                      <a:r>
                        <a:rPr lang="en-US" sz="1000" b="1" dirty="0">
                          <a:solidFill>
                            <a:srgbClr val="0E8575"/>
                          </a:solidFill>
                        </a:rPr>
                        <a:t>144.3</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tc>
                  <a:txBody>
                    <a:bodyPr/>
                    <a:lstStyle/>
                    <a:p>
                      <a:pPr marL="0" indent="0" algn="ctr">
                        <a:buNone/>
                      </a:pPr>
                      <a:r>
                        <a:rPr lang="en-US" sz="1000" b="1" dirty="0">
                          <a:solidFill>
                            <a:srgbClr val="0E8575"/>
                          </a:solidFill>
                        </a:rPr>
                        <a:t>&lt; 2.2e-16</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tc>
                  <a:txBody>
                    <a:bodyPr/>
                    <a:lstStyle/>
                    <a:p>
                      <a:pPr marL="0" indent="0" algn="ctr">
                        <a:buNone/>
                      </a:pPr>
                      <a:r>
                        <a:rPr lang="en-US" sz="1000" b="1" dirty="0">
                          <a:solidFill>
                            <a:srgbClr val="0E8575"/>
                          </a:solidFill>
                        </a:rPr>
                        <a:t>***</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lgn="l">
                        <a:buNone/>
                      </a:pPr>
                      <a:r>
                        <a:rPr lang="en-US" sz="1000" dirty="0">
                          <a:solidFill>
                            <a:srgbClr val="000000"/>
                          </a:solidFill>
                        </a:rPr>
                        <a:t>LM-Lag</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tc>
                  <a:txBody>
                    <a:bodyPr/>
                    <a:lstStyle/>
                    <a:p>
                      <a:pPr marL="0" indent="0" algn="ctr">
                        <a:buNone/>
                      </a:pPr>
                      <a:r>
                        <a:rPr lang="en-US" sz="1000" dirty="0">
                          <a:solidFill>
                            <a:srgbClr val="000000"/>
                          </a:solidFill>
                        </a:rPr>
                        <a:t>889.7</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tc>
                  <a:txBody>
                    <a:bodyPr/>
                    <a:lstStyle/>
                    <a:p>
                      <a:pPr marL="0" indent="0" algn="ctr">
                        <a:buNone/>
                      </a:pPr>
                      <a:r>
                        <a:rPr lang="en-US" sz="1000" dirty="0">
                          <a:solidFill>
                            <a:srgbClr val="000000"/>
                          </a:solidFill>
                        </a:rPr>
                        <a:t>&lt; 2.2e-16</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tc>
                  <a:txBody>
                    <a:bodyPr/>
                    <a:lstStyle/>
                    <a:p>
                      <a:pPr marL="0" indent="0" algn="ctr">
                        <a:buNone/>
                      </a:pPr>
                      <a:r>
                        <a:rPr lang="en-US" sz="1000" b="1" dirty="0">
                          <a:solidFill>
                            <a:srgbClr val="C0392B"/>
                          </a:solidFill>
                        </a:rPr>
                        <a:t>***</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lgn="l">
                        <a:buNone/>
                      </a:pPr>
                      <a:r>
                        <a:rPr lang="en-US" sz="1000" dirty="0">
                          <a:solidFill>
                            <a:srgbClr val="000000"/>
                          </a:solidFill>
                        </a:rPr>
                        <a:t>Robust LM-Lag</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tc>
                  <a:txBody>
                    <a:bodyPr/>
                    <a:lstStyle/>
                    <a:p>
                      <a:pPr marL="0" indent="0" algn="ctr">
                        <a:buNone/>
                      </a:pPr>
                      <a:r>
                        <a:rPr lang="en-US" sz="1000" dirty="0">
                          <a:solidFill>
                            <a:srgbClr val="000000"/>
                          </a:solidFill>
                        </a:rPr>
                        <a:t>0.82</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tc>
                  <a:txBody>
                    <a:bodyPr/>
                    <a:lstStyle/>
                    <a:p>
                      <a:pPr marL="0" indent="0" algn="ctr">
                        <a:buNone/>
                      </a:pPr>
                      <a:r>
                        <a:rPr lang="en-US" sz="1000" dirty="0">
                          <a:solidFill>
                            <a:srgbClr val="000000"/>
                          </a:solidFill>
                        </a:rPr>
                        <a:t>0.365</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tc>
                  <a:txBody>
                    <a:bodyPr/>
                    <a:lstStyle/>
                    <a:p>
                      <a:pPr marL="0" indent="0" algn="ctr">
                        <a:buNone/>
                      </a:pPr>
                      <a:r>
                        <a:rPr lang="en-US" sz="1000" dirty="0">
                          <a:solidFill>
                            <a:srgbClr val="5A6C7E"/>
                          </a:solidFill>
                        </a:rPr>
                        <a:t>n.s.</a:t>
                      </a:r>
                      <a:endParaRPr lang="en-US" sz="1000" dirty="0"/>
                    </a:p>
                  </a:txBody>
                  <a:tcPr>
                    <a:lnL w="6350" cap="flat" cmpd="sng" algn="ctr">
                      <a:solidFill>
                        <a:srgbClr val="D4DCE6"/>
                      </a:solidFill>
                      <a:prstDash val="solid"/>
                      <a:round/>
                      <a:headEnd type="none" w="med" len="med"/>
                      <a:tailEnd type="none" w="med" len="med"/>
                    </a:lnL>
                    <a:lnR w="6350" cap="flat" cmpd="sng" algn="ctr">
                      <a:solidFill>
                        <a:srgbClr val="D4DCE6"/>
                      </a:solidFill>
                      <a:prstDash val="solid"/>
                      <a:round/>
                      <a:headEnd type="none" w="med" len="med"/>
                      <a:tailEnd type="none" w="med" len="med"/>
                    </a:lnR>
                    <a:lnT w="6350" cap="flat" cmpd="sng" algn="ctr">
                      <a:solidFill>
                        <a:srgbClr val="D4DCE6"/>
                      </a:solidFill>
                      <a:prstDash val="solid"/>
                      <a:round/>
                      <a:headEnd type="none" w="med" len="med"/>
                      <a:tailEnd type="none" w="med" len="med"/>
                    </a:lnT>
                    <a:lnB w="6350" cap="flat" cmpd="sng" algn="ctr">
                      <a:solidFill>
                        <a:srgbClr val="D4DCE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4792648" y="3313704"/>
            <a:ext cx="4023360" cy="457200"/>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p:nvPr/>
        </p:nvSpPr>
        <p:spPr>
          <a:xfrm>
            <a:off x="4792648" y="3313704"/>
            <a:ext cx="40233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Robust LM-Error significant + Robust LM-Lag not → Select </a:t>
            </a:r>
            <a:r>
              <a:rPr kumimoji="0" lang="en-US" sz="1200" b="1" i="0" u="none" strike="noStrike" kern="1200" cap="none" spc="0" normalizeH="0" baseline="0" noProof="0" dirty="0">
                <a:ln>
                  <a:noFill/>
                </a:ln>
                <a:solidFill>
                  <a:srgbClr val="FFFF00"/>
                </a:solidFill>
                <a:effectLst/>
                <a:uLnTx/>
                <a:uFillTx/>
                <a:latin typeface="Calibri" pitchFamily="34" charset="0"/>
                <a:ea typeface="Calibri" pitchFamily="34" charset="-122"/>
                <a:cs typeface="Calibri" pitchFamily="34" charset="-120"/>
              </a:rPr>
              <a:t>SEM</a:t>
            </a:r>
            <a:endParaRPr kumimoji="0" lang="en-US" sz="1100" b="0" i="0" u="none" strike="noStrike" kern="1200" cap="none" spc="0" normalizeH="0" baseline="0" noProof="0" dirty="0">
              <a:ln>
                <a:noFill/>
              </a:ln>
              <a:solidFill>
                <a:srgbClr val="FFFF00"/>
              </a:solidFill>
              <a:effectLst/>
              <a:uLnTx/>
              <a:uFillTx/>
              <a:latin typeface="Calibri" panose="020F0502020204030204"/>
              <a:ea typeface="+mn-ea"/>
              <a:cs typeface="+mn-cs"/>
            </a:endParaRPr>
          </a:p>
        </p:txBody>
      </p:sp>
      <p:sp>
        <p:nvSpPr>
          <p:cNvPr id="14" name="Text 10"/>
          <p:cNvSpPr/>
          <p:nvPr/>
        </p:nvSpPr>
        <p:spPr>
          <a:xfrm>
            <a:off x="8229600" y="4754880"/>
            <a:ext cx="64008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FA3B8"/>
                </a:solidFill>
                <a:effectLst/>
                <a:uLnTx/>
                <a:uFillTx/>
                <a:latin typeface="Calibri" pitchFamily="34" charset="0"/>
                <a:ea typeface="Calibri" pitchFamily="34" charset="-122"/>
                <a:cs typeface="Calibri" pitchFamily="34" charset="-120"/>
              </a:rPr>
              <a:t>A3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E4F9296C-BFCF-DEF1-9EF1-B7EDB24BEC49}"/>
              </a:ext>
            </a:extLst>
          </p:cNvPr>
          <p:cNvPicPr>
            <a:picLocks noChangeAspect="1"/>
          </p:cNvPicPr>
          <p:nvPr/>
        </p:nvPicPr>
        <p:blipFill>
          <a:blip r:embed="rId3"/>
          <a:stretch>
            <a:fillRect/>
          </a:stretch>
        </p:blipFill>
        <p:spPr>
          <a:xfrm>
            <a:off x="216233" y="1223010"/>
            <a:ext cx="4355767" cy="2697480"/>
          </a:xfrm>
          <a:prstGeom prst="rect">
            <a:avLst/>
          </a:prstGeom>
        </p:spPr>
      </p:pic>
      <p:sp>
        <p:nvSpPr>
          <p:cNvPr id="9" name="TextBox 8">
            <a:extLst>
              <a:ext uri="{FF2B5EF4-FFF2-40B4-BE49-F238E27FC236}">
                <a16:creationId xmlns:a16="http://schemas.microsoft.com/office/drawing/2014/main" id="{63312CAC-DAE3-9082-0666-7107AB89ED03}"/>
              </a:ext>
            </a:extLst>
          </p:cNvPr>
          <p:cNvSpPr txBox="1"/>
          <p:nvPr/>
        </p:nvSpPr>
        <p:spPr>
          <a:xfrm>
            <a:off x="548640" y="4144125"/>
            <a:ext cx="3520880" cy="276999"/>
          </a:xfrm>
          <a:prstGeom prst="rect">
            <a:avLst/>
          </a:prstGeom>
          <a:noFill/>
        </p:spPr>
        <p:txBody>
          <a:bodyPr wrap="square">
            <a:spAutoFit/>
          </a:bodyPr>
          <a:lstStyle/>
          <a:p>
            <a:r>
              <a:rPr lang="en-US" sz="1200" dirty="0"/>
              <a:t>Fig.</a:t>
            </a:r>
            <a:r>
              <a:rPr lang="en-US" altLang="zh-CN" sz="1200" dirty="0"/>
              <a:t>1</a:t>
            </a:r>
            <a:r>
              <a:rPr lang="en-US" sz="1200" dirty="0"/>
              <a:t>. </a:t>
            </a:r>
            <a:r>
              <a:rPr lang="en-US" altLang="zh-CN" sz="1200" dirty="0"/>
              <a:t>Spatial</a:t>
            </a:r>
            <a:r>
              <a:rPr lang="zh-CN" altLang="en-US" sz="1200" dirty="0"/>
              <a:t> </a:t>
            </a:r>
            <a:r>
              <a:rPr lang="en-US" altLang="zh-CN" sz="1200" dirty="0"/>
              <a:t>Autocorrelation</a:t>
            </a:r>
            <a:r>
              <a:rPr lang="zh-CN" altLang="en-US" sz="1200" dirty="0"/>
              <a:t> </a:t>
            </a:r>
            <a:r>
              <a:rPr lang="en-US" altLang="zh-CN" sz="1200" dirty="0"/>
              <a:t>for</a:t>
            </a:r>
            <a:r>
              <a:rPr lang="zh-CN" altLang="en-US" sz="1200" dirty="0"/>
              <a:t> </a:t>
            </a:r>
            <a:r>
              <a:rPr lang="en-US" altLang="zh-CN" sz="1200" dirty="0"/>
              <a:t>OLS</a:t>
            </a:r>
            <a:r>
              <a:rPr lang="zh-CN" altLang="en-US" sz="1200" dirty="0"/>
              <a:t> </a:t>
            </a:r>
            <a:r>
              <a:rPr lang="en-US" altLang="zh-CN" sz="1200" dirty="0" err="1"/>
              <a:t>Resedual</a:t>
            </a:r>
            <a:endParaRPr lang="en-US" sz="1200" dirty="0"/>
          </a:p>
        </p:txBody>
      </p:sp>
      <p:sp>
        <p:nvSpPr>
          <p:cNvPr id="15" name="Rectangle 14">
            <a:extLst>
              <a:ext uri="{FF2B5EF4-FFF2-40B4-BE49-F238E27FC236}">
                <a16:creationId xmlns:a16="http://schemas.microsoft.com/office/drawing/2014/main" id="{939A4BCE-7CC9-991B-74DD-DB0108D9C3D7}"/>
              </a:ext>
            </a:extLst>
          </p:cNvPr>
          <p:cNvSpPr/>
          <p:nvPr/>
        </p:nvSpPr>
        <p:spPr>
          <a:xfrm>
            <a:off x="1759225" y="1576344"/>
            <a:ext cx="188845" cy="2194560"/>
          </a:xfrm>
          <a:prstGeom prst="rect">
            <a:avLst/>
          </a:prstGeom>
          <a:solidFill>
            <a:schemeClr val="accent1">
              <a:alpha val="23250"/>
            </a:schemeClr>
          </a:solidFill>
          <a:ln>
            <a:solidFill>
              <a:schemeClr val="accent1">
                <a:shade val="15000"/>
                <a:alpha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D79C1-B001-1DE6-7864-1C3FFD69C057}"/>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77D8A0ED-D27D-CE8F-E3CD-A3CC5BD66DDB}"/>
              </a:ext>
            </a:extLst>
          </p:cNvPr>
          <p:cNvSpPr/>
          <p:nvPr/>
        </p:nvSpPr>
        <p:spPr>
          <a:xfrm>
            <a:off x="264370" y="517652"/>
            <a:ext cx="8712482" cy="1539748"/>
          </a:xfrm>
          <a:prstGeom prst="rect">
            <a:avLst/>
          </a:prstGeom>
          <a:solidFill>
            <a:srgbClr val="FFFFFF"/>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ext 0">
            <a:extLst>
              <a:ext uri="{FF2B5EF4-FFF2-40B4-BE49-F238E27FC236}">
                <a16:creationId xmlns:a16="http://schemas.microsoft.com/office/drawing/2014/main" id="{FCC023F2-86F0-8F57-B823-072419B8BCAC}"/>
              </a:ext>
            </a:extLst>
          </p:cNvPr>
          <p:cNvSpPr/>
          <p:nvPr/>
        </p:nvSpPr>
        <p:spPr>
          <a:xfrm>
            <a:off x="485140" y="33020"/>
            <a:ext cx="8046720" cy="411480"/>
          </a:xfrm>
          <a:prstGeom prst="rect">
            <a:avLst/>
          </a:prstGeom>
          <a:noFill/>
          <a:ln/>
        </p:spPr>
        <p:txBody>
          <a:bodyPr wrap="square" lIns="0" tIns="0" rIns="0" bIns="0" rtlCol="0" anchor="ctr"/>
          <a:lstStyle/>
          <a:p>
            <a:pPr lvl="0">
              <a:defRPr/>
            </a:pPr>
            <a:r>
              <a:rPr lang="en-US" sz="2400" b="1" dirty="0">
                <a:solidFill>
                  <a:srgbClr val="1B2A4A"/>
                </a:solidFill>
                <a:latin typeface="Georgia" pitchFamily="34" charset="0"/>
                <a:ea typeface="Georgia" pitchFamily="34" charset="-122"/>
                <a:cs typeface="Georgia" pitchFamily="34" charset="-120"/>
              </a:rPr>
              <a:t>A</a:t>
            </a:r>
            <a:r>
              <a:rPr lang="en-US" altLang="zh-CN" sz="2400" b="1" dirty="0">
                <a:solidFill>
                  <a:srgbClr val="1B2A4A"/>
                </a:solidFill>
                <a:latin typeface="Georgia" pitchFamily="34" charset="0"/>
                <a:ea typeface="Georgia" pitchFamily="34" charset="-122"/>
                <a:cs typeface="Georgia" pitchFamily="34" charset="-120"/>
              </a:rPr>
              <a:t>3</a:t>
            </a:r>
            <a:r>
              <a:rPr lang="en-US" sz="2400" b="1" dirty="0">
                <a:solidFill>
                  <a:srgbClr val="1B2A4A"/>
                </a:solidFill>
                <a:latin typeface="Georgia" pitchFamily="34" charset="0"/>
                <a:ea typeface="Georgia" pitchFamily="34" charset="-122"/>
                <a:cs typeface="Georgia" pitchFamily="34" charset="-120"/>
              </a:rPr>
              <a:t>: Commute Anchoring Effect</a:t>
            </a:r>
            <a:endParaRPr lang="en-US" sz="2400" dirty="0">
              <a:solidFill>
                <a:prstClr val="black"/>
              </a:solidFill>
            </a:endParaRPr>
          </a:p>
        </p:txBody>
      </p:sp>
      <p:sp>
        <p:nvSpPr>
          <p:cNvPr id="3" name="Shape 1">
            <a:extLst>
              <a:ext uri="{FF2B5EF4-FFF2-40B4-BE49-F238E27FC236}">
                <a16:creationId xmlns:a16="http://schemas.microsoft.com/office/drawing/2014/main" id="{8B4938EE-5248-AFC7-36DB-5765730E569C}"/>
              </a:ext>
            </a:extLst>
          </p:cNvPr>
          <p:cNvSpPr/>
          <p:nvPr/>
        </p:nvSpPr>
        <p:spPr>
          <a:xfrm>
            <a:off x="485140" y="444500"/>
            <a:ext cx="914400" cy="36576"/>
          </a:xfrm>
          <a:prstGeom prst="rect">
            <a:avLst/>
          </a:prstGeom>
          <a:solidFill>
            <a:srgbClr val="0E857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373B8571-7248-E44E-76A8-14B4E18098C3}"/>
              </a:ext>
            </a:extLst>
          </p:cNvPr>
          <p:cNvPicPr>
            <a:picLocks noChangeAspect="1"/>
          </p:cNvPicPr>
          <p:nvPr/>
        </p:nvPicPr>
        <p:blipFill>
          <a:blip r:embed="rId3"/>
          <a:stretch>
            <a:fillRect/>
          </a:stretch>
        </p:blipFill>
        <p:spPr>
          <a:xfrm>
            <a:off x="2692073" y="2093976"/>
            <a:ext cx="6284779" cy="3019959"/>
          </a:xfrm>
          <a:prstGeom prst="rect">
            <a:avLst/>
          </a:prstGeom>
        </p:spPr>
      </p:pic>
      <p:sp>
        <p:nvSpPr>
          <p:cNvPr id="11" name="Text 7">
            <a:extLst>
              <a:ext uri="{FF2B5EF4-FFF2-40B4-BE49-F238E27FC236}">
                <a16:creationId xmlns:a16="http://schemas.microsoft.com/office/drawing/2014/main" id="{D89978A9-9397-C598-A278-04752A5B344F}"/>
              </a:ext>
            </a:extLst>
          </p:cNvPr>
          <p:cNvSpPr/>
          <p:nvPr/>
        </p:nvSpPr>
        <p:spPr>
          <a:xfrm>
            <a:off x="264370" y="481076"/>
            <a:ext cx="8712482" cy="1071877"/>
          </a:xfrm>
          <a:prstGeom prst="rect">
            <a:avLst/>
          </a:prstGeom>
          <a:noFill/>
          <a:ln/>
        </p:spPr>
        <p:txBody>
          <a:bodyPr wrap="square" rtlCol="0" anchor="t"/>
          <a:lstStyle/>
          <a:p>
            <a:pPr marL="285750" indent="-285750">
              <a:buFont typeface="Arial" panose="020B0604020202020204" pitchFamily="34" charset="0"/>
              <a:buChar char="•"/>
            </a:pPr>
            <a:r>
              <a:rPr lang="en-US" sz="1400" b="1" dirty="0"/>
              <a:t>Commute expands activity space consistently</a:t>
            </a:r>
            <a:r>
              <a:rPr lang="en-US" sz="1400" dirty="0"/>
              <a:t>: median gap = 4.39 km, range 2.31–7.77 km. The commute anchor point pulls daily activity space outward.</a:t>
            </a:r>
          </a:p>
          <a:p>
            <a:pPr marL="285750" indent="-285750">
              <a:buFont typeface="Arial" panose="020B0604020202020204" pitchFamily="34" charset="0"/>
              <a:buChar char="•"/>
            </a:pPr>
            <a:r>
              <a:rPr lang="en-US" sz="1400" b="1" dirty="0"/>
              <a:t>Gap varies by motif structure</a:t>
            </a:r>
            <a:r>
              <a:rPr lang="en-US" sz="1400" dirty="0"/>
              <a:t>: The largest work/non-work gaps appear in </a:t>
            </a:r>
            <a:r>
              <a:rPr lang="en-US" sz="1400" dirty="0">
                <a:solidFill>
                  <a:srgbClr val="C00000"/>
                </a:solidFill>
              </a:rPr>
              <a:t>Motif 1</a:t>
            </a:r>
            <a:r>
              <a:rPr lang="en-US" sz="1400" dirty="0"/>
              <a:t> (7.65 km, simple round-trip) and </a:t>
            </a:r>
            <a:r>
              <a:rPr lang="en-US" sz="1400" dirty="0">
                <a:solidFill>
                  <a:srgbClr val="C00000"/>
                </a:solidFill>
              </a:rPr>
              <a:t>Motif 12 </a:t>
            </a:r>
            <a:r>
              <a:rPr lang="en-US" sz="1400" dirty="0"/>
              <a:t>(7.77 km), where commuting roughly doubles or triples ASI.</a:t>
            </a:r>
          </a:p>
          <a:p>
            <a:pPr marL="285750" indent="-285750">
              <a:buFont typeface="Arial" panose="020B0604020202020204" pitchFamily="34" charset="0"/>
              <a:buChar char="•"/>
            </a:pPr>
            <a:r>
              <a:rPr lang="en-US" sz="1400" b="1" dirty="0">
                <a:solidFill>
                  <a:srgbClr val="C00000"/>
                </a:solidFill>
              </a:rPr>
              <a:t>Motif 4 </a:t>
            </a:r>
            <a:r>
              <a:rPr lang="en-US" sz="1400" b="1" dirty="0"/>
              <a:t>is the exception</a:t>
            </a:r>
            <a:r>
              <a:rPr lang="en-US" sz="1400" dirty="0"/>
              <a:t>: The only motif where work-trip ASI (3.68 km) is </a:t>
            </a:r>
            <a:r>
              <a:rPr lang="en-US" sz="1400" i="1" dirty="0"/>
              <a:t>lower</a:t>
            </a:r>
            <a:r>
              <a:rPr lang="en-US" sz="1400" dirty="0"/>
              <a:t> than non-work ASI (4.02 km) — likely reflecting short-distance commuters whose work location is closer to home than their non-work destinations.</a:t>
            </a:r>
          </a:p>
        </p:txBody>
      </p:sp>
      <p:pic>
        <p:nvPicPr>
          <p:cNvPr id="8" name="Picture 7">
            <a:extLst>
              <a:ext uri="{FF2B5EF4-FFF2-40B4-BE49-F238E27FC236}">
                <a16:creationId xmlns:a16="http://schemas.microsoft.com/office/drawing/2014/main" id="{AF60BFB7-2264-FE76-40C8-B1364FED3131}"/>
              </a:ext>
            </a:extLst>
          </p:cNvPr>
          <p:cNvPicPr>
            <a:picLocks noChangeAspect="1"/>
          </p:cNvPicPr>
          <p:nvPr/>
        </p:nvPicPr>
        <p:blipFill>
          <a:blip r:embed="rId4"/>
          <a:stretch>
            <a:fillRect/>
          </a:stretch>
        </p:blipFill>
        <p:spPr>
          <a:xfrm flipV="1">
            <a:off x="1508778" y="2234564"/>
            <a:ext cx="262030" cy="514351"/>
          </a:xfrm>
          <a:prstGeom prst="rect">
            <a:avLst/>
          </a:prstGeom>
        </p:spPr>
      </p:pic>
      <p:pic>
        <p:nvPicPr>
          <p:cNvPr id="12" name="Picture 11">
            <a:extLst>
              <a:ext uri="{FF2B5EF4-FFF2-40B4-BE49-F238E27FC236}">
                <a16:creationId xmlns:a16="http://schemas.microsoft.com/office/drawing/2014/main" id="{E4C06635-D268-D553-B166-99361712070D}"/>
              </a:ext>
            </a:extLst>
          </p:cNvPr>
          <p:cNvPicPr>
            <a:picLocks noChangeAspect="1"/>
          </p:cNvPicPr>
          <p:nvPr/>
        </p:nvPicPr>
        <p:blipFill>
          <a:blip r:embed="rId5"/>
          <a:stretch>
            <a:fillRect/>
          </a:stretch>
        </p:blipFill>
        <p:spPr>
          <a:xfrm>
            <a:off x="1422522" y="4184650"/>
            <a:ext cx="434537" cy="514350"/>
          </a:xfrm>
          <a:prstGeom prst="rect">
            <a:avLst/>
          </a:prstGeom>
        </p:spPr>
      </p:pic>
      <p:pic>
        <p:nvPicPr>
          <p:cNvPr id="13" name="Picture 12">
            <a:extLst>
              <a:ext uri="{FF2B5EF4-FFF2-40B4-BE49-F238E27FC236}">
                <a16:creationId xmlns:a16="http://schemas.microsoft.com/office/drawing/2014/main" id="{0C3395B1-8D43-DC00-E9C1-D0A99BD4CE03}"/>
              </a:ext>
            </a:extLst>
          </p:cNvPr>
          <p:cNvPicPr>
            <a:picLocks noChangeAspect="1"/>
          </p:cNvPicPr>
          <p:nvPr/>
        </p:nvPicPr>
        <p:blipFill>
          <a:blip r:embed="rId6"/>
          <a:stretch>
            <a:fillRect/>
          </a:stretch>
        </p:blipFill>
        <p:spPr>
          <a:xfrm>
            <a:off x="1440730" y="2857500"/>
            <a:ext cx="351579" cy="514350"/>
          </a:xfrm>
          <a:prstGeom prst="rect">
            <a:avLst/>
          </a:prstGeom>
        </p:spPr>
      </p:pic>
      <p:sp>
        <p:nvSpPr>
          <p:cNvPr id="15" name="Text 3">
            <a:extLst>
              <a:ext uri="{FF2B5EF4-FFF2-40B4-BE49-F238E27FC236}">
                <a16:creationId xmlns:a16="http://schemas.microsoft.com/office/drawing/2014/main" id="{83E8B1A0-E243-4E73-9A59-8FD42CA3E8BB}"/>
              </a:ext>
            </a:extLst>
          </p:cNvPr>
          <p:cNvSpPr/>
          <p:nvPr/>
        </p:nvSpPr>
        <p:spPr>
          <a:xfrm>
            <a:off x="264371" y="2297430"/>
            <a:ext cx="1135170" cy="320040"/>
          </a:xfrm>
          <a:prstGeom prst="rect">
            <a:avLst/>
          </a:prstGeom>
          <a:solidFill>
            <a:srgbClr val="2D6A8F"/>
          </a:solid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Motif</a:t>
            </a:r>
            <a:r>
              <a:rPr kumimoji="0" lang="zh-CN" alt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altLang="zh-CN"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3">
            <a:extLst>
              <a:ext uri="{FF2B5EF4-FFF2-40B4-BE49-F238E27FC236}">
                <a16:creationId xmlns:a16="http://schemas.microsoft.com/office/drawing/2014/main" id="{6FFA7336-54FD-4A22-01B9-C48D57785E32}"/>
              </a:ext>
            </a:extLst>
          </p:cNvPr>
          <p:cNvSpPr/>
          <p:nvPr/>
        </p:nvSpPr>
        <p:spPr>
          <a:xfrm>
            <a:off x="245426" y="4281805"/>
            <a:ext cx="1135170" cy="320040"/>
          </a:xfrm>
          <a:prstGeom prst="rect">
            <a:avLst/>
          </a:prstGeom>
          <a:solidFill>
            <a:srgbClr val="2D6A8F"/>
          </a:solid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Motif</a:t>
            </a:r>
            <a:r>
              <a:rPr kumimoji="0" lang="zh-CN" alt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altLang="zh-CN"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3">
            <a:extLst>
              <a:ext uri="{FF2B5EF4-FFF2-40B4-BE49-F238E27FC236}">
                <a16:creationId xmlns:a16="http://schemas.microsoft.com/office/drawing/2014/main" id="{4799B01B-812C-3EFA-BE87-0693ED37A5A7}"/>
              </a:ext>
            </a:extLst>
          </p:cNvPr>
          <p:cNvSpPr/>
          <p:nvPr/>
        </p:nvSpPr>
        <p:spPr>
          <a:xfrm>
            <a:off x="245426" y="3027807"/>
            <a:ext cx="1135170" cy="320040"/>
          </a:xfrm>
          <a:prstGeom prst="rect">
            <a:avLst/>
          </a:prstGeom>
          <a:solidFill>
            <a:srgbClr val="2D6A8F"/>
          </a:solid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Motif</a:t>
            </a:r>
            <a:r>
              <a:rPr kumimoji="0" lang="zh-CN" alt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altLang="zh-CN"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84208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UC Santa Barbara">
      <a:dk1>
        <a:srgbClr val="000000"/>
      </a:dk1>
      <a:lt1>
        <a:srgbClr val="FFFFFF"/>
      </a:lt1>
      <a:dk2>
        <a:srgbClr val="003660"/>
      </a:dk2>
      <a:lt2>
        <a:srgbClr val="FEBC11"/>
      </a:lt2>
      <a:accent1>
        <a:srgbClr val="04859B"/>
      </a:accent1>
      <a:accent2>
        <a:srgbClr val="798D38"/>
      </a:accent2>
      <a:accent3>
        <a:srgbClr val="0BA89A"/>
      </a:accent3>
      <a:accent4>
        <a:srgbClr val="EF5645"/>
      </a:accent4>
      <a:accent5>
        <a:srgbClr val="9CBEBE"/>
      </a:accent5>
      <a:accent6>
        <a:srgbClr val="DCD6CC"/>
      </a:accent6>
      <a:hlink>
        <a:srgbClr val="07518C"/>
      </a:hlink>
      <a:folHlink>
        <a:srgbClr val="A1AFBA"/>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609EE431-579B-3143-9188-030731DF1E4E}" vid="{8C7EC69B-F2C2-2644-8EA8-D0D923A66C6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5D15276-E6D9-FA46-BD50-26251D3A795C}">
  <we:reference id="wa200010001" version="1.0.0.1" store="en-US" storeType="OMEX"/>
  <we:alternateReferences>
    <we:reference id="WA200010001" version="1.0.0.1" store=""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6725</TotalTime>
  <Words>3552</Words>
  <Application>Microsoft Macintosh PowerPoint</Application>
  <PresentationFormat>On-screen Show (16:9)</PresentationFormat>
  <Paragraphs>397</Paragraphs>
  <Slides>18</Slides>
  <Notes>18</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18</vt:i4>
      </vt:variant>
    </vt:vector>
  </HeadingPairs>
  <TitlesOfParts>
    <vt:vector size="29" baseType="lpstr">
      <vt:lpstr>Nunito Sans Normal</vt:lpstr>
      <vt:lpstr>Nunito Sans Normal ExtraBold</vt:lpstr>
      <vt:lpstr>Aptos</vt:lpstr>
      <vt:lpstr>Arial</vt:lpstr>
      <vt:lpstr>Calibri</vt:lpstr>
      <vt:lpstr>Century Gothic</vt:lpstr>
      <vt:lpstr>Consolas</vt:lpstr>
      <vt:lpstr>Georgia</vt:lpstr>
      <vt:lpstr>Wingdings</vt:lpstr>
      <vt:lpstr>Office Theme</vt:lpstr>
      <vt:lpstr>1_Office Theme</vt:lpstr>
      <vt:lpstr>How We Move, What We Reach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We Move, What We Reach</dc:title>
  <dc:subject>AAG 2026</dc:subject>
  <dc:creator>Die Hu</dc:creator>
  <cp:lastModifiedBy>Die Hu</cp:lastModifiedBy>
  <cp:revision>99</cp:revision>
  <cp:lastPrinted>2026-03-19T19:21:00Z</cp:lastPrinted>
  <dcterms:created xsi:type="dcterms:W3CDTF">2026-03-14T20:29:15Z</dcterms:created>
  <dcterms:modified xsi:type="dcterms:W3CDTF">2026-03-19T19:26:50Z</dcterms:modified>
</cp:coreProperties>
</file>